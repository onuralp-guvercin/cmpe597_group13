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90" d="100"/>
          <a:sy n="90" d="100"/>
        </p:scale>
        <p:origin x="370" y="67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Üst Bilgi Yer Tutucusu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tr-TR"/>
          </a:p>
        </p:txBody>
      </p:sp>
      <p:sp>
        <p:nvSpPr>
          <p:cNvPr id="3" name="Veri Yer Tutucusu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322E479-FD2D-45E4-9FF2-6F52B5439251}" type="datetimeFigureOut">
              <a:rPr lang="tr-TR" smtClean="0"/>
              <a:t>12.05.2026</a:t>
            </a:fld>
            <a:endParaRPr lang="tr-TR"/>
          </a:p>
        </p:txBody>
      </p:sp>
      <p:sp>
        <p:nvSpPr>
          <p:cNvPr id="4" name="Slayt Resmi Yer Tutucusu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tr-TR"/>
          </a:p>
        </p:txBody>
      </p:sp>
      <p:sp>
        <p:nvSpPr>
          <p:cNvPr id="5" name="Not Yer Tutucusu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6" name="Alt Bilgi Yer Tutucusu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tr-TR"/>
          </a:p>
        </p:txBody>
      </p:sp>
      <p:sp>
        <p:nvSpPr>
          <p:cNvPr id="7" name="Slayt Numarası Yer Tutucusu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28E22F2-D78D-4A40-B4EB-15E3FB23EC91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0660672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ayt Resmi Yer Tutucus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 Yer Tutucusu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tr-TR" dirty="0"/>
          </a:p>
        </p:txBody>
      </p:sp>
      <p:sp>
        <p:nvSpPr>
          <p:cNvPr id="4" name="Slayt Numarası Yer Tutucusu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28E22F2-D78D-4A40-B4EB-15E3FB23EC91}" type="slidenum">
              <a:rPr lang="tr-TR" smtClean="0"/>
              <a:t>3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8790201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87784" cy="73152"/>
          </a:xfrm>
          <a:prstGeom prst="rect">
            <a:avLst/>
          </a:prstGeom>
          <a:solidFill>
            <a:srgbClr val="0F3A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201168" y="73152"/>
            <a:ext cx="11987784" cy="1005840"/>
          </a:xfrm>
          <a:prstGeom prst="rect">
            <a:avLst/>
          </a:prstGeom>
          <a:solidFill>
            <a:srgbClr val="0F3A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5486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Segoe UI"/>
              </a:rPr>
              <a:t>CMPE 597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713232"/>
            <a:ext cx="9144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90E0EF"/>
                </a:solidFill>
                <a:latin typeface="Segoe UI"/>
              </a:rPr>
              <a:t>Deep Learning  —  Term Project  |  Group 13  |  Spring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325880"/>
            <a:ext cx="3657600" cy="3539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 dirty="0">
                <a:solidFill>
                  <a:srgbClr val="00B4D8"/>
                </a:solidFill>
                <a:latin typeface="Segoe UI"/>
              </a:rPr>
              <a:t>Presentation: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828800"/>
            <a:ext cx="3657600" cy="42062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411480" y="1828800"/>
            <a:ext cx="3657600" cy="10972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48640" y="1975104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 dirty="0">
                <a:solidFill>
                  <a:srgbClr val="00B4D8"/>
                </a:solidFill>
                <a:latin typeface="Segoe UI"/>
              </a:rPr>
              <a:t>Task 2.1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423160"/>
            <a:ext cx="34747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900" b="1" i="0">
                <a:solidFill>
                  <a:srgbClr val="FFFFFF"/>
                </a:solidFill>
                <a:latin typeface="Segoe UI"/>
              </a:rPr>
              <a:t>Cross-Modal Retrieval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3090672"/>
            <a:ext cx="3108960" cy="36576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02920" y="3182112"/>
            <a:ext cx="3474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CCCCCC"/>
                </a:solidFill>
                <a:latin typeface="Segoe UI"/>
              </a:rPr>
              <a:t>Given a meme image &amp; title,
retrieve the matching caption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0120" y="5029200"/>
            <a:ext cx="2560320" cy="43891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05840" y="5107434"/>
            <a:ext cx="246888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 dirty="0">
                <a:solidFill>
                  <a:srgbClr val="1A1A2E"/>
                </a:solidFill>
                <a:latin typeface="Segoe UI"/>
              </a:rPr>
              <a:t>▶  </a:t>
            </a:r>
            <a:r>
              <a:rPr lang="tr-TR" sz="1300" b="1" i="0" dirty="0" err="1">
                <a:solidFill>
                  <a:srgbClr val="1A1A2E"/>
                </a:solidFill>
                <a:latin typeface="Segoe UI"/>
              </a:rPr>
              <a:t>Current</a:t>
            </a:r>
            <a:r>
              <a:rPr lang="tr-TR" sz="1300" b="1" dirty="0">
                <a:solidFill>
                  <a:srgbClr val="1A1A2E"/>
                </a:solidFill>
                <a:latin typeface="Segoe UI"/>
              </a:rPr>
              <a:t> Presentation</a:t>
            </a:r>
            <a:endParaRPr sz="1300" b="1" i="0" dirty="0">
              <a:solidFill>
                <a:srgbClr val="1A1A2E"/>
              </a:solidFill>
              <a:latin typeface="Segoe UI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4297680" y="1828800"/>
            <a:ext cx="3657600" cy="42062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4297680" y="1828800"/>
            <a:ext cx="3657600" cy="109728"/>
          </a:xfrm>
          <a:prstGeom prst="rect">
            <a:avLst/>
          </a:prstGeom>
          <a:solidFill>
            <a:srgbClr val="444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434840" y="1975104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CCCCCC"/>
                </a:solidFill>
                <a:latin typeface="Segoe UI"/>
              </a:rPr>
              <a:t>Task 2.2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120" y="2423160"/>
            <a:ext cx="34747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900" b="1" i="0">
                <a:solidFill>
                  <a:srgbClr val="666688"/>
                </a:solidFill>
                <a:latin typeface="Segoe UI"/>
              </a:rPr>
              <a:t>Literal vs. Metaphorical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0" y="3090672"/>
            <a:ext cx="3108960" cy="36576"/>
          </a:xfrm>
          <a:prstGeom prst="rect">
            <a:avLst/>
          </a:prstGeom>
          <a:solidFill>
            <a:srgbClr val="3333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389120" y="3182112"/>
            <a:ext cx="3474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555577"/>
                </a:solidFill>
                <a:latin typeface="Segoe UI"/>
              </a:rPr>
              <a:t>Is the caption a literal
or metaphorical description?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846320" y="5029200"/>
            <a:ext cx="2560320" cy="438912"/>
          </a:xfrm>
          <a:prstGeom prst="rect">
            <a:avLst/>
          </a:prstGeom>
          <a:solidFill>
            <a:srgbClr val="2A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892040" y="5082033"/>
            <a:ext cx="246888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 dirty="0">
                <a:solidFill>
                  <a:srgbClr val="666688"/>
                </a:solidFill>
                <a:latin typeface="Segoe UI"/>
              </a:rPr>
              <a:t>Upcoming Presentation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183879" y="1828800"/>
            <a:ext cx="3657600" cy="42062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8183879" y="1828800"/>
            <a:ext cx="3657600" cy="109728"/>
          </a:xfrm>
          <a:prstGeom prst="rect">
            <a:avLst/>
          </a:prstGeom>
          <a:solidFill>
            <a:srgbClr val="444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321040" y="1975104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CCCCCC"/>
                </a:solidFill>
                <a:latin typeface="Segoe UI"/>
              </a:rPr>
              <a:t>Task 2.3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75319" y="2423160"/>
            <a:ext cx="34747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900" b="1" i="0">
                <a:solidFill>
                  <a:srgbClr val="666688"/>
                </a:solidFill>
                <a:latin typeface="Segoe UI"/>
              </a:rPr>
              <a:t>Sentiment Classification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458200" y="3090672"/>
            <a:ext cx="3108960" cy="36576"/>
          </a:xfrm>
          <a:prstGeom prst="rect">
            <a:avLst/>
          </a:prstGeom>
          <a:solidFill>
            <a:srgbClr val="3333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275319" y="3182112"/>
            <a:ext cx="3474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555577"/>
                </a:solidFill>
                <a:latin typeface="Segoe UI"/>
              </a:rPr>
              <a:t>7-class emotion recognition
from meme images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732519" y="5029200"/>
            <a:ext cx="2560320" cy="438912"/>
          </a:xfrm>
          <a:prstGeom prst="rect">
            <a:avLst/>
          </a:prstGeom>
          <a:solidFill>
            <a:srgbClr val="2A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778240" y="5073566"/>
            <a:ext cx="246888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 dirty="0">
                <a:solidFill>
                  <a:srgbClr val="666688"/>
                </a:solidFill>
                <a:latin typeface="Segoe UI"/>
              </a:rPr>
              <a:t>Upcoming Presentation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20040" y="6263640"/>
            <a:ext cx="11612880" cy="457200"/>
          </a:xfrm>
          <a:prstGeom prst="rect">
            <a:avLst/>
          </a:prstGeom>
          <a:solidFill>
            <a:srgbClr val="0A0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457200" y="6309360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0E0EF"/>
                </a:solidFill>
                <a:latin typeface="Segoe UI"/>
              </a:rPr>
              <a:t>Dataset:  MemeCap  (6,384 Reddit memes)   |   Shared Backbone:  CLIP ViT-B/32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87784" cy="73152"/>
          </a:xfrm>
          <a:prstGeom prst="rect">
            <a:avLst/>
          </a:prstGeom>
          <a:solidFill>
            <a:srgbClr val="0F3A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201168" y="109728"/>
            <a:ext cx="11987784" cy="658368"/>
          </a:xfrm>
          <a:prstGeom prst="rect">
            <a:avLst/>
          </a:prstGeom>
          <a:solidFill>
            <a:srgbClr val="0F3A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11480" y="128016"/>
            <a:ext cx="105156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Segoe UI"/>
              </a:rPr>
              <a:t>Problem Definition &amp; Dataset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804672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 i="0">
                <a:solidFill>
                  <a:srgbClr val="90E0EF"/>
                </a:solidFill>
                <a:latin typeface="Segoe UI"/>
              </a:rPr>
              <a:t>MemeCap — 6,384 Reddit memes, each annotated with two types of captions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234440"/>
            <a:ext cx="5394960" cy="50749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1280160"/>
            <a:ext cx="5029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0B4D8"/>
                </a:solidFill>
                <a:latin typeface="Segoe UI"/>
              </a:rPr>
              <a:t>Task Definition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719072"/>
            <a:ext cx="5166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dirty="0">
                <a:solidFill>
                  <a:srgbClr val="CCCCCC"/>
                </a:solidFill>
                <a:latin typeface="Segoe UI"/>
              </a:rPr>
              <a:t>  •  Input: meme image  (+ optional title)</a:t>
            </a:r>
          </a:p>
          <a:p>
            <a:pPr algn="l">
              <a:lnSpc>
                <a:spcPct val="125000"/>
              </a:lnSpc>
            </a:pPr>
            <a:r>
              <a:rPr sz="1350" dirty="0">
                <a:solidFill>
                  <a:srgbClr val="CCCCCC"/>
                </a:solidFill>
                <a:latin typeface="Segoe UI"/>
              </a:rPr>
              <a:t>  •  Output: retrieve correct caption from 559 candidates</a:t>
            </a:r>
          </a:p>
          <a:p>
            <a:pPr algn="l">
              <a:lnSpc>
                <a:spcPct val="125000"/>
              </a:lnSpc>
            </a:pPr>
            <a:r>
              <a:rPr sz="1350" b="1" dirty="0">
                <a:solidFill>
                  <a:srgbClr val="00B4D8"/>
                </a:solidFill>
                <a:latin typeface="Segoe UI"/>
              </a:rPr>
              <a:t>──────────────────────────</a:t>
            </a:r>
          </a:p>
          <a:p>
            <a:pPr algn="l">
              <a:lnSpc>
                <a:spcPct val="125000"/>
              </a:lnSpc>
            </a:pPr>
            <a:r>
              <a:rPr sz="1350" dirty="0">
                <a:solidFill>
                  <a:srgbClr val="CCCCCC"/>
                </a:solidFill>
                <a:latin typeface="Segoe UI"/>
              </a:rPr>
              <a:t>  •  Type 1 → Image only</a:t>
            </a:r>
          </a:p>
          <a:p>
            <a:pPr algn="l">
              <a:lnSpc>
                <a:spcPct val="125000"/>
              </a:lnSpc>
            </a:pPr>
            <a:r>
              <a:rPr sz="1350" dirty="0">
                <a:solidFill>
                  <a:srgbClr val="CCCCCC"/>
                </a:solidFill>
                <a:latin typeface="Segoe UI"/>
              </a:rPr>
              <a:t>  •  Type 2 → Image  +  Title</a:t>
            </a:r>
          </a:p>
          <a:p>
            <a:pPr algn="l">
              <a:lnSpc>
                <a:spcPct val="125000"/>
              </a:lnSpc>
            </a:pPr>
            <a:r>
              <a:rPr sz="1350" b="1" dirty="0">
                <a:solidFill>
                  <a:srgbClr val="00B4D8"/>
                </a:solidFill>
                <a:latin typeface="Segoe UI"/>
              </a:rPr>
              <a:t>──────────────────────────</a:t>
            </a:r>
          </a:p>
          <a:p>
            <a:pPr algn="l">
              <a:lnSpc>
                <a:spcPct val="125000"/>
              </a:lnSpc>
            </a:pPr>
            <a:r>
              <a:rPr sz="1350" dirty="0">
                <a:solidFill>
                  <a:srgbClr val="CCCCCC"/>
                </a:solidFill>
                <a:latin typeface="Segoe UI"/>
              </a:rPr>
              <a:t>  •  Evaluation Metrics:</a:t>
            </a:r>
          </a:p>
          <a:p>
            <a:pPr algn="l">
              <a:lnSpc>
                <a:spcPct val="125000"/>
              </a:lnSpc>
            </a:pPr>
            <a:r>
              <a:rPr sz="1350" dirty="0">
                <a:solidFill>
                  <a:srgbClr val="CCCCCC"/>
                </a:solidFill>
                <a:latin typeface="Segoe UI"/>
              </a:rPr>
              <a:t>  •    R@1   — is the top-1 prediction correct?</a:t>
            </a:r>
          </a:p>
          <a:p>
            <a:pPr algn="l">
              <a:lnSpc>
                <a:spcPct val="125000"/>
              </a:lnSpc>
            </a:pPr>
            <a:r>
              <a:rPr sz="1350" dirty="0">
                <a:solidFill>
                  <a:srgbClr val="CCCCCC"/>
                </a:solidFill>
                <a:latin typeface="Segoe UI"/>
              </a:rPr>
              <a:t>  •    R@5   — is ground truth in top 5?</a:t>
            </a:r>
          </a:p>
          <a:p>
            <a:pPr algn="l">
              <a:lnSpc>
                <a:spcPct val="125000"/>
              </a:lnSpc>
            </a:pPr>
            <a:r>
              <a:rPr sz="1350" dirty="0">
                <a:solidFill>
                  <a:srgbClr val="CCCCCC"/>
                </a:solidFill>
                <a:latin typeface="Segoe UI"/>
              </a:rPr>
              <a:t>  •    R@10  — is ground truth in top 10?</a:t>
            </a:r>
          </a:p>
          <a:p>
            <a:pPr algn="l">
              <a:lnSpc>
                <a:spcPct val="125000"/>
              </a:lnSpc>
            </a:pPr>
            <a:r>
              <a:rPr sz="1350" dirty="0">
                <a:solidFill>
                  <a:srgbClr val="CCCCCC"/>
                </a:solidFill>
                <a:latin typeface="Segoe UI"/>
              </a:rPr>
              <a:t>  •    </a:t>
            </a:r>
            <a:r>
              <a:rPr sz="1350" dirty="0" err="1">
                <a:solidFill>
                  <a:srgbClr val="CCCCCC"/>
                </a:solidFill>
                <a:latin typeface="Segoe UI"/>
              </a:rPr>
              <a:t>MedR</a:t>
            </a:r>
            <a:r>
              <a:rPr sz="1350" dirty="0">
                <a:solidFill>
                  <a:srgbClr val="CCCCCC"/>
                </a:solidFill>
                <a:latin typeface="Segoe UI"/>
              </a:rPr>
              <a:t>  — median rank</a:t>
            </a:r>
          </a:p>
          <a:p>
            <a:pPr algn="l">
              <a:lnSpc>
                <a:spcPct val="125000"/>
              </a:lnSpc>
            </a:pPr>
            <a:r>
              <a:rPr sz="1350" dirty="0">
                <a:solidFill>
                  <a:srgbClr val="CCCCCC"/>
                </a:solidFill>
                <a:latin typeface="Segoe UI"/>
              </a:rPr>
              <a:t>  •    MRR   — mean reciprocal rank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89320" y="1234440"/>
            <a:ext cx="5897880" cy="50749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126480" y="1280160"/>
            <a:ext cx="5577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0B4D8"/>
                </a:solidFill>
                <a:latin typeface="Segoe UI"/>
              </a:rPr>
              <a:t>MemeCap Dataset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0" y="1719072"/>
            <a:ext cx="55778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dirty="0">
                <a:solidFill>
                  <a:srgbClr val="CCCCCC"/>
                </a:solidFill>
                <a:latin typeface="Segoe UI"/>
              </a:rPr>
              <a:t>  •  5,823 train  /  559 test examples</a:t>
            </a:r>
          </a:p>
          <a:p>
            <a:pPr algn="l">
              <a:lnSpc>
                <a:spcPct val="125000"/>
              </a:lnSpc>
            </a:pPr>
            <a:r>
              <a:rPr sz="1350" b="1" dirty="0">
                <a:solidFill>
                  <a:srgbClr val="00B4D8"/>
                </a:solidFill>
                <a:latin typeface="Segoe UI"/>
              </a:rPr>
              <a:t>──────────────────────────</a:t>
            </a:r>
          </a:p>
          <a:p>
            <a:pPr algn="l">
              <a:lnSpc>
                <a:spcPct val="125000"/>
              </a:lnSpc>
            </a:pPr>
            <a:r>
              <a:rPr sz="1350" dirty="0">
                <a:solidFill>
                  <a:srgbClr val="CCCCCC"/>
                </a:solidFill>
                <a:latin typeface="Segoe UI"/>
              </a:rPr>
              <a:t>  •  Each meme has 3 components:</a:t>
            </a:r>
          </a:p>
          <a:p>
            <a:pPr algn="l">
              <a:lnSpc>
                <a:spcPct val="125000"/>
              </a:lnSpc>
            </a:pPr>
            <a:r>
              <a:rPr sz="1350" dirty="0">
                <a:solidFill>
                  <a:srgbClr val="CCCCCC"/>
                </a:solidFill>
                <a:latin typeface="Segoe UI"/>
              </a:rPr>
              <a:t>  •    image        → the meme visual</a:t>
            </a:r>
          </a:p>
          <a:p>
            <a:pPr algn="l">
              <a:lnSpc>
                <a:spcPct val="125000"/>
              </a:lnSpc>
            </a:pPr>
            <a:r>
              <a:rPr sz="1350" dirty="0">
                <a:solidFill>
                  <a:srgbClr val="CCCCCC"/>
                </a:solidFill>
                <a:latin typeface="Segoe UI"/>
              </a:rPr>
              <a:t>  •    </a:t>
            </a:r>
            <a:r>
              <a:rPr sz="1350" dirty="0" err="1">
                <a:solidFill>
                  <a:srgbClr val="CCCCCC"/>
                </a:solidFill>
                <a:latin typeface="Segoe UI"/>
              </a:rPr>
              <a:t>img_caption</a:t>
            </a:r>
            <a:r>
              <a:rPr sz="1350" dirty="0">
                <a:solidFill>
                  <a:srgbClr val="CCCCCC"/>
                </a:solidFill>
                <a:latin typeface="Segoe UI"/>
              </a:rPr>
              <a:t>  → literal image description</a:t>
            </a:r>
          </a:p>
          <a:p>
            <a:pPr algn="l">
              <a:lnSpc>
                <a:spcPct val="125000"/>
              </a:lnSpc>
            </a:pPr>
            <a:r>
              <a:rPr sz="1350" dirty="0">
                <a:solidFill>
                  <a:srgbClr val="CCCCCC"/>
                </a:solidFill>
                <a:latin typeface="Segoe UI"/>
              </a:rPr>
              <a:t>  •    </a:t>
            </a:r>
            <a:r>
              <a:rPr sz="1350" dirty="0" err="1">
                <a:solidFill>
                  <a:srgbClr val="CCCCCC"/>
                </a:solidFill>
                <a:latin typeface="Segoe UI"/>
              </a:rPr>
              <a:t>meme_caption</a:t>
            </a:r>
            <a:r>
              <a:rPr sz="1350" dirty="0">
                <a:solidFill>
                  <a:srgbClr val="CCCCCC"/>
                </a:solidFill>
                <a:latin typeface="Segoe UI"/>
              </a:rPr>
              <a:t> → poster's intended meaning</a:t>
            </a:r>
          </a:p>
          <a:p>
            <a:pPr algn="l">
              <a:lnSpc>
                <a:spcPct val="125000"/>
              </a:lnSpc>
            </a:pPr>
            <a:r>
              <a:rPr sz="1350" b="1" dirty="0">
                <a:solidFill>
                  <a:srgbClr val="00B4D8"/>
                </a:solidFill>
                <a:latin typeface="Segoe UI"/>
              </a:rPr>
              <a:t>──────────────────────────</a:t>
            </a:r>
          </a:p>
          <a:p>
            <a:pPr algn="l">
              <a:lnSpc>
                <a:spcPct val="125000"/>
              </a:lnSpc>
            </a:pPr>
            <a:r>
              <a:rPr sz="1350" dirty="0">
                <a:solidFill>
                  <a:srgbClr val="CCCCCC"/>
                </a:solidFill>
                <a:latin typeface="Segoe UI"/>
              </a:rPr>
              <a:t>  •  Example metaphor mapping:</a:t>
            </a:r>
          </a:p>
          <a:p>
            <a:pPr algn="l">
              <a:lnSpc>
                <a:spcPct val="125000"/>
              </a:lnSpc>
            </a:pPr>
            <a:r>
              <a:rPr sz="1350" dirty="0">
                <a:solidFill>
                  <a:srgbClr val="CCCCCC"/>
                </a:solidFill>
                <a:latin typeface="Segoe UI"/>
              </a:rPr>
              <a:t>  •    'Spiderman'</a:t>
            </a:r>
          </a:p>
          <a:p>
            <a:pPr algn="l">
              <a:lnSpc>
                <a:spcPct val="125000"/>
              </a:lnSpc>
            </a:pPr>
            <a:r>
              <a:rPr sz="1350" dirty="0">
                <a:solidFill>
                  <a:srgbClr val="CCCCCC"/>
                </a:solidFill>
                <a:latin typeface="Segoe UI"/>
              </a:rPr>
              <a:t>  •    → 'climate change protesters'</a:t>
            </a:r>
          </a:p>
          <a:p>
            <a:pPr algn="l">
              <a:lnSpc>
                <a:spcPct val="125000"/>
              </a:lnSpc>
            </a:pPr>
            <a:r>
              <a:rPr sz="1350" b="1" dirty="0">
                <a:solidFill>
                  <a:srgbClr val="00B4D8"/>
                </a:solidFill>
                <a:latin typeface="Segoe UI"/>
              </a:rPr>
              <a:t>──────────────────────────</a:t>
            </a:r>
          </a:p>
          <a:p>
            <a:pPr algn="l">
              <a:lnSpc>
                <a:spcPct val="125000"/>
              </a:lnSpc>
            </a:pPr>
            <a:r>
              <a:rPr sz="1350" dirty="0">
                <a:solidFill>
                  <a:srgbClr val="CCCCCC"/>
                </a:solidFill>
                <a:latin typeface="Segoe UI"/>
              </a:rPr>
              <a:t>  •  Retrieval target: </a:t>
            </a:r>
            <a:r>
              <a:rPr sz="1350" dirty="0" err="1">
                <a:solidFill>
                  <a:srgbClr val="CCCCCC"/>
                </a:solidFill>
                <a:latin typeface="Segoe UI"/>
              </a:rPr>
              <a:t>meme_caption</a:t>
            </a:r>
            <a:endParaRPr sz="1350" dirty="0">
              <a:solidFill>
                <a:srgbClr val="CCCCCC"/>
              </a:solidFill>
              <a:latin typeface="Segoe UI"/>
            </a:endParaRPr>
          </a:p>
          <a:p>
            <a:pPr algn="l">
              <a:lnSpc>
                <a:spcPct val="125000"/>
              </a:lnSpc>
            </a:pPr>
            <a:r>
              <a:rPr sz="1350" dirty="0">
                <a:solidFill>
                  <a:srgbClr val="CCCCCC"/>
                </a:solidFill>
                <a:latin typeface="Segoe UI"/>
              </a:rPr>
              <a:t>  •  Query: (image, title) → caption gallery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87784" cy="73152"/>
          </a:xfrm>
          <a:prstGeom prst="rect">
            <a:avLst/>
          </a:prstGeom>
          <a:solidFill>
            <a:srgbClr val="0F3A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201168" y="109728"/>
            <a:ext cx="11987784" cy="658368"/>
          </a:xfrm>
          <a:prstGeom prst="rect">
            <a:avLst/>
          </a:prstGeom>
          <a:solidFill>
            <a:srgbClr val="0F3A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11480" y="128016"/>
            <a:ext cx="105156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Segoe UI"/>
              </a:rPr>
              <a:t>Models Explored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804672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 i="0">
                <a:solidFill>
                  <a:srgbClr val="90E0EF"/>
                </a:solidFill>
                <a:latin typeface="Segoe UI"/>
              </a:rPr>
              <a:t>Zero-shot transfer, training from scratch, and LoRA fine-tuning — three approaches compared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234440"/>
            <a:ext cx="3749039" cy="50749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320040" y="1234440"/>
            <a:ext cx="3749039" cy="9144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11479" y="1344168"/>
            <a:ext cx="3566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0B4D8"/>
                </a:solidFill>
                <a:latin typeface="Segoe UI"/>
              </a:rPr>
              <a:t>Model 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79" y="1709928"/>
            <a:ext cx="3566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Segoe UI"/>
              </a:rPr>
              <a:t>Zero-shot CLIP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176272"/>
            <a:ext cx="3383280" cy="36576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11479" y="2267712"/>
            <a:ext cx="35661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dirty="0">
                <a:solidFill>
                  <a:srgbClr val="CCCCCC"/>
                </a:solidFill>
                <a:latin typeface="Segoe UI"/>
              </a:rPr>
              <a:t>Base CLIP </a:t>
            </a:r>
            <a:r>
              <a:rPr sz="1300" dirty="0" err="1">
                <a:solidFill>
                  <a:srgbClr val="CCCCCC"/>
                </a:solidFill>
                <a:latin typeface="Segoe UI"/>
              </a:rPr>
              <a:t>ViT</a:t>
            </a:r>
            <a:r>
              <a:rPr sz="1300" dirty="0">
                <a:solidFill>
                  <a:srgbClr val="CCCCCC"/>
                </a:solidFill>
                <a:latin typeface="Segoe UI"/>
              </a:rPr>
              <a:t>-B/32 (OpenAI)</a:t>
            </a:r>
          </a:p>
          <a:p>
            <a:pPr algn="l">
              <a:lnSpc>
                <a:spcPct val="130000"/>
              </a:lnSpc>
            </a:pPr>
            <a:r>
              <a:rPr sz="1300" dirty="0">
                <a:solidFill>
                  <a:srgbClr val="CCCCCC"/>
                </a:solidFill>
                <a:latin typeface="Segoe UI"/>
              </a:rPr>
              <a:t>No fine-tuning applied</a:t>
            </a:r>
          </a:p>
          <a:p>
            <a:pPr algn="l">
              <a:lnSpc>
                <a:spcPct val="130000"/>
              </a:lnSpc>
            </a:pPr>
            <a:r>
              <a:rPr sz="1300" dirty="0">
                <a:solidFill>
                  <a:srgbClr val="CCCCCC"/>
                </a:solidFill>
                <a:latin typeface="Segoe UI"/>
              </a:rPr>
              <a:t>Baseline to measure</a:t>
            </a:r>
          </a:p>
          <a:p>
            <a:pPr algn="l">
              <a:lnSpc>
                <a:spcPct val="130000"/>
              </a:lnSpc>
            </a:pPr>
            <a:r>
              <a:rPr sz="1300" dirty="0">
                <a:solidFill>
                  <a:srgbClr val="CCCCCC"/>
                </a:solidFill>
                <a:latin typeface="Segoe UI"/>
              </a:rPr>
              <a:t>transfer capability</a:t>
            </a:r>
          </a:p>
          <a:p>
            <a:pPr algn="l">
              <a:lnSpc>
                <a:spcPct val="130000"/>
              </a:lnSpc>
            </a:pPr>
            <a:r>
              <a:rPr sz="1300" b="1" dirty="0">
                <a:solidFill>
                  <a:srgbClr val="00B4D8"/>
                </a:solidFill>
                <a:latin typeface="Segoe UI"/>
              </a:rPr>
              <a:t>──────────────────</a:t>
            </a:r>
          </a:p>
          <a:p>
            <a:pPr algn="l">
              <a:lnSpc>
                <a:spcPct val="130000"/>
              </a:lnSpc>
            </a:pPr>
            <a:r>
              <a:rPr sz="1300" dirty="0">
                <a:solidFill>
                  <a:srgbClr val="CCCCCC"/>
                </a:solidFill>
                <a:latin typeface="Segoe UI"/>
              </a:rPr>
              <a:t>Training: —</a:t>
            </a:r>
          </a:p>
          <a:p>
            <a:pPr algn="l">
              <a:lnSpc>
                <a:spcPct val="130000"/>
              </a:lnSpc>
            </a:pPr>
            <a:r>
              <a:rPr sz="1300" dirty="0">
                <a:solidFill>
                  <a:srgbClr val="CCCCCC"/>
                </a:solidFill>
                <a:latin typeface="Segoe UI"/>
              </a:rPr>
              <a:t>Params: 151M (frozen)</a:t>
            </a:r>
          </a:p>
          <a:p>
            <a:pPr algn="l">
              <a:lnSpc>
                <a:spcPct val="130000"/>
              </a:lnSpc>
            </a:pPr>
            <a:r>
              <a:rPr sz="1300" dirty="0">
                <a:solidFill>
                  <a:srgbClr val="CCCCCC"/>
                </a:solidFill>
                <a:latin typeface="Segoe UI"/>
              </a:rPr>
              <a:t>Loss: —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51959" y="1234440"/>
            <a:ext cx="3749039" cy="50749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251959" y="1234440"/>
            <a:ext cx="3749039" cy="91440"/>
          </a:xfrm>
          <a:prstGeom prst="rect">
            <a:avLst/>
          </a:prstGeom>
          <a:solidFill>
            <a:srgbClr val="FF92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343399" y="1344168"/>
            <a:ext cx="3566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9214"/>
                </a:solidFill>
                <a:latin typeface="Segoe UI"/>
              </a:rPr>
              <a:t>Model 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43399" y="1709928"/>
            <a:ext cx="3566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 dirty="0">
                <a:solidFill>
                  <a:srgbClr val="FFFFFF"/>
                </a:solidFill>
                <a:latin typeface="Segoe UI"/>
              </a:rPr>
              <a:t>Custom Dual Encoder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434840" y="2176272"/>
            <a:ext cx="3383280" cy="36576"/>
          </a:xfrm>
          <a:prstGeom prst="rect">
            <a:avLst/>
          </a:prstGeom>
          <a:solidFill>
            <a:srgbClr val="FF92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343399" y="2267712"/>
            <a:ext cx="35661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dirty="0">
                <a:solidFill>
                  <a:srgbClr val="CCCCCC"/>
                </a:solidFill>
                <a:latin typeface="Segoe UI"/>
              </a:rPr>
              <a:t>Image: ResNet-50 + </a:t>
            </a:r>
            <a:r>
              <a:rPr sz="1300" dirty="0" err="1">
                <a:solidFill>
                  <a:srgbClr val="CCCCCC"/>
                </a:solidFill>
                <a:latin typeface="Segoe UI"/>
              </a:rPr>
              <a:t>proj</a:t>
            </a:r>
            <a:r>
              <a:rPr sz="1300" dirty="0">
                <a:solidFill>
                  <a:srgbClr val="CCCCCC"/>
                </a:solidFill>
                <a:latin typeface="Segoe UI"/>
              </a:rPr>
              <a:t> → 256d</a:t>
            </a:r>
          </a:p>
          <a:p>
            <a:pPr algn="l">
              <a:lnSpc>
                <a:spcPct val="130000"/>
              </a:lnSpc>
            </a:pPr>
            <a:r>
              <a:rPr sz="1300" dirty="0">
                <a:solidFill>
                  <a:srgbClr val="CCCCCC"/>
                </a:solidFill>
                <a:latin typeface="Segoe UI"/>
              </a:rPr>
              <a:t>Text: </a:t>
            </a:r>
            <a:r>
              <a:rPr sz="1300" dirty="0" err="1">
                <a:solidFill>
                  <a:srgbClr val="CCCCCC"/>
                </a:solidFill>
                <a:latin typeface="Segoe UI"/>
              </a:rPr>
              <a:t>DistilBERT</a:t>
            </a:r>
            <a:r>
              <a:rPr sz="1300" dirty="0">
                <a:solidFill>
                  <a:srgbClr val="CCCCCC"/>
                </a:solidFill>
                <a:latin typeface="Segoe UI"/>
              </a:rPr>
              <a:t> + </a:t>
            </a:r>
            <a:r>
              <a:rPr sz="1300" dirty="0" err="1">
                <a:solidFill>
                  <a:srgbClr val="CCCCCC"/>
                </a:solidFill>
                <a:latin typeface="Segoe UI"/>
              </a:rPr>
              <a:t>proj</a:t>
            </a:r>
            <a:r>
              <a:rPr sz="1300" dirty="0">
                <a:solidFill>
                  <a:srgbClr val="CCCCCC"/>
                </a:solidFill>
                <a:latin typeface="Segoe UI"/>
              </a:rPr>
              <a:t> → 256d</a:t>
            </a:r>
          </a:p>
          <a:p>
            <a:pPr algn="l">
              <a:lnSpc>
                <a:spcPct val="130000"/>
              </a:lnSpc>
            </a:pPr>
            <a:r>
              <a:rPr sz="1300" dirty="0">
                <a:solidFill>
                  <a:srgbClr val="CCCCCC"/>
                </a:solidFill>
                <a:latin typeface="Segoe UI"/>
              </a:rPr>
              <a:t>Loss: Symmetric </a:t>
            </a:r>
            <a:r>
              <a:rPr sz="1300" dirty="0" err="1">
                <a:solidFill>
                  <a:srgbClr val="CCCCCC"/>
                </a:solidFill>
                <a:latin typeface="Segoe UI"/>
              </a:rPr>
              <a:t>InfoNCE</a:t>
            </a:r>
            <a:endParaRPr sz="1300" dirty="0">
              <a:solidFill>
                <a:srgbClr val="CCCCCC"/>
              </a:solidFill>
              <a:latin typeface="Segoe UI"/>
            </a:endParaRPr>
          </a:p>
          <a:p>
            <a:pPr algn="l">
              <a:lnSpc>
                <a:spcPct val="130000"/>
              </a:lnSpc>
            </a:pPr>
            <a:r>
              <a:rPr sz="1300" dirty="0">
                <a:solidFill>
                  <a:srgbClr val="CCCCCC"/>
                </a:solidFill>
                <a:latin typeface="Segoe UI"/>
              </a:rPr>
              <a:t>Optimizer: </a:t>
            </a:r>
            <a:r>
              <a:rPr sz="1300" dirty="0" err="1">
                <a:solidFill>
                  <a:srgbClr val="CCCCCC"/>
                </a:solidFill>
                <a:latin typeface="Segoe UI"/>
              </a:rPr>
              <a:t>AdamW</a:t>
            </a:r>
            <a:endParaRPr sz="1300" dirty="0">
              <a:solidFill>
                <a:srgbClr val="CCCCCC"/>
              </a:solidFill>
              <a:latin typeface="Segoe UI"/>
            </a:endParaRPr>
          </a:p>
          <a:p>
            <a:pPr algn="l">
              <a:lnSpc>
                <a:spcPct val="130000"/>
              </a:lnSpc>
            </a:pPr>
            <a:r>
              <a:rPr sz="1300" dirty="0">
                <a:solidFill>
                  <a:srgbClr val="CCCCCC"/>
                </a:solidFill>
                <a:latin typeface="Segoe UI"/>
              </a:rPr>
              <a:t>LR: </a:t>
            </a:r>
            <a:r>
              <a:rPr sz="1300" dirty="0" err="1">
                <a:solidFill>
                  <a:srgbClr val="CCCCCC"/>
                </a:solidFill>
                <a:latin typeface="Segoe UI"/>
              </a:rPr>
              <a:t>ReduceLROnPlateau</a:t>
            </a:r>
            <a:endParaRPr sz="1300" dirty="0">
              <a:solidFill>
                <a:srgbClr val="CCCCCC"/>
              </a:solidFill>
              <a:latin typeface="Segoe UI"/>
            </a:endParaRPr>
          </a:p>
          <a:p>
            <a:pPr algn="l">
              <a:lnSpc>
                <a:spcPct val="130000"/>
              </a:lnSpc>
            </a:pPr>
            <a:r>
              <a:rPr sz="1300" dirty="0">
                <a:solidFill>
                  <a:srgbClr val="CCCCCC"/>
                </a:solidFill>
                <a:latin typeface="Segoe UI"/>
              </a:rPr>
              <a:t>Early stop: </a:t>
            </a:r>
            <a:r>
              <a:rPr sz="1300" dirty="0" err="1">
                <a:solidFill>
                  <a:srgbClr val="CCCCCC"/>
                </a:solidFill>
                <a:latin typeface="Segoe UI"/>
              </a:rPr>
              <a:t>val</a:t>
            </a:r>
            <a:r>
              <a:rPr sz="1300" dirty="0">
                <a:solidFill>
                  <a:srgbClr val="CCCCCC"/>
                </a:solidFill>
                <a:latin typeface="Segoe UI"/>
              </a:rPr>
              <a:t> R@5</a:t>
            </a:r>
          </a:p>
          <a:p>
            <a:pPr algn="l">
              <a:lnSpc>
                <a:spcPct val="130000"/>
              </a:lnSpc>
            </a:pPr>
            <a:r>
              <a:rPr sz="1300" b="1" dirty="0">
                <a:solidFill>
                  <a:srgbClr val="00B4D8"/>
                </a:solidFill>
                <a:latin typeface="Segoe UI"/>
              </a:rPr>
              <a:t>──────────────────</a:t>
            </a:r>
          </a:p>
          <a:p>
            <a:pPr algn="l">
              <a:lnSpc>
                <a:spcPct val="130000"/>
              </a:lnSpc>
            </a:pPr>
            <a:r>
              <a:rPr sz="1300" dirty="0">
                <a:solidFill>
                  <a:srgbClr val="CCCCCC"/>
                </a:solidFill>
                <a:latin typeface="Segoe UI"/>
              </a:rPr>
              <a:t>Trained from scratch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183879" y="1234440"/>
            <a:ext cx="3749039" cy="50749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8183879" y="1234440"/>
            <a:ext cx="3749039" cy="91440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275319" y="1344168"/>
            <a:ext cx="3566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6D6A0"/>
                </a:solidFill>
                <a:latin typeface="Segoe UI"/>
              </a:rPr>
              <a:t>Model C  ★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75319" y="1709928"/>
            <a:ext cx="3566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Segoe UI"/>
              </a:rPr>
              <a:t>CLIP + LoRA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366759" y="2176272"/>
            <a:ext cx="3383280" cy="36576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275319" y="2267712"/>
            <a:ext cx="35661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dirty="0">
                <a:solidFill>
                  <a:srgbClr val="CCCCCC"/>
                </a:solidFill>
                <a:latin typeface="Segoe UI"/>
              </a:rPr>
              <a:t>Base: </a:t>
            </a:r>
            <a:r>
              <a:rPr sz="1300" dirty="0" err="1">
                <a:solidFill>
                  <a:srgbClr val="CCCCCC"/>
                </a:solidFill>
                <a:latin typeface="Segoe UI"/>
              </a:rPr>
              <a:t>OpenCLIP</a:t>
            </a:r>
            <a:r>
              <a:rPr sz="1300" dirty="0">
                <a:solidFill>
                  <a:srgbClr val="CCCCCC"/>
                </a:solidFill>
                <a:latin typeface="Segoe UI"/>
              </a:rPr>
              <a:t> </a:t>
            </a:r>
            <a:r>
              <a:rPr sz="1300" dirty="0" err="1">
                <a:solidFill>
                  <a:srgbClr val="CCCCCC"/>
                </a:solidFill>
                <a:latin typeface="Segoe UI"/>
              </a:rPr>
              <a:t>ViT</a:t>
            </a:r>
            <a:r>
              <a:rPr sz="1300" dirty="0">
                <a:solidFill>
                  <a:srgbClr val="CCCCCC"/>
                </a:solidFill>
                <a:latin typeface="Segoe UI"/>
              </a:rPr>
              <a:t>-B/32 (frozen)</a:t>
            </a:r>
          </a:p>
          <a:p>
            <a:pPr algn="l">
              <a:lnSpc>
                <a:spcPct val="130000"/>
              </a:lnSpc>
            </a:pPr>
            <a:r>
              <a:rPr sz="1300" dirty="0" err="1">
                <a:solidFill>
                  <a:srgbClr val="CCCCCC"/>
                </a:solidFill>
                <a:latin typeface="Segoe UI"/>
              </a:rPr>
              <a:t>LoRA</a:t>
            </a:r>
            <a:r>
              <a:rPr sz="1300" dirty="0">
                <a:solidFill>
                  <a:srgbClr val="CCCCCC"/>
                </a:solidFill>
                <a:latin typeface="Segoe UI"/>
              </a:rPr>
              <a:t> adapters injected into:</a:t>
            </a:r>
          </a:p>
          <a:p>
            <a:pPr algn="l">
              <a:lnSpc>
                <a:spcPct val="130000"/>
              </a:lnSpc>
            </a:pPr>
            <a:r>
              <a:rPr sz="1300" dirty="0">
                <a:solidFill>
                  <a:srgbClr val="CCCCCC"/>
                </a:solidFill>
                <a:latin typeface="Segoe UI"/>
              </a:rPr>
              <a:t>  </a:t>
            </a:r>
            <a:r>
              <a:rPr sz="1300" dirty="0" err="1">
                <a:solidFill>
                  <a:srgbClr val="CCCCCC"/>
                </a:solidFill>
                <a:latin typeface="Segoe UI"/>
              </a:rPr>
              <a:t>attn.out_proj</a:t>
            </a:r>
            <a:endParaRPr sz="1300" dirty="0">
              <a:solidFill>
                <a:srgbClr val="CCCCCC"/>
              </a:solidFill>
              <a:latin typeface="Segoe UI"/>
            </a:endParaRPr>
          </a:p>
          <a:p>
            <a:pPr algn="l">
              <a:lnSpc>
                <a:spcPct val="130000"/>
              </a:lnSpc>
            </a:pPr>
            <a:r>
              <a:rPr sz="1300" dirty="0">
                <a:solidFill>
                  <a:srgbClr val="CCCCCC"/>
                </a:solidFill>
                <a:latin typeface="Segoe UI"/>
              </a:rPr>
              <a:t>  </a:t>
            </a:r>
            <a:r>
              <a:rPr sz="1300" dirty="0" err="1">
                <a:solidFill>
                  <a:srgbClr val="CCCCCC"/>
                </a:solidFill>
                <a:latin typeface="Segoe UI"/>
              </a:rPr>
              <a:t>mlp.c_fc</a:t>
            </a:r>
            <a:r>
              <a:rPr sz="1300" dirty="0">
                <a:solidFill>
                  <a:srgbClr val="CCCCCC"/>
                </a:solidFill>
                <a:latin typeface="Segoe UI"/>
              </a:rPr>
              <a:t> / </a:t>
            </a:r>
            <a:r>
              <a:rPr sz="1300" dirty="0" err="1">
                <a:solidFill>
                  <a:srgbClr val="CCCCCC"/>
                </a:solidFill>
                <a:latin typeface="Segoe UI"/>
              </a:rPr>
              <a:t>mlp.c_proj</a:t>
            </a:r>
            <a:endParaRPr sz="1300" dirty="0">
              <a:solidFill>
                <a:srgbClr val="CCCCCC"/>
              </a:solidFill>
              <a:latin typeface="Segoe UI"/>
            </a:endParaRPr>
          </a:p>
          <a:p>
            <a:pPr algn="l">
              <a:lnSpc>
                <a:spcPct val="130000"/>
              </a:lnSpc>
            </a:pPr>
            <a:r>
              <a:rPr sz="1300" dirty="0">
                <a:solidFill>
                  <a:srgbClr val="CCCCCC"/>
                </a:solidFill>
                <a:latin typeface="Segoe UI"/>
              </a:rPr>
              <a:t>Loss: Symmetric </a:t>
            </a:r>
            <a:r>
              <a:rPr sz="1300" dirty="0" err="1">
                <a:solidFill>
                  <a:srgbClr val="CCCCCC"/>
                </a:solidFill>
                <a:latin typeface="Segoe UI"/>
              </a:rPr>
              <a:t>InfoNCE</a:t>
            </a:r>
            <a:endParaRPr sz="1300" dirty="0">
              <a:solidFill>
                <a:srgbClr val="CCCCCC"/>
              </a:solidFill>
              <a:latin typeface="Segoe UI"/>
            </a:endParaRPr>
          </a:p>
          <a:p>
            <a:pPr algn="l">
              <a:lnSpc>
                <a:spcPct val="130000"/>
              </a:lnSpc>
            </a:pPr>
            <a:r>
              <a:rPr sz="1300" b="1" dirty="0">
                <a:solidFill>
                  <a:srgbClr val="00B4D8"/>
                </a:solidFill>
                <a:latin typeface="Segoe UI"/>
              </a:rPr>
              <a:t>──────────────────</a:t>
            </a:r>
          </a:p>
          <a:p>
            <a:pPr algn="l">
              <a:lnSpc>
                <a:spcPct val="130000"/>
              </a:lnSpc>
            </a:pPr>
            <a:r>
              <a:rPr sz="1300" dirty="0">
                <a:solidFill>
                  <a:srgbClr val="CCCCCC"/>
                </a:solidFill>
                <a:latin typeface="Segoe UI"/>
              </a:rPr>
              <a:t>Very few trainable params</a:t>
            </a:r>
          </a:p>
          <a:p>
            <a:pPr algn="l">
              <a:lnSpc>
                <a:spcPct val="130000"/>
              </a:lnSpc>
            </a:pPr>
            <a:r>
              <a:rPr sz="1300" dirty="0">
                <a:solidFill>
                  <a:srgbClr val="CCCCCC"/>
                </a:solidFill>
                <a:latin typeface="Segoe UI"/>
              </a:rPr>
              <a:t>Best overall results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0040" y="6492240"/>
            <a:ext cx="11612880" cy="274320"/>
          </a:xfrm>
          <a:prstGeom prst="rect">
            <a:avLst/>
          </a:prstGeom>
          <a:solidFill>
            <a:srgbClr val="0F3A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397931" y="6485127"/>
            <a:ext cx="11338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 dirty="0">
                <a:solidFill>
                  <a:srgbClr val="FFD600"/>
                </a:solidFill>
                <a:latin typeface="Segoe UI"/>
              </a:rPr>
              <a:t>Shared training details: gradient clipping, cosine annealing, symmetric </a:t>
            </a:r>
            <a:r>
              <a:rPr sz="1300" b="0" i="0" dirty="0" err="1">
                <a:solidFill>
                  <a:srgbClr val="FFD600"/>
                </a:solidFill>
                <a:latin typeface="Segoe UI"/>
              </a:rPr>
              <a:t>InfoNCE</a:t>
            </a:r>
            <a:r>
              <a:rPr sz="1300" b="0" i="0" dirty="0">
                <a:solidFill>
                  <a:srgbClr val="FFD600"/>
                </a:solidFill>
                <a:latin typeface="Segoe UI"/>
              </a:rPr>
              <a:t> loss (temperature τ=0.07)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87784" cy="73152"/>
          </a:xfrm>
          <a:prstGeom prst="rect">
            <a:avLst/>
          </a:prstGeom>
          <a:solidFill>
            <a:srgbClr val="0F3A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201168" y="109728"/>
            <a:ext cx="11987784" cy="658368"/>
          </a:xfrm>
          <a:prstGeom prst="rect">
            <a:avLst/>
          </a:prstGeom>
          <a:solidFill>
            <a:srgbClr val="0F3A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11480" y="128016"/>
            <a:ext cx="105156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Segoe UI"/>
              </a:rPr>
              <a:t>Fusion Strategies  (Type 2: Image + Title)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804672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 i="0">
                <a:solidFill>
                  <a:srgbClr val="90E0EF"/>
                </a:solidFill>
                <a:latin typeface="Segoe UI"/>
              </a:rPr>
              <a:t>Type 1 uses the image embedding alone — fusion only applies to Type 2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234440"/>
            <a:ext cx="2194560" cy="50749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274320" y="1234440"/>
            <a:ext cx="2194560" cy="9144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47472" y="1353312"/>
            <a:ext cx="2057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50" b="1" i="0">
                <a:solidFill>
                  <a:srgbClr val="00B4D8"/>
                </a:solidFill>
                <a:latin typeface="Segoe UI"/>
              </a:rPr>
              <a:t>Concat + Project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79" y="1920240"/>
            <a:ext cx="1920240" cy="36576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65760" y="1993392"/>
            <a:ext cx="20116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 dirty="0" err="1">
                <a:solidFill>
                  <a:srgbClr val="FFFFFF"/>
                </a:solidFill>
                <a:latin typeface="Segoe UI"/>
              </a:rPr>
              <a:t>img_emb</a:t>
            </a:r>
            <a:r>
              <a:rPr sz="1300" b="0" i="0" dirty="0">
                <a:solidFill>
                  <a:srgbClr val="FFFFFF"/>
                </a:solidFill>
                <a:latin typeface="Segoe UI"/>
              </a:rPr>
              <a:t> ∥ </a:t>
            </a:r>
            <a:r>
              <a:rPr sz="1300" b="0" i="0" dirty="0" err="1">
                <a:solidFill>
                  <a:srgbClr val="FFFFFF"/>
                </a:solidFill>
                <a:latin typeface="Segoe UI"/>
              </a:rPr>
              <a:t>title_emb</a:t>
            </a:r>
            <a:r>
              <a:rPr sz="1300" b="0" i="0" dirty="0">
                <a:solidFill>
                  <a:srgbClr val="FFFFFF"/>
                </a:solidFill>
                <a:latin typeface="Segoe UI"/>
              </a:rPr>
              <a:t>
→ projected to 256d via MLP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3337560"/>
            <a:ext cx="2011680" cy="36576"/>
          </a:xfrm>
          <a:prstGeom prst="rect">
            <a:avLst/>
          </a:prstGeom>
          <a:solidFill>
            <a:srgbClr val="444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65760" y="3401568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90E0EF"/>
                </a:solidFill>
                <a:latin typeface="Segoe UI"/>
              </a:rPr>
              <a:t>Note: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7472" y="3703320"/>
            <a:ext cx="2057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CCCCCC"/>
                </a:solidFill>
                <a:latin typeface="Segoe UI"/>
              </a:rPr>
              <a:t>Complete collapse on
zero-shot CLIP (R@1 = 0.4%)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606039" y="1234440"/>
            <a:ext cx="2194560" cy="50749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2606039" y="1234440"/>
            <a:ext cx="2194560" cy="91440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2679191" y="1353312"/>
            <a:ext cx="2057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50" b="1" i="0">
                <a:solidFill>
                  <a:srgbClr val="06D6A0"/>
                </a:solidFill>
                <a:latin typeface="Segoe UI"/>
              </a:rPr>
              <a:t>Cross-Attention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199" y="1920240"/>
            <a:ext cx="1920240" cy="36576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2697479" y="1993392"/>
            <a:ext cx="20116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  <a:latin typeface="Segoe UI"/>
              </a:rPr>
              <a:t>Image as query,
attends to title
(multi-head attention)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697479" y="3337560"/>
            <a:ext cx="2011680" cy="36576"/>
          </a:xfrm>
          <a:prstGeom prst="rect">
            <a:avLst/>
          </a:prstGeom>
          <a:solidFill>
            <a:srgbClr val="444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2697479" y="3401568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90E0EF"/>
                </a:solidFill>
                <a:latin typeface="Segoe UI"/>
              </a:rPr>
              <a:t>Note: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79191" y="3703320"/>
            <a:ext cx="2057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CCCCCC"/>
                </a:solidFill>
                <a:latin typeface="Segoe UI"/>
              </a:rPr>
              <a:t>Good for custom model,
moderate for CLIP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937759" y="1234440"/>
            <a:ext cx="2194560" cy="50749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4937759" y="1234440"/>
            <a:ext cx="2194560" cy="91440"/>
          </a:xfrm>
          <a:prstGeom prst="rect">
            <a:avLst/>
          </a:prstGeom>
          <a:solidFill>
            <a:srgbClr val="FF92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5010912" y="1353312"/>
            <a:ext cx="2057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50" b="1" i="0">
                <a:solidFill>
                  <a:srgbClr val="FF9214"/>
                </a:solidFill>
                <a:latin typeface="Segoe UI"/>
              </a:rPr>
              <a:t>Additive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74920" y="1920240"/>
            <a:ext cx="1920240" cy="36576"/>
          </a:xfrm>
          <a:prstGeom prst="rect">
            <a:avLst/>
          </a:prstGeom>
          <a:solidFill>
            <a:srgbClr val="FF92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029199" y="1993392"/>
            <a:ext cx="20116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  <a:latin typeface="Segoe UI"/>
              </a:rPr>
              <a:t>img_emb + title_emb
(element-wise sum)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199" y="3337560"/>
            <a:ext cx="2011680" cy="36576"/>
          </a:xfrm>
          <a:prstGeom prst="rect">
            <a:avLst/>
          </a:prstGeom>
          <a:solidFill>
            <a:srgbClr val="444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5029199" y="3401568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90E0EF"/>
                </a:solidFill>
                <a:latin typeface="Segoe UI"/>
              </a:rPr>
              <a:t>Note: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10912" y="3703320"/>
            <a:ext cx="2057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CCCCCC"/>
                </a:solidFill>
                <a:latin typeface="Segoe UI"/>
              </a:rPr>
              <a:t>Simple but
partially effective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269479" y="1234440"/>
            <a:ext cx="2194560" cy="50749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7269479" y="1234440"/>
            <a:ext cx="2194560" cy="91440"/>
          </a:xfrm>
          <a:prstGeom prst="rect">
            <a:avLst/>
          </a:prstGeom>
          <a:solidFill>
            <a:srgbClr val="FFD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7342631" y="1353312"/>
            <a:ext cx="2057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50" b="1" i="0">
                <a:solidFill>
                  <a:srgbClr val="FFD600"/>
                </a:solidFill>
                <a:latin typeface="Segoe UI"/>
              </a:rPr>
              <a:t>Weighted Sum  ★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406640" y="1920240"/>
            <a:ext cx="1920240" cy="36576"/>
          </a:xfrm>
          <a:prstGeom prst="rect">
            <a:avLst/>
          </a:prstGeom>
          <a:solidFill>
            <a:srgbClr val="FFD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7360919" y="1993392"/>
            <a:ext cx="20116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  <a:latin typeface="Segoe UI"/>
              </a:rPr>
              <a:t>α·img_emb + (1-α)·title_emb
α is a learned scalar weight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60919" y="3337560"/>
            <a:ext cx="2011680" cy="36576"/>
          </a:xfrm>
          <a:prstGeom prst="rect">
            <a:avLst/>
          </a:prstGeom>
          <a:solidFill>
            <a:srgbClr val="444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7360919" y="3401568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90E0EF"/>
                </a:solidFill>
                <a:latin typeface="Segoe UI"/>
              </a:rPr>
              <a:t>Note: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42631" y="3703320"/>
            <a:ext cx="2057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CCCCCC"/>
                </a:solidFill>
                <a:latin typeface="Segoe UI"/>
              </a:rPr>
              <a:t>Best results with
CLIP-based models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601200" y="1234440"/>
            <a:ext cx="2194560" cy="50749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9601200" y="1234440"/>
            <a:ext cx="2194560" cy="91440"/>
          </a:xfrm>
          <a:prstGeom prst="rect">
            <a:avLst/>
          </a:prstGeom>
          <a:solidFill>
            <a:srgbClr val="C77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9674352" y="1353312"/>
            <a:ext cx="2057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50" b="1" i="0">
                <a:solidFill>
                  <a:srgbClr val="C77DFF"/>
                </a:solidFill>
                <a:latin typeface="Segoe UI"/>
              </a:rPr>
              <a:t>Gated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738360" y="1920240"/>
            <a:ext cx="1920240" cy="36576"/>
          </a:xfrm>
          <a:prstGeom prst="rect">
            <a:avLst/>
          </a:prstGeom>
          <a:solidFill>
            <a:srgbClr val="C77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9692640" y="1993392"/>
            <a:ext cx="20116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 dirty="0">
                <a:solidFill>
                  <a:srgbClr val="FFFFFF"/>
                </a:solidFill>
                <a:latin typeface="Segoe UI"/>
              </a:rPr>
              <a:t>Sigmoid gate:
g = σ(W·[</a:t>
            </a:r>
            <a:r>
              <a:rPr sz="1300" b="0" i="0" dirty="0" err="1">
                <a:solidFill>
                  <a:srgbClr val="FFFFFF"/>
                </a:solidFill>
                <a:latin typeface="Segoe UI"/>
              </a:rPr>
              <a:t>img;title</a:t>
            </a:r>
            <a:r>
              <a:rPr sz="1300" b="0" i="0" dirty="0">
                <a:solidFill>
                  <a:srgbClr val="FFFFFF"/>
                </a:solidFill>
                <a:latin typeface="Segoe UI"/>
              </a:rPr>
              <a:t>])
out = </a:t>
            </a:r>
            <a:r>
              <a:rPr sz="1300" b="0" i="0" dirty="0" err="1">
                <a:solidFill>
                  <a:srgbClr val="FFFFFF"/>
                </a:solidFill>
                <a:latin typeface="Segoe UI"/>
              </a:rPr>
              <a:t>g⊙img</a:t>
            </a:r>
            <a:r>
              <a:rPr sz="1300" b="0" i="0" dirty="0">
                <a:solidFill>
                  <a:srgbClr val="FFFFFF"/>
                </a:solidFill>
                <a:latin typeface="Segoe UI"/>
              </a:rPr>
              <a:t> + (1-g)⊙title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692640" y="3337560"/>
            <a:ext cx="2011680" cy="36576"/>
          </a:xfrm>
          <a:prstGeom prst="rect">
            <a:avLst/>
          </a:prstGeom>
          <a:solidFill>
            <a:srgbClr val="444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9692640" y="3401568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90E0EF"/>
                </a:solidFill>
                <a:latin typeface="Segoe UI"/>
              </a:rPr>
              <a:t>Note: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674352" y="3703320"/>
            <a:ext cx="2057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CCCCCC"/>
                </a:solidFill>
                <a:latin typeface="Segoe UI"/>
              </a:rPr>
              <a:t>Best for custom
dual encoder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20040" y="6492240"/>
            <a:ext cx="11612880" cy="274320"/>
          </a:xfrm>
          <a:prstGeom prst="rect">
            <a:avLst/>
          </a:prstGeom>
          <a:solidFill>
            <a:srgbClr val="0F3A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457200" y="6476660"/>
            <a:ext cx="11338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 dirty="0">
                <a:solidFill>
                  <a:srgbClr val="FFD600"/>
                </a:solidFill>
                <a:latin typeface="Segoe UI"/>
              </a:rPr>
              <a:t>Fusion only applies to Type 2 (image + title).  Type 1 uses a single image embedding — no fusion module is ever called.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87784" cy="73152"/>
          </a:xfrm>
          <a:prstGeom prst="rect">
            <a:avLst/>
          </a:prstGeom>
          <a:solidFill>
            <a:srgbClr val="0F3A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201168" y="109728"/>
            <a:ext cx="11987784" cy="658368"/>
          </a:xfrm>
          <a:prstGeom prst="rect">
            <a:avLst/>
          </a:prstGeom>
          <a:solidFill>
            <a:srgbClr val="0F3A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11480" y="128016"/>
            <a:ext cx="105156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Segoe UI"/>
              </a:rPr>
              <a:t>Results  —  Zero-shot CLIP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813816"/>
            <a:ext cx="6309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90E0EF"/>
                </a:solidFill>
                <a:latin typeface="Segoe UI"/>
              </a:rPr>
              <a:t>OpenAI ViT-B/32  ·  No fine-tuning  ·  Pure transfer learning baseline</a:t>
            </a:r>
          </a:p>
        </p:txBody>
      </p:sp>
      <p:sp>
        <p:nvSpPr>
          <p:cNvPr id="7" name="Rectangle 6"/>
          <p:cNvSpPr/>
          <p:nvPr/>
        </p:nvSpPr>
        <p:spPr>
          <a:xfrm>
            <a:off x="6949440" y="850392"/>
            <a:ext cx="164592" cy="164592"/>
          </a:xfrm>
          <a:prstGeom prst="rect">
            <a:avLst/>
          </a:prstGeom>
          <a:solidFill>
            <a:srgbClr val="1F3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178040" y="822960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CCCC"/>
                </a:solidFill>
                <a:latin typeface="Segoe UI"/>
              </a:rPr>
              <a:t>Type 1 rows</a:t>
            </a:r>
          </a:p>
        </p:txBody>
      </p:sp>
      <p:sp>
        <p:nvSpPr>
          <p:cNvPr id="9" name="Rectangle 8"/>
          <p:cNvSpPr/>
          <p:nvPr/>
        </p:nvSpPr>
        <p:spPr>
          <a:xfrm>
            <a:off x="8796528" y="850392"/>
            <a:ext cx="164592" cy="164592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025128" y="822960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CCCC"/>
                </a:solidFill>
                <a:latin typeface="Segoe UI"/>
              </a:rPr>
              <a:t>Type 2 rows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643615" y="850392"/>
            <a:ext cx="164592" cy="164592"/>
          </a:xfrm>
          <a:prstGeom prst="rect">
            <a:avLst/>
          </a:prstGeom>
          <a:solidFill>
            <a:srgbClr val="0530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0872215" y="822960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CCCC"/>
                </a:solidFill>
                <a:latin typeface="Segoe UI"/>
              </a:rPr>
              <a:t>Best in category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20040" y="1216152"/>
          <a:ext cx="11548872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9222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9222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79222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9105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79222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404948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Strategy / Variant</a:t>
                      </a:r>
                    </a:p>
                  </a:txBody>
                  <a:tcPr>
                    <a:solidFill>
                      <a:srgbClr val="0F3A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Input</a:t>
                      </a:r>
                    </a:p>
                  </a:txBody>
                  <a:tcPr>
                    <a:solidFill>
                      <a:srgbClr val="0F3A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R@1</a:t>
                      </a:r>
                    </a:p>
                  </a:txBody>
                  <a:tcPr>
                    <a:solidFill>
                      <a:srgbClr val="0F3A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R@5</a:t>
                      </a:r>
                    </a:p>
                  </a:txBody>
                  <a:tcPr>
                    <a:solidFill>
                      <a:srgbClr val="0F3A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R@10</a:t>
                      </a:r>
                    </a:p>
                  </a:txBody>
                  <a:tcPr>
                    <a:solidFill>
                      <a:srgbClr val="0F3A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MedR</a:t>
                      </a:r>
                    </a:p>
                  </a:txBody>
                  <a:tcPr>
                    <a:solidFill>
                      <a:srgbClr val="0F3A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MRR</a:t>
                      </a:r>
                    </a:p>
                  </a:txBody>
                  <a:tcPr>
                    <a:solidFill>
                      <a:srgbClr val="0F3A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4948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90E0EF"/>
                          </a:solidFill>
                          <a:latin typeface="Segoe UI"/>
                        </a:rPr>
                        <a:t>—  (no fusion)</a:t>
                      </a:r>
                    </a:p>
                  </a:txBody>
                  <a:tcPr>
                    <a:solidFill>
                      <a:srgbClr val="1F30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90E0EF"/>
                          </a:solidFill>
                          <a:latin typeface="Segoe UI"/>
                        </a:rPr>
                        <a:t>Type 1</a:t>
                      </a:r>
                    </a:p>
                  </a:txBody>
                  <a:tcPr>
                    <a:solidFill>
                      <a:srgbClr val="1F30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90E0EF"/>
                          </a:solidFill>
                          <a:latin typeface="Segoe UI"/>
                        </a:rPr>
                        <a:t>45.26%</a:t>
                      </a:r>
                    </a:p>
                  </a:txBody>
                  <a:tcPr>
                    <a:solidFill>
                      <a:srgbClr val="1F30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90E0EF"/>
                          </a:solidFill>
                          <a:latin typeface="Segoe UI"/>
                        </a:rPr>
                        <a:t>64.76%</a:t>
                      </a:r>
                    </a:p>
                  </a:txBody>
                  <a:tcPr>
                    <a:solidFill>
                      <a:srgbClr val="1F30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90E0EF"/>
                          </a:solidFill>
                          <a:latin typeface="Segoe UI"/>
                        </a:rPr>
                        <a:t>68.87%</a:t>
                      </a:r>
                    </a:p>
                  </a:txBody>
                  <a:tcPr>
                    <a:solidFill>
                      <a:srgbClr val="1F30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90E0EF"/>
                          </a:solidFill>
                          <a:latin typeface="Segoe UI"/>
                        </a:rPr>
                        <a:t>2</a:t>
                      </a:r>
                    </a:p>
                  </a:txBody>
                  <a:tcPr>
                    <a:solidFill>
                      <a:srgbClr val="1F30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90E0EF"/>
                          </a:solidFill>
                          <a:latin typeface="Segoe UI"/>
                        </a:rPr>
                        <a:t>54.23%</a:t>
                      </a:r>
                    </a:p>
                  </a:txBody>
                  <a:tcPr>
                    <a:solidFill>
                      <a:srgbClr val="1F3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4948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concat_project</a:t>
                      </a:r>
                    </a:p>
                  </a:txBody>
                  <a:tcPr>
                    <a:solidFill>
                      <a:srgbClr val="1E2A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Type 2</a:t>
                      </a:r>
                    </a:p>
                  </a:txBody>
                  <a:tcPr>
                    <a:solidFill>
                      <a:srgbClr val="1E2A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0.36%</a:t>
                      </a:r>
                    </a:p>
                  </a:txBody>
                  <a:tcPr>
                    <a:solidFill>
                      <a:srgbClr val="1E2A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1.25%</a:t>
                      </a:r>
                    </a:p>
                  </a:txBody>
                  <a:tcPr>
                    <a:solidFill>
                      <a:srgbClr val="1E2A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2.15%</a:t>
                      </a:r>
                    </a:p>
                  </a:txBody>
                  <a:tcPr>
                    <a:solidFill>
                      <a:srgbClr val="1E2A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290</a:t>
                      </a:r>
                    </a:p>
                  </a:txBody>
                  <a:tcPr>
                    <a:solidFill>
                      <a:srgbClr val="1E2A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1.47%</a:t>
                      </a:r>
                    </a:p>
                  </a:txBody>
                  <a:tcPr>
                    <a:solidFill>
                      <a:srgbClr val="1E2A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4948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cross_attention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Type 2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6.62%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11.27%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13.24%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164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9.54%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4948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gated</a:t>
                      </a:r>
                    </a:p>
                  </a:txBody>
                  <a:tcPr>
                    <a:solidFill>
                      <a:srgbClr val="1E2A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Type 2</a:t>
                      </a:r>
                    </a:p>
                  </a:txBody>
                  <a:tcPr>
                    <a:solidFill>
                      <a:srgbClr val="1E2A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15.56%</a:t>
                      </a:r>
                    </a:p>
                  </a:txBody>
                  <a:tcPr>
                    <a:solidFill>
                      <a:srgbClr val="1E2A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27.19%</a:t>
                      </a:r>
                    </a:p>
                  </a:txBody>
                  <a:tcPr>
                    <a:solidFill>
                      <a:srgbClr val="1E2A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32.92%</a:t>
                      </a:r>
                    </a:p>
                  </a:txBody>
                  <a:tcPr>
                    <a:solidFill>
                      <a:srgbClr val="1E2A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40</a:t>
                      </a:r>
                    </a:p>
                  </a:txBody>
                  <a:tcPr>
                    <a:solidFill>
                      <a:srgbClr val="1E2A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21.56%</a:t>
                      </a:r>
                    </a:p>
                  </a:txBody>
                  <a:tcPr>
                    <a:solidFill>
                      <a:srgbClr val="1E2A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4948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add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Type 2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19.68%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30.77%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35.42%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31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25.77%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04952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06D6A0"/>
                          </a:solidFill>
                          <a:latin typeface="Segoe UI"/>
                        </a:rPr>
                        <a:t>weighted_sum</a:t>
                      </a:r>
                    </a:p>
                  </a:txBody>
                  <a:tcPr>
                    <a:solidFill>
                      <a:srgbClr val="05301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06D6A0"/>
                          </a:solidFill>
                          <a:latin typeface="Segoe UI"/>
                        </a:rPr>
                        <a:t>Type 2</a:t>
                      </a:r>
                    </a:p>
                  </a:txBody>
                  <a:tcPr>
                    <a:solidFill>
                      <a:srgbClr val="05301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06D6A0"/>
                          </a:solidFill>
                          <a:latin typeface="Segoe UI"/>
                        </a:rPr>
                        <a:t>36.85%</a:t>
                      </a:r>
                    </a:p>
                  </a:txBody>
                  <a:tcPr>
                    <a:solidFill>
                      <a:srgbClr val="05301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06D6A0"/>
                          </a:solidFill>
                          <a:latin typeface="Segoe UI"/>
                        </a:rPr>
                        <a:t>56.89%</a:t>
                      </a:r>
                    </a:p>
                  </a:txBody>
                  <a:tcPr>
                    <a:solidFill>
                      <a:srgbClr val="05301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06D6A0"/>
                          </a:solidFill>
                          <a:latin typeface="Segoe UI"/>
                        </a:rPr>
                        <a:t>61.00%</a:t>
                      </a:r>
                    </a:p>
                  </a:txBody>
                  <a:tcPr>
                    <a:solidFill>
                      <a:srgbClr val="05301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06D6A0"/>
                          </a:solidFill>
                          <a:latin typeface="Segoe UI"/>
                        </a:rPr>
                        <a:t>3</a:t>
                      </a:r>
                    </a:p>
                  </a:txBody>
                  <a:tcPr>
                    <a:solidFill>
                      <a:srgbClr val="05301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06D6A0"/>
                          </a:solidFill>
                          <a:latin typeface="Segoe UI"/>
                        </a:rPr>
                        <a:t>45.66%</a:t>
                      </a:r>
                    </a:p>
                  </a:txBody>
                  <a:tcPr>
                    <a:solidFill>
                      <a:srgbClr val="05301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4" name="Rectangle 13"/>
          <p:cNvSpPr/>
          <p:nvPr/>
        </p:nvSpPr>
        <p:spPr>
          <a:xfrm>
            <a:off x="320040" y="4160520"/>
            <a:ext cx="3703320" cy="24688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320040" y="4160520"/>
            <a:ext cx="3703320" cy="82296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84632" y="4270248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50" b="1" i="0">
                <a:solidFill>
                  <a:srgbClr val="00B4D8"/>
                </a:solidFill>
                <a:latin typeface="Segoe UI"/>
              </a:rPr>
              <a:t>Type 1 Baseline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4709160"/>
            <a:ext cx="3246120" cy="36576"/>
          </a:xfrm>
          <a:prstGeom prst="rect">
            <a:avLst/>
          </a:prstGeom>
          <a:solidFill>
            <a:srgbClr val="334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84632" y="4791456"/>
            <a:ext cx="33832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CCCCCC"/>
                </a:solidFill>
                <a:latin typeface="Segoe UI"/>
              </a:rPr>
              <a:t>R@1 = 45.26%
R@5 = 64.76%
MedR = 2  ·  MRR = 54.23%
Strong result with zero training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78807" y="4160520"/>
            <a:ext cx="3703320" cy="24688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4178807" y="4160520"/>
            <a:ext cx="3703320" cy="82296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343399" y="4270248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50" b="1" i="0">
                <a:solidFill>
                  <a:srgbClr val="06D6A0"/>
                </a:solidFill>
                <a:latin typeface="Segoe UI"/>
              </a:rPr>
              <a:t>Best Type 2 Fusion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07407" y="4709160"/>
            <a:ext cx="3246120" cy="36576"/>
          </a:xfrm>
          <a:prstGeom prst="rect">
            <a:avLst/>
          </a:prstGeom>
          <a:solidFill>
            <a:srgbClr val="334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343399" y="4791456"/>
            <a:ext cx="33832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CCCCCC"/>
                </a:solidFill>
                <a:latin typeface="Segoe UI"/>
              </a:rPr>
              <a:t>weighted_sum: R@1 = 36.85%
R@5 = 56.89%
MedR = 3  ·  MRR = 45.66%
+36 pp vs worst Type 2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037575" y="4160520"/>
            <a:ext cx="3703320" cy="24688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8037575" y="4160520"/>
            <a:ext cx="3703320" cy="82296"/>
          </a:xfrm>
          <a:prstGeom prst="rect">
            <a:avLst/>
          </a:prstGeom>
          <a:solidFill>
            <a:srgbClr val="EF47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202167" y="4270248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50" b="1" i="0">
                <a:solidFill>
                  <a:srgbClr val="EF476F"/>
                </a:solidFill>
                <a:latin typeface="Segoe UI"/>
              </a:rPr>
              <a:t>Fusion Collapse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266175" y="4709160"/>
            <a:ext cx="3246120" cy="36576"/>
          </a:xfrm>
          <a:prstGeom prst="rect">
            <a:avLst/>
          </a:prstGeom>
          <a:solidFill>
            <a:srgbClr val="334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202167" y="4791456"/>
            <a:ext cx="33832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CCCCCC"/>
                </a:solidFill>
                <a:latin typeface="Segoe UI"/>
              </a:rPr>
              <a:t>concat_project: R@1 = 0.36%
R@5 =  1.25%
MedR = 290  ·  MRR = 1.47%
Project head destroys embeddings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87784" cy="73152"/>
          </a:xfrm>
          <a:prstGeom prst="rect">
            <a:avLst/>
          </a:prstGeom>
          <a:solidFill>
            <a:srgbClr val="0F3A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201168" y="109728"/>
            <a:ext cx="11987784" cy="658368"/>
          </a:xfrm>
          <a:prstGeom prst="rect">
            <a:avLst/>
          </a:prstGeom>
          <a:solidFill>
            <a:srgbClr val="0F3A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11480" y="128016"/>
            <a:ext cx="105156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Segoe UI"/>
              </a:rPr>
              <a:t>Results  —  Custom Dual Encoder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813816"/>
            <a:ext cx="6858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FF9214"/>
                </a:solidFill>
                <a:latin typeface="Segoe UI"/>
              </a:rPr>
              <a:t>ResNet-50  +  DistilBERT  ·  Symmetric InfoNCE  ·  Trained from scratch</a:t>
            </a:r>
          </a:p>
        </p:txBody>
      </p:sp>
      <p:sp>
        <p:nvSpPr>
          <p:cNvPr id="7" name="Rectangle 6"/>
          <p:cNvSpPr/>
          <p:nvPr/>
        </p:nvSpPr>
        <p:spPr>
          <a:xfrm>
            <a:off x="6949440" y="850392"/>
            <a:ext cx="164592" cy="164592"/>
          </a:xfrm>
          <a:prstGeom prst="rect">
            <a:avLst/>
          </a:prstGeom>
          <a:solidFill>
            <a:srgbClr val="1F3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178040" y="822960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CCCC"/>
                </a:solidFill>
                <a:latin typeface="Segoe UI"/>
              </a:rPr>
              <a:t>Type 1 rows</a:t>
            </a:r>
          </a:p>
        </p:txBody>
      </p:sp>
      <p:sp>
        <p:nvSpPr>
          <p:cNvPr id="9" name="Rectangle 8"/>
          <p:cNvSpPr/>
          <p:nvPr/>
        </p:nvSpPr>
        <p:spPr>
          <a:xfrm>
            <a:off x="8796528" y="850392"/>
            <a:ext cx="164592" cy="164592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025128" y="822960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CCCC"/>
                </a:solidFill>
                <a:latin typeface="Segoe UI"/>
              </a:rPr>
              <a:t>Type 2 rows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643615" y="850392"/>
            <a:ext cx="164592" cy="164592"/>
          </a:xfrm>
          <a:prstGeom prst="rect">
            <a:avLst/>
          </a:prstGeom>
          <a:solidFill>
            <a:srgbClr val="0530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0872215" y="822960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CCCC"/>
                </a:solidFill>
                <a:latin typeface="Segoe UI"/>
              </a:rPr>
              <a:t>Best in category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20040" y="1216152"/>
          <a:ext cx="11548872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9222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9222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79222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9105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79222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352697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Strategy / Variant</a:t>
                      </a:r>
                    </a:p>
                  </a:txBody>
                  <a:tcPr>
                    <a:solidFill>
                      <a:srgbClr val="0F3A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Input</a:t>
                      </a:r>
                    </a:p>
                  </a:txBody>
                  <a:tcPr>
                    <a:solidFill>
                      <a:srgbClr val="0F3A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R@1</a:t>
                      </a:r>
                    </a:p>
                  </a:txBody>
                  <a:tcPr>
                    <a:solidFill>
                      <a:srgbClr val="0F3A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R@5</a:t>
                      </a:r>
                    </a:p>
                  </a:txBody>
                  <a:tcPr>
                    <a:solidFill>
                      <a:srgbClr val="0F3A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R@10</a:t>
                      </a:r>
                    </a:p>
                  </a:txBody>
                  <a:tcPr>
                    <a:solidFill>
                      <a:srgbClr val="0F3A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MedR</a:t>
                      </a:r>
                    </a:p>
                  </a:txBody>
                  <a:tcPr>
                    <a:solidFill>
                      <a:srgbClr val="0F3A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MRR</a:t>
                      </a:r>
                    </a:p>
                  </a:txBody>
                  <a:tcPr>
                    <a:solidFill>
                      <a:srgbClr val="0F3A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2697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90E0EF"/>
                          </a:solidFill>
                          <a:latin typeface="Segoe UI"/>
                        </a:rPr>
                        <a:t>— (image only)</a:t>
                      </a:r>
                    </a:p>
                  </a:txBody>
                  <a:tcPr>
                    <a:solidFill>
                      <a:srgbClr val="1F30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90E0EF"/>
                          </a:solidFill>
                          <a:latin typeface="Segoe UI"/>
                        </a:rPr>
                        <a:t>Type 1</a:t>
                      </a:r>
                    </a:p>
                  </a:txBody>
                  <a:tcPr>
                    <a:solidFill>
                      <a:srgbClr val="1F30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90E0EF"/>
                          </a:solidFill>
                          <a:latin typeface="Segoe UI"/>
                        </a:rPr>
                        <a:t>1.43%</a:t>
                      </a:r>
                    </a:p>
                  </a:txBody>
                  <a:tcPr>
                    <a:solidFill>
                      <a:srgbClr val="1F30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90E0EF"/>
                          </a:solidFill>
                          <a:latin typeface="Segoe UI"/>
                        </a:rPr>
                        <a:t>3.76%</a:t>
                      </a:r>
                    </a:p>
                  </a:txBody>
                  <a:tcPr>
                    <a:solidFill>
                      <a:srgbClr val="1F30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90E0EF"/>
                          </a:solidFill>
                          <a:latin typeface="Segoe UI"/>
                        </a:rPr>
                        <a:t>6.44%</a:t>
                      </a:r>
                    </a:p>
                  </a:txBody>
                  <a:tcPr>
                    <a:solidFill>
                      <a:srgbClr val="1F30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90E0EF"/>
                          </a:solidFill>
                          <a:latin typeface="Segoe UI"/>
                        </a:rPr>
                        <a:t>170</a:t>
                      </a:r>
                    </a:p>
                  </a:txBody>
                  <a:tcPr>
                    <a:solidFill>
                      <a:srgbClr val="1F30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90E0EF"/>
                          </a:solidFill>
                          <a:latin typeface="Segoe UI"/>
                        </a:rPr>
                        <a:t>3.73%</a:t>
                      </a:r>
                    </a:p>
                  </a:txBody>
                  <a:tcPr>
                    <a:solidFill>
                      <a:srgbClr val="1F3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2697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concat_project</a:t>
                      </a:r>
                    </a:p>
                  </a:txBody>
                  <a:tcPr>
                    <a:solidFill>
                      <a:srgbClr val="1E2A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Type 2</a:t>
                      </a:r>
                    </a:p>
                  </a:txBody>
                  <a:tcPr>
                    <a:solidFill>
                      <a:srgbClr val="1E2A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2.68%</a:t>
                      </a:r>
                    </a:p>
                  </a:txBody>
                  <a:tcPr>
                    <a:solidFill>
                      <a:srgbClr val="1E2A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6.80%</a:t>
                      </a:r>
                    </a:p>
                  </a:txBody>
                  <a:tcPr>
                    <a:solidFill>
                      <a:srgbClr val="1E2A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11.63%</a:t>
                      </a:r>
                    </a:p>
                  </a:txBody>
                  <a:tcPr>
                    <a:solidFill>
                      <a:srgbClr val="1E2A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125</a:t>
                      </a:r>
                    </a:p>
                  </a:txBody>
                  <a:tcPr>
                    <a:solidFill>
                      <a:srgbClr val="1E2A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6.04%</a:t>
                      </a:r>
                    </a:p>
                  </a:txBody>
                  <a:tcPr>
                    <a:solidFill>
                      <a:srgbClr val="1E2A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2697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weighted_sum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Type 2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9.66%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16.28%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21.82%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103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14.19%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52697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cross_attention</a:t>
                      </a:r>
                    </a:p>
                  </a:txBody>
                  <a:tcPr>
                    <a:solidFill>
                      <a:srgbClr val="1E2A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Type 2</a:t>
                      </a:r>
                    </a:p>
                  </a:txBody>
                  <a:tcPr>
                    <a:solidFill>
                      <a:srgbClr val="1E2A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11.09%</a:t>
                      </a:r>
                    </a:p>
                  </a:txBody>
                  <a:tcPr>
                    <a:solidFill>
                      <a:srgbClr val="1E2A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19.32%</a:t>
                      </a:r>
                    </a:p>
                  </a:txBody>
                  <a:tcPr>
                    <a:solidFill>
                      <a:srgbClr val="1E2A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23.79%</a:t>
                      </a:r>
                    </a:p>
                  </a:txBody>
                  <a:tcPr>
                    <a:solidFill>
                      <a:srgbClr val="1E2A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92</a:t>
                      </a:r>
                    </a:p>
                  </a:txBody>
                  <a:tcPr>
                    <a:solidFill>
                      <a:srgbClr val="1E2A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15.66%</a:t>
                      </a:r>
                    </a:p>
                  </a:txBody>
                  <a:tcPr>
                    <a:solidFill>
                      <a:srgbClr val="1E2A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52697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add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Type 2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11.63%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19.50%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25.04%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76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16.20%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52698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06D6A0"/>
                          </a:solidFill>
                          <a:latin typeface="Segoe UI"/>
                        </a:rPr>
                        <a:t>gated</a:t>
                      </a:r>
                    </a:p>
                  </a:txBody>
                  <a:tcPr>
                    <a:solidFill>
                      <a:srgbClr val="05301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06D6A0"/>
                          </a:solidFill>
                          <a:latin typeface="Segoe UI"/>
                        </a:rPr>
                        <a:t>Type 2</a:t>
                      </a:r>
                    </a:p>
                  </a:txBody>
                  <a:tcPr>
                    <a:solidFill>
                      <a:srgbClr val="05301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06D6A0"/>
                          </a:solidFill>
                          <a:latin typeface="Segoe UI"/>
                        </a:rPr>
                        <a:t>12.34%</a:t>
                      </a:r>
                    </a:p>
                  </a:txBody>
                  <a:tcPr>
                    <a:solidFill>
                      <a:srgbClr val="05301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06D6A0"/>
                          </a:solidFill>
                          <a:latin typeface="Segoe UI"/>
                        </a:rPr>
                        <a:t>19.50%</a:t>
                      </a:r>
                    </a:p>
                  </a:txBody>
                  <a:tcPr>
                    <a:solidFill>
                      <a:srgbClr val="05301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06D6A0"/>
                          </a:solidFill>
                          <a:latin typeface="Segoe UI"/>
                        </a:rPr>
                        <a:t>24.87%</a:t>
                      </a:r>
                    </a:p>
                  </a:txBody>
                  <a:tcPr>
                    <a:solidFill>
                      <a:srgbClr val="05301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06D6A0"/>
                          </a:solidFill>
                          <a:latin typeface="Segoe UI"/>
                        </a:rPr>
                        <a:t>66</a:t>
                      </a:r>
                    </a:p>
                  </a:txBody>
                  <a:tcPr>
                    <a:solidFill>
                      <a:srgbClr val="05301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06D6A0"/>
                          </a:solidFill>
                          <a:latin typeface="Segoe UI"/>
                        </a:rPr>
                        <a:t>16.88%</a:t>
                      </a:r>
                    </a:p>
                  </a:txBody>
                  <a:tcPr>
                    <a:solidFill>
                      <a:srgbClr val="05301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320040" y="3749039"/>
            <a:ext cx="1154887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 dirty="0">
                <a:solidFill>
                  <a:srgbClr val="8888AA"/>
                </a:solidFill>
                <a:latin typeface="Segoe UI"/>
              </a:rPr>
              <a:t>Type 1 row = best of 5 training runs; fusion is never called for image-only queries.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" y="4069080"/>
            <a:ext cx="3703320" cy="25146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320040" y="4069080"/>
            <a:ext cx="3703320" cy="82296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84632" y="4178808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50" b="1" i="0">
                <a:solidFill>
                  <a:srgbClr val="00B4D8"/>
                </a:solidFill>
                <a:latin typeface="Segoe UI"/>
              </a:rPr>
              <a:t>Type 1 Baseline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4617720"/>
            <a:ext cx="3246120" cy="36576"/>
          </a:xfrm>
          <a:prstGeom prst="rect">
            <a:avLst/>
          </a:prstGeom>
          <a:solidFill>
            <a:srgbClr val="334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84632" y="4700016"/>
            <a:ext cx="33832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 dirty="0">
                <a:solidFill>
                  <a:srgbClr val="CCCCCC"/>
                </a:solidFill>
                <a:latin typeface="Segoe UI"/>
              </a:rPr>
              <a:t>R@1 =  1.43%
R@5 =  3.76%
</a:t>
            </a:r>
            <a:r>
              <a:rPr sz="1300" b="0" i="0" dirty="0" err="1">
                <a:solidFill>
                  <a:srgbClr val="CCCCCC"/>
                </a:solidFill>
                <a:latin typeface="Segoe UI"/>
              </a:rPr>
              <a:t>MedR</a:t>
            </a:r>
            <a:r>
              <a:rPr sz="1300" b="0" i="0" dirty="0">
                <a:solidFill>
                  <a:srgbClr val="CCCCCC"/>
                </a:solidFill>
                <a:latin typeface="Segoe UI"/>
              </a:rPr>
              <a:t> = 170
Far below zero-shot CLIP
(45.26%) — no pretraining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78807" y="4069080"/>
            <a:ext cx="3703320" cy="25146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4178807" y="4069080"/>
            <a:ext cx="3703320" cy="82296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343399" y="4178808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50" b="1" i="0">
                <a:solidFill>
                  <a:srgbClr val="06D6A0"/>
                </a:solidFill>
                <a:latin typeface="Segoe UI"/>
              </a:rPr>
              <a:t>Best Type 2  (gated)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407407" y="4617720"/>
            <a:ext cx="3246120" cy="36576"/>
          </a:xfrm>
          <a:prstGeom prst="rect">
            <a:avLst/>
          </a:prstGeom>
          <a:solidFill>
            <a:srgbClr val="334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343399" y="4700016"/>
            <a:ext cx="33832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CCCCCC"/>
                </a:solidFill>
                <a:latin typeface="Segoe UI"/>
              </a:rPr>
              <a:t>R@1 = 12.34%
R@5 = 19.50%
MedR =  66
Adaptive gate best for
weak dual encoders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37575" y="4069080"/>
            <a:ext cx="3703320" cy="25146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8037575" y="4069080"/>
            <a:ext cx="3703320" cy="82296"/>
          </a:xfrm>
          <a:prstGeom prst="rect">
            <a:avLst/>
          </a:prstGeom>
          <a:solidFill>
            <a:srgbClr val="EF47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202167" y="4178808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50" b="1" i="0">
                <a:solidFill>
                  <a:srgbClr val="EF476F"/>
                </a:solidFill>
                <a:latin typeface="Segoe UI"/>
              </a:rPr>
              <a:t>Worst Type 2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266175" y="4617720"/>
            <a:ext cx="3246120" cy="36576"/>
          </a:xfrm>
          <a:prstGeom prst="rect">
            <a:avLst/>
          </a:prstGeom>
          <a:solidFill>
            <a:srgbClr val="334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202167" y="4700016"/>
            <a:ext cx="33832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CCCCCC"/>
                </a:solidFill>
                <a:latin typeface="Segoe UI"/>
              </a:rPr>
              <a:t>concat_project:
R@1 =  2.68%
MedR = 125
Projection degrades
already-weak embeddings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87784" cy="73152"/>
          </a:xfrm>
          <a:prstGeom prst="rect">
            <a:avLst/>
          </a:prstGeom>
          <a:solidFill>
            <a:srgbClr val="0F3A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201168" y="109728"/>
            <a:ext cx="11987784" cy="658368"/>
          </a:xfrm>
          <a:prstGeom prst="rect">
            <a:avLst/>
          </a:prstGeom>
          <a:solidFill>
            <a:srgbClr val="0F3A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11480" y="128016"/>
            <a:ext cx="105156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Segoe UI"/>
              </a:rPr>
              <a:t>Results  —  CLIP + LoRA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813816"/>
            <a:ext cx="7132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06D6A0"/>
                </a:solidFill>
                <a:latin typeface="Segoe UI"/>
              </a:rPr>
              <a:t>OpenCLIP ViT-B/32 frozen  ·  LoRA on attn.out_proj, mlp.c_fc, mlp.c_proj</a:t>
            </a:r>
          </a:p>
        </p:txBody>
      </p:sp>
      <p:sp>
        <p:nvSpPr>
          <p:cNvPr id="7" name="Rectangle 6"/>
          <p:cNvSpPr/>
          <p:nvPr/>
        </p:nvSpPr>
        <p:spPr>
          <a:xfrm>
            <a:off x="6949440" y="850392"/>
            <a:ext cx="164592" cy="164592"/>
          </a:xfrm>
          <a:prstGeom prst="rect">
            <a:avLst/>
          </a:prstGeom>
          <a:solidFill>
            <a:srgbClr val="1F3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178040" y="822960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CCCC"/>
                </a:solidFill>
                <a:latin typeface="Segoe UI"/>
              </a:rPr>
              <a:t>Type 1 rows</a:t>
            </a:r>
          </a:p>
        </p:txBody>
      </p:sp>
      <p:sp>
        <p:nvSpPr>
          <p:cNvPr id="9" name="Rectangle 8"/>
          <p:cNvSpPr/>
          <p:nvPr/>
        </p:nvSpPr>
        <p:spPr>
          <a:xfrm>
            <a:off x="8796528" y="850392"/>
            <a:ext cx="164592" cy="164592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025128" y="822960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CCCC"/>
                </a:solidFill>
                <a:latin typeface="Segoe UI"/>
              </a:rPr>
              <a:t>Type 2 rows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643615" y="850392"/>
            <a:ext cx="164592" cy="164592"/>
          </a:xfrm>
          <a:prstGeom prst="rect">
            <a:avLst/>
          </a:prstGeom>
          <a:solidFill>
            <a:srgbClr val="0530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0872215" y="822960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CCCC"/>
                </a:solidFill>
                <a:latin typeface="Segoe UI"/>
              </a:rPr>
              <a:t>Best in category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20040" y="1216152"/>
          <a:ext cx="11548872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9222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9222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79222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9105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79222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352697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Strategy / Variant</a:t>
                      </a:r>
                    </a:p>
                  </a:txBody>
                  <a:tcPr>
                    <a:solidFill>
                      <a:srgbClr val="0F3A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Input</a:t>
                      </a:r>
                    </a:p>
                  </a:txBody>
                  <a:tcPr>
                    <a:solidFill>
                      <a:srgbClr val="0F3A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R@1</a:t>
                      </a:r>
                    </a:p>
                  </a:txBody>
                  <a:tcPr>
                    <a:solidFill>
                      <a:srgbClr val="0F3A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R@5</a:t>
                      </a:r>
                    </a:p>
                  </a:txBody>
                  <a:tcPr>
                    <a:solidFill>
                      <a:srgbClr val="0F3A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R@10</a:t>
                      </a:r>
                    </a:p>
                  </a:txBody>
                  <a:tcPr>
                    <a:solidFill>
                      <a:srgbClr val="0F3A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MedR</a:t>
                      </a:r>
                    </a:p>
                  </a:txBody>
                  <a:tcPr>
                    <a:solidFill>
                      <a:srgbClr val="0F3A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MRR</a:t>
                      </a:r>
                    </a:p>
                  </a:txBody>
                  <a:tcPr>
                    <a:solidFill>
                      <a:srgbClr val="0F3A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2697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90E0EF"/>
                          </a:solidFill>
                          <a:latin typeface="Segoe UI"/>
                        </a:rPr>
                        <a:t>— (image only)</a:t>
                      </a:r>
                    </a:p>
                  </a:txBody>
                  <a:tcPr>
                    <a:solidFill>
                      <a:srgbClr val="1F30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90E0EF"/>
                          </a:solidFill>
                          <a:latin typeface="Segoe UI"/>
                        </a:rPr>
                        <a:t>Type 1</a:t>
                      </a:r>
                    </a:p>
                  </a:txBody>
                  <a:tcPr>
                    <a:solidFill>
                      <a:srgbClr val="1F30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90E0EF"/>
                          </a:solidFill>
                          <a:latin typeface="Segoe UI"/>
                        </a:rPr>
                        <a:t>52.95%</a:t>
                      </a:r>
                    </a:p>
                  </a:txBody>
                  <a:tcPr>
                    <a:solidFill>
                      <a:srgbClr val="1F30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90E0EF"/>
                          </a:solidFill>
                          <a:latin typeface="Segoe UI"/>
                        </a:rPr>
                        <a:t>69.23%</a:t>
                      </a:r>
                    </a:p>
                  </a:txBody>
                  <a:tcPr>
                    <a:solidFill>
                      <a:srgbClr val="1F30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90E0EF"/>
                          </a:solidFill>
                          <a:latin typeface="Segoe UI"/>
                        </a:rPr>
                        <a:t>73.88%</a:t>
                      </a:r>
                    </a:p>
                  </a:txBody>
                  <a:tcPr>
                    <a:solidFill>
                      <a:srgbClr val="1F30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90E0EF"/>
                          </a:solidFill>
                          <a:latin typeface="Segoe UI"/>
                        </a:rPr>
                        <a:t>1</a:t>
                      </a:r>
                    </a:p>
                  </a:txBody>
                  <a:tcPr>
                    <a:solidFill>
                      <a:srgbClr val="1F30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90E0EF"/>
                          </a:solidFill>
                          <a:latin typeface="Segoe UI"/>
                        </a:rPr>
                        <a:t>60.64%</a:t>
                      </a:r>
                    </a:p>
                  </a:txBody>
                  <a:tcPr>
                    <a:solidFill>
                      <a:srgbClr val="1F3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2697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concat_project</a:t>
                      </a:r>
                    </a:p>
                  </a:txBody>
                  <a:tcPr>
                    <a:solidFill>
                      <a:srgbClr val="1E2A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Type 2</a:t>
                      </a:r>
                    </a:p>
                  </a:txBody>
                  <a:tcPr>
                    <a:solidFill>
                      <a:srgbClr val="1E2A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23.26%</a:t>
                      </a:r>
                    </a:p>
                  </a:txBody>
                  <a:tcPr>
                    <a:solidFill>
                      <a:srgbClr val="1E2A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47.76%</a:t>
                      </a:r>
                    </a:p>
                  </a:txBody>
                  <a:tcPr>
                    <a:solidFill>
                      <a:srgbClr val="1E2A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57.96%</a:t>
                      </a:r>
                    </a:p>
                  </a:txBody>
                  <a:tcPr>
                    <a:solidFill>
                      <a:srgbClr val="1E2A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7</a:t>
                      </a:r>
                    </a:p>
                  </a:txBody>
                  <a:tcPr>
                    <a:solidFill>
                      <a:srgbClr val="1E2A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34.60%</a:t>
                      </a:r>
                    </a:p>
                  </a:txBody>
                  <a:tcPr>
                    <a:solidFill>
                      <a:srgbClr val="1E2A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2697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cross_attention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Type 2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27.37%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46.15%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54.38%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7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36.46%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52697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add</a:t>
                      </a:r>
                    </a:p>
                  </a:txBody>
                  <a:tcPr>
                    <a:solidFill>
                      <a:srgbClr val="1E2A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Type 2</a:t>
                      </a:r>
                    </a:p>
                  </a:txBody>
                  <a:tcPr>
                    <a:solidFill>
                      <a:srgbClr val="1E2A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53.31%</a:t>
                      </a:r>
                    </a:p>
                  </a:txBody>
                  <a:tcPr>
                    <a:solidFill>
                      <a:srgbClr val="1E2A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70.30%</a:t>
                      </a:r>
                    </a:p>
                  </a:txBody>
                  <a:tcPr>
                    <a:solidFill>
                      <a:srgbClr val="1E2A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76.21%</a:t>
                      </a:r>
                    </a:p>
                  </a:txBody>
                  <a:tcPr>
                    <a:solidFill>
                      <a:srgbClr val="1E2A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1</a:t>
                      </a:r>
                    </a:p>
                  </a:txBody>
                  <a:tcPr>
                    <a:solidFill>
                      <a:srgbClr val="1E2A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60.70%</a:t>
                      </a:r>
                    </a:p>
                  </a:txBody>
                  <a:tcPr>
                    <a:solidFill>
                      <a:srgbClr val="1E2A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52697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gated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Type 2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56.17%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72.45%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77.82%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1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63.80%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52698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06D6A0"/>
                          </a:solidFill>
                          <a:latin typeface="Segoe UI"/>
                        </a:rPr>
                        <a:t>weighted_sum</a:t>
                      </a:r>
                    </a:p>
                  </a:txBody>
                  <a:tcPr>
                    <a:solidFill>
                      <a:srgbClr val="05301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06D6A0"/>
                          </a:solidFill>
                          <a:latin typeface="Segoe UI"/>
                        </a:rPr>
                        <a:t>Type 2</a:t>
                      </a:r>
                    </a:p>
                  </a:txBody>
                  <a:tcPr>
                    <a:solidFill>
                      <a:srgbClr val="05301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06D6A0"/>
                          </a:solidFill>
                          <a:latin typeface="Segoe UI"/>
                        </a:rPr>
                        <a:t>58.14%</a:t>
                      </a:r>
                    </a:p>
                  </a:txBody>
                  <a:tcPr>
                    <a:solidFill>
                      <a:srgbClr val="05301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06D6A0"/>
                          </a:solidFill>
                          <a:latin typeface="Segoe UI"/>
                        </a:rPr>
                        <a:t>74.06%</a:t>
                      </a:r>
                    </a:p>
                  </a:txBody>
                  <a:tcPr>
                    <a:solidFill>
                      <a:srgbClr val="05301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06D6A0"/>
                          </a:solidFill>
                          <a:latin typeface="Segoe UI"/>
                        </a:rPr>
                        <a:t>77.28%</a:t>
                      </a:r>
                    </a:p>
                  </a:txBody>
                  <a:tcPr>
                    <a:solidFill>
                      <a:srgbClr val="05301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06D6A0"/>
                          </a:solidFill>
                          <a:latin typeface="Segoe UI"/>
                        </a:rPr>
                        <a:t>1</a:t>
                      </a:r>
                    </a:p>
                  </a:txBody>
                  <a:tcPr>
                    <a:solidFill>
                      <a:srgbClr val="05301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06D6A0"/>
                          </a:solidFill>
                          <a:latin typeface="Segoe UI"/>
                        </a:rPr>
                        <a:t>65.46%</a:t>
                      </a:r>
                    </a:p>
                  </a:txBody>
                  <a:tcPr>
                    <a:solidFill>
                      <a:srgbClr val="05301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320040" y="3749039"/>
            <a:ext cx="1154887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8888AA"/>
                </a:solidFill>
                <a:latin typeface="Segoe UI"/>
              </a:rPr>
              <a:t>Type 1 row = best of 5 training runs; fusion is never called for image-only queries.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" y="4069080"/>
            <a:ext cx="3703320" cy="25146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320040" y="4069080"/>
            <a:ext cx="3703320" cy="82296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84632" y="4178808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50" b="1" i="0">
                <a:solidFill>
                  <a:srgbClr val="00B4D8"/>
                </a:solidFill>
                <a:latin typeface="Segoe UI"/>
              </a:rPr>
              <a:t>Type 1 Baseline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4617720"/>
            <a:ext cx="3246120" cy="36576"/>
          </a:xfrm>
          <a:prstGeom prst="rect">
            <a:avLst/>
          </a:prstGeom>
          <a:solidFill>
            <a:srgbClr val="334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84632" y="4700016"/>
            <a:ext cx="33832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CCCCCC"/>
                </a:solidFill>
                <a:latin typeface="Segoe UI"/>
              </a:rPr>
              <a:t>R@1 = 52.95%
R@5 = 69.23%
MedR =  1
+7.7 pp over zero-shot
CLIP Type 1 (45.26%)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78807" y="4069080"/>
            <a:ext cx="3703320" cy="25146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4178807" y="4069080"/>
            <a:ext cx="3703320" cy="82296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343399" y="4178808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50" b="1" i="0">
                <a:solidFill>
                  <a:srgbClr val="06D6A0"/>
                </a:solidFill>
                <a:latin typeface="Segoe UI"/>
              </a:rPr>
              <a:t>Best Overall  (weighted_sum)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407407" y="4617720"/>
            <a:ext cx="3246120" cy="36576"/>
          </a:xfrm>
          <a:prstGeom prst="rect">
            <a:avLst/>
          </a:prstGeom>
          <a:solidFill>
            <a:srgbClr val="334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343399" y="4700016"/>
            <a:ext cx="33832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 dirty="0">
                <a:solidFill>
                  <a:srgbClr val="CCCCCC"/>
                </a:solidFill>
                <a:latin typeface="Segoe UI"/>
              </a:rPr>
              <a:t>R@1 = 58.14%
R@5 = 74.06%
</a:t>
            </a:r>
            <a:r>
              <a:rPr sz="1300" b="0" i="0" dirty="0" err="1">
                <a:solidFill>
                  <a:srgbClr val="CCCCCC"/>
                </a:solidFill>
                <a:latin typeface="Segoe UI"/>
              </a:rPr>
              <a:t>MedR</a:t>
            </a:r>
            <a:r>
              <a:rPr sz="1300" b="0" i="0" dirty="0">
                <a:solidFill>
                  <a:srgbClr val="CCCCCC"/>
                </a:solidFill>
                <a:latin typeface="Segoe UI"/>
              </a:rPr>
              <a:t> =  1
Best result across
all models &amp; strategies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37575" y="4069080"/>
            <a:ext cx="3703320" cy="25146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8037575" y="4069080"/>
            <a:ext cx="3703320" cy="82296"/>
          </a:xfrm>
          <a:prstGeom prst="rect">
            <a:avLst/>
          </a:prstGeom>
          <a:solidFill>
            <a:srgbClr val="EF47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202167" y="4178808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50" b="1" i="0">
                <a:solidFill>
                  <a:srgbClr val="EF476F"/>
                </a:solidFill>
                <a:latin typeface="Segoe UI"/>
              </a:rPr>
              <a:t>Type 2 Collapse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266175" y="4617720"/>
            <a:ext cx="3246120" cy="36576"/>
          </a:xfrm>
          <a:prstGeom prst="rect">
            <a:avLst/>
          </a:prstGeom>
          <a:solidFill>
            <a:srgbClr val="334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202167" y="4700016"/>
            <a:ext cx="33832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CCCCCC"/>
                </a:solidFill>
                <a:latin typeface="Segoe UI"/>
              </a:rPr>
              <a:t>concat_project:
R@1 = 23.26%
MedR =   7
Projection head still
destroys CLIP embeddings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87784" cy="73152"/>
          </a:xfrm>
          <a:prstGeom prst="rect">
            <a:avLst/>
          </a:prstGeom>
          <a:solidFill>
            <a:srgbClr val="0F3A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201168" y="109728"/>
            <a:ext cx="11987784" cy="658368"/>
          </a:xfrm>
          <a:prstGeom prst="rect">
            <a:avLst/>
          </a:prstGeom>
          <a:solidFill>
            <a:srgbClr val="0F3A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11480" y="128016"/>
            <a:ext cx="105156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Segoe UI"/>
              </a:rPr>
              <a:t>Key Findings &amp; Conclusion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804672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 i="0">
                <a:solidFill>
                  <a:srgbClr val="90E0EF"/>
                </a:solidFill>
                <a:latin typeface="Segoe UI"/>
              </a:rPr>
              <a:t>Cross-Modal Retrieval — Task 2.1 summary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261872"/>
            <a:ext cx="3697224" cy="22860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320040" y="1261872"/>
            <a:ext cx="3697224" cy="82296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84632" y="1371600"/>
            <a:ext cx="344119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50" b="1" i="0">
                <a:solidFill>
                  <a:srgbClr val="00B4D8"/>
                </a:solidFill>
                <a:latin typeface="Segoe UI"/>
              </a:rPr>
              <a:t>Pretraining Dominates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847088"/>
            <a:ext cx="3240024" cy="36576"/>
          </a:xfrm>
          <a:prstGeom prst="rect">
            <a:avLst/>
          </a:prstGeom>
          <a:solidFill>
            <a:srgbClr val="334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84632" y="1920240"/>
            <a:ext cx="3441192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 dirty="0" err="1">
                <a:solidFill>
                  <a:srgbClr val="CCCCCC"/>
                </a:solidFill>
                <a:latin typeface="Segoe UI"/>
              </a:rPr>
              <a:t>LoRA</a:t>
            </a:r>
            <a:r>
              <a:rPr sz="1250" b="0" i="0" dirty="0">
                <a:solidFill>
                  <a:srgbClr val="CCCCCC"/>
                </a:solidFill>
                <a:latin typeface="Segoe UI"/>
              </a:rPr>
              <a:t> Type 1:  R@1 ~50–53%
Custom Type 1:  R@1 ~0.7–1.4%
&gt;40 pp gap between pretrained
and from-scratch models.
No fusion strategy closes this.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45864" y="1261872"/>
            <a:ext cx="3697224" cy="22860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245864" y="1261872"/>
            <a:ext cx="3697224" cy="82296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410456" y="1371600"/>
            <a:ext cx="344119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50" b="1" i="0">
                <a:solidFill>
                  <a:srgbClr val="06D6A0"/>
                </a:solidFill>
                <a:latin typeface="Segoe UI"/>
              </a:rPr>
              <a:t>LoRA Fine-tuning Works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474464" y="1847088"/>
            <a:ext cx="3240024" cy="36576"/>
          </a:xfrm>
          <a:prstGeom prst="rect">
            <a:avLst/>
          </a:prstGeom>
          <a:solidFill>
            <a:srgbClr val="334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410456" y="1920240"/>
            <a:ext cx="3441192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CCCCCC"/>
                </a:solidFill>
                <a:latin typeface="Segoe UI"/>
              </a:rPr>
              <a:t>CLIP+LoRA · Type 2 · weighted_sum:
R@1 = 58.14%  ·  MedR = 1
+13 pp over zero-shot Type 1.
Huge gain with very few
extra trainable parameters.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71688" y="1261872"/>
            <a:ext cx="3697224" cy="22860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8171688" y="1261872"/>
            <a:ext cx="3697224" cy="82296"/>
          </a:xfrm>
          <a:prstGeom prst="rect">
            <a:avLst/>
          </a:prstGeom>
          <a:solidFill>
            <a:srgbClr val="FF92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336280" y="1371600"/>
            <a:ext cx="344119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50" b="1" i="0">
                <a:solidFill>
                  <a:srgbClr val="FF9214"/>
                </a:solidFill>
                <a:latin typeface="Segoe UI"/>
              </a:rPr>
              <a:t>Fusion Strategy Matters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400288" y="1847088"/>
            <a:ext cx="3240024" cy="36576"/>
          </a:xfrm>
          <a:prstGeom prst="rect">
            <a:avLst/>
          </a:prstGeom>
          <a:solidFill>
            <a:srgbClr val="334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336280" y="1920240"/>
            <a:ext cx="3441192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 dirty="0" err="1">
                <a:solidFill>
                  <a:srgbClr val="CCCCCC"/>
                </a:solidFill>
                <a:latin typeface="Segoe UI"/>
              </a:rPr>
              <a:t>weighted_sum</a:t>
            </a:r>
            <a:r>
              <a:rPr sz="1250" b="0" i="0" dirty="0">
                <a:solidFill>
                  <a:srgbClr val="CCCCCC"/>
                </a:solidFill>
                <a:latin typeface="Segoe UI"/>
              </a:rPr>
              <a:t> is best for CLIP
based Type 2 inputs.
</a:t>
            </a:r>
            <a:r>
              <a:rPr sz="1250" b="0" i="0" dirty="0" err="1">
                <a:solidFill>
                  <a:srgbClr val="CCCCCC"/>
                </a:solidFill>
                <a:latin typeface="Segoe UI"/>
              </a:rPr>
              <a:t>concat_project</a:t>
            </a:r>
            <a:r>
              <a:rPr sz="1250" b="0" i="0" dirty="0">
                <a:solidFill>
                  <a:srgbClr val="CCCCCC"/>
                </a:solidFill>
                <a:latin typeface="Segoe UI"/>
              </a:rPr>
              <a:t> collapses on
zero-shot CLIP Type 2:
R@1 = 0.36%,  </a:t>
            </a:r>
            <a:r>
              <a:rPr sz="1250" b="0" i="0" dirty="0" err="1">
                <a:solidFill>
                  <a:srgbClr val="CCCCCC"/>
                </a:solidFill>
                <a:latin typeface="Segoe UI"/>
              </a:rPr>
              <a:t>MedR</a:t>
            </a:r>
            <a:r>
              <a:rPr sz="1250" b="0" i="0" dirty="0">
                <a:solidFill>
                  <a:srgbClr val="CCCCCC"/>
                </a:solidFill>
                <a:latin typeface="Segoe UI"/>
              </a:rPr>
              <a:t> = 290.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245864" y="3685032"/>
            <a:ext cx="3697224" cy="21488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4245864" y="3685032"/>
            <a:ext cx="3697224" cy="82296"/>
          </a:xfrm>
          <a:prstGeom prst="rect">
            <a:avLst/>
          </a:prstGeom>
          <a:solidFill>
            <a:srgbClr val="C77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4410456" y="3794760"/>
            <a:ext cx="344119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50" b="1" i="0">
                <a:solidFill>
                  <a:srgbClr val="C77DFF"/>
                </a:solidFill>
                <a:latin typeface="Segoe UI"/>
              </a:rPr>
              <a:t>Gated is Best for Custom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474464" y="4270248"/>
            <a:ext cx="3240024" cy="36576"/>
          </a:xfrm>
          <a:prstGeom prst="rect">
            <a:avLst/>
          </a:prstGeom>
          <a:solidFill>
            <a:srgbClr val="334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4410456" y="4343400"/>
            <a:ext cx="3441192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CCCCCC"/>
                </a:solidFill>
                <a:latin typeface="Segoe UI"/>
              </a:rPr>
              <a:t>gated achieves best MedR (66) and
MRR (16.88%) for Custom Type 2.
Also best for Custom Type 1 (R@1 1.07%).
Adaptive gating helps when
both branches are weak.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20040" y="5989320"/>
            <a:ext cx="11548872" cy="749808"/>
          </a:xfrm>
          <a:prstGeom prst="rect">
            <a:avLst/>
          </a:prstGeom>
          <a:solidFill>
            <a:srgbClr val="0F3A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320040" y="5989320"/>
            <a:ext cx="11548872" cy="73152"/>
          </a:xfrm>
          <a:prstGeom prst="rect">
            <a:avLst/>
          </a:prstGeom>
          <a:solidFill>
            <a:srgbClr val="FFD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475488" y="6089904"/>
            <a:ext cx="256032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tr-TR" sz="1300" b="1" i="0" dirty="0">
                <a:solidFill>
                  <a:srgbClr val="FFD600"/>
                </a:solidFill>
                <a:latin typeface="Segoe UI"/>
              </a:rPr>
              <a:t>Final </a:t>
            </a:r>
            <a:r>
              <a:rPr lang="tr-TR" sz="1300" b="1" i="0" dirty="0" err="1">
                <a:solidFill>
                  <a:srgbClr val="FFD600"/>
                </a:solidFill>
                <a:latin typeface="Segoe UI"/>
              </a:rPr>
              <a:t>Remarks</a:t>
            </a:r>
            <a:r>
              <a:rPr sz="1300" b="1" i="0" dirty="0">
                <a:solidFill>
                  <a:srgbClr val="FFD600"/>
                </a:solidFill>
                <a:latin typeface="Segoe UI"/>
              </a:rPr>
              <a:t>: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913467" y="6089904"/>
            <a:ext cx="9836573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 dirty="0">
                <a:solidFill>
                  <a:srgbClr val="CCCCCC"/>
                </a:solidFill>
                <a:latin typeface="Segoe UI"/>
              </a:rPr>
              <a:t>Best:  </a:t>
            </a:r>
            <a:r>
              <a:rPr sz="1250" b="0" i="0" dirty="0" err="1">
                <a:solidFill>
                  <a:srgbClr val="CCCCCC"/>
                </a:solidFill>
                <a:latin typeface="Segoe UI"/>
              </a:rPr>
              <a:t>CLIP+LoRA</a:t>
            </a:r>
            <a:r>
              <a:rPr sz="1250" b="0" i="0" dirty="0">
                <a:solidFill>
                  <a:srgbClr val="CCCCCC"/>
                </a:solidFill>
                <a:latin typeface="Segoe UI"/>
              </a:rPr>
              <a:t> · Type 2 · </a:t>
            </a:r>
            <a:r>
              <a:rPr sz="1250" b="0" i="0" dirty="0" err="1">
                <a:solidFill>
                  <a:srgbClr val="CCCCCC"/>
                </a:solidFill>
                <a:latin typeface="Segoe UI"/>
              </a:rPr>
              <a:t>weighted_sum</a:t>
            </a:r>
            <a:r>
              <a:rPr sz="1250" b="0" i="0" dirty="0">
                <a:solidFill>
                  <a:srgbClr val="CCCCCC"/>
                </a:solidFill>
                <a:latin typeface="Segoe UI"/>
              </a:rPr>
              <a:t>  →  R@1 58.14%, </a:t>
            </a:r>
            <a:r>
              <a:rPr sz="1250" b="0" i="0" dirty="0" err="1">
                <a:solidFill>
                  <a:srgbClr val="CCCCCC"/>
                </a:solidFill>
                <a:latin typeface="Segoe UI"/>
              </a:rPr>
              <a:t>MedR</a:t>
            </a:r>
            <a:r>
              <a:rPr sz="1250" b="0" i="0" dirty="0">
                <a:solidFill>
                  <a:srgbClr val="CCCCCC"/>
                </a:solidFill>
                <a:latin typeface="Segoe UI"/>
              </a:rPr>
              <a:t> 1   |   Baseline (no training):  Zero-shot · Type 1  →  R@1 45.26%   |   Avoid </a:t>
            </a:r>
            <a:r>
              <a:rPr sz="1250" b="0" i="0" dirty="0" err="1">
                <a:solidFill>
                  <a:srgbClr val="CCCCCC"/>
                </a:solidFill>
                <a:latin typeface="Segoe UI"/>
              </a:rPr>
              <a:t>concat_project</a:t>
            </a:r>
            <a:r>
              <a:rPr sz="1250" b="0" i="0" dirty="0">
                <a:solidFill>
                  <a:srgbClr val="CCCCCC"/>
                </a:solidFill>
                <a:latin typeface="Segoe UI"/>
              </a:rPr>
              <a:t> with zero-shot CLIP for Type 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201168" y="0"/>
            <a:ext cx="11987784" cy="73152"/>
          </a:xfrm>
          <a:prstGeom prst="rect">
            <a:avLst/>
          </a:prstGeom>
          <a:solidFill>
            <a:srgbClr val="0F3A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201168" y="73152"/>
            <a:ext cx="11987784" cy="1005840"/>
          </a:xfrm>
          <a:prstGeom prst="rect">
            <a:avLst/>
          </a:prstGeom>
          <a:solidFill>
            <a:srgbClr val="0F3A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5486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Segoe UI"/>
              </a:rPr>
              <a:t>CMPE 597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713232"/>
            <a:ext cx="9144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90E0EF"/>
                </a:solidFill>
                <a:latin typeface="Segoe UI"/>
              </a:rPr>
              <a:t>Deep Learning  —  Term Project  |  Group 13  |  Spring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325880"/>
            <a:ext cx="3657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 dirty="0">
                <a:solidFill>
                  <a:srgbClr val="C77DFF"/>
                </a:solidFill>
                <a:latin typeface="Segoe UI"/>
              </a:rPr>
              <a:t>Moving to Next Task: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828800"/>
            <a:ext cx="3657600" cy="42062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411480" y="1828800"/>
            <a:ext cx="3657600" cy="109728"/>
          </a:xfrm>
          <a:prstGeom prst="rect">
            <a:avLst/>
          </a:prstGeom>
          <a:solidFill>
            <a:srgbClr val="3344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48640" y="1975104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334455"/>
                </a:solidFill>
                <a:latin typeface="Segoe UI"/>
              </a:rPr>
              <a:t>Task 2.1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423160"/>
            <a:ext cx="34747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900" b="1" i="0">
                <a:solidFill>
                  <a:srgbClr val="668866"/>
                </a:solidFill>
                <a:latin typeface="Segoe UI"/>
              </a:rPr>
              <a:t>Cross-Modal Retrieval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3090672"/>
            <a:ext cx="3108960" cy="36576"/>
          </a:xfrm>
          <a:prstGeom prst="rect">
            <a:avLst/>
          </a:prstGeom>
          <a:solidFill>
            <a:srgbClr val="3344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02920" y="3182112"/>
            <a:ext cx="3474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CCCCCC"/>
                </a:solidFill>
                <a:latin typeface="Segoe UI"/>
              </a:rPr>
              <a:t>Given a meme image &amp; title,
retrieve the matching caption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0120" y="5029200"/>
            <a:ext cx="2560320" cy="438912"/>
          </a:xfrm>
          <a:prstGeom prst="rect">
            <a:avLst/>
          </a:prstGeom>
          <a:solidFill>
            <a:srgbClr val="1A3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05840" y="5082033"/>
            <a:ext cx="2468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66CC66"/>
                </a:solidFill>
                <a:latin typeface="Segoe UI"/>
              </a:rPr>
              <a:t>✓  Completed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97680" y="1828800"/>
            <a:ext cx="3657600" cy="42062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434840" y="1975104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C77DFF"/>
                </a:solidFill>
                <a:latin typeface="Segoe UI"/>
              </a:rPr>
              <a:t>Task 2.2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120" y="2423160"/>
            <a:ext cx="34747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900" b="1" i="0">
                <a:solidFill>
                  <a:srgbClr val="FFFFFF"/>
                </a:solidFill>
                <a:latin typeface="Segoe UI"/>
              </a:rPr>
              <a:t>Literal vs. Metaphorical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0" y="3090672"/>
            <a:ext cx="3108960" cy="36576"/>
          </a:xfrm>
          <a:prstGeom prst="rect">
            <a:avLst/>
          </a:prstGeom>
          <a:solidFill>
            <a:srgbClr val="C77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389120" y="3182112"/>
            <a:ext cx="3474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CCCCCC"/>
                </a:solidFill>
                <a:latin typeface="Segoe UI"/>
              </a:rPr>
              <a:t>Is the caption a literal
or metaphorical description?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846320" y="5029200"/>
            <a:ext cx="2560320" cy="438912"/>
          </a:xfrm>
          <a:prstGeom prst="rect">
            <a:avLst/>
          </a:prstGeom>
          <a:solidFill>
            <a:srgbClr val="C77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892040" y="5098967"/>
            <a:ext cx="246888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tr-TR" sz="1300" b="1" i="0" dirty="0">
                <a:solidFill>
                  <a:srgbClr val="FFFFFF"/>
                </a:solidFill>
                <a:latin typeface="Segoe UI"/>
              </a:rPr>
              <a:t>▶ </a:t>
            </a:r>
            <a:r>
              <a:rPr lang="tr-TR" sz="1300" b="1" i="0" dirty="0" err="1">
                <a:solidFill>
                  <a:srgbClr val="FFFFFF"/>
                </a:solidFill>
                <a:latin typeface="Segoe UI"/>
              </a:rPr>
              <a:t>Current</a:t>
            </a:r>
            <a:r>
              <a:rPr lang="tr-TR" sz="1300" b="1" i="0" dirty="0">
                <a:solidFill>
                  <a:srgbClr val="FFFFFF"/>
                </a:solidFill>
                <a:latin typeface="Segoe UI"/>
              </a:rPr>
              <a:t> Presentation</a:t>
            </a:r>
            <a:endParaRPr sz="1300" b="1" i="0" dirty="0">
              <a:solidFill>
                <a:srgbClr val="FFFFFF"/>
              </a:solidFill>
              <a:latin typeface="Segoe UI"/>
            </a:endParaRPr>
          </a:p>
        </p:txBody>
      </p:sp>
      <p:sp>
        <p:nvSpPr>
          <p:cNvPr id="24" name="Rectangle 23"/>
          <p:cNvSpPr/>
          <p:nvPr/>
        </p:nvSpPr>
        <p:spPr>
          <a:xfrm>
            <a:off x="8183879" y="1828800"/>
            <a:ext cx="3657600" cy="42062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8183879" y="1828800"/>
            <a:ext cx="3657600" cy="109728"/>
          </a:xfrm>
          <a:prstGeom prst="rect">
            <a:avLst/>
          </a:prstGeom>
          <a:solidFill>
            <a:srgbClr val="444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321040" y="1975104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CCCCCC"/>
                </a:solidFill>
                <a:latin typeface="Segoe UI"/>
              </a:rPr>
              <a:t>Task 2.3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75319" y="2423160"/>
            <a:ext cx="34747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900" b="1" i="0">
                <a:solidFill>
                  <a:srgbClr val="666688"/>
                </a:solidFill>
                <a:latin typeface="Segoe UI"/>
              </a:rPr>
              <a:t>Sentiment Classification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458200" y="3090672"/>
            <a:ext cx="3108960" cy="36576"/>
          </a:xfrm>
          <a:prstGeom prst="rect">
            <a:avLst/>
          </a:prstGeom>
          <a:solidFill>
            <a:srgbClr val="3333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275319" y="3182112"/>
            <a:ext cx="3474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555577"/>
                </a:solidFill>
                <a:latin typeface="Segoe UI"/>
              </a:rPr>
              <a:t>7-class emotion recognition
from meme images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732519" y="5029200"/>
            <a:ext cx="2560320" cy="438912"/>
          </a:xfrm>
          <a:prstGeom prst="rect">
            <a:avLst/>
          </a:prstGeom>
          <a:solidFill>
            <a:srgbClr val="2A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778240" y="5082033"/>
            <a:ext cx="2468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 dirty="0">
                <a:solidFill>
                  <a:srgbClr val="666688"/>
                </a:solidFill>
                <a:latin typeface="Segoe UI"/>
              </a:rPr>
              <a:t>Upcoming Presentation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20040" y="6263640"/>
            <a:ext cx="11612880" cy="457200"/>
          </a:xfrm>
          <a:prstGeom prst="rect">
            <a:avLst/>
          </a:prstGeom>
          <a:solidFill>
            <a:srgbClr val="0A0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457200" y="6309360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0E0EF"/>
                </a:solidFill>
                <a:latin typeface="Segoe UI"/>
              </a:rPr>
              <a:t>Dataset:  MemeCap  (6,384 Reddit memes)   |   Backbones:  CLIP ViT-B/32  ·  SigLIP ViT-B/16</a:t>
            </a:r>
          </a:p>
        </p:txBody>
      </p:sp>
      <p:sp>
        <p:nvSpPr>
          <p:cNvPr id="34" name="Rectangle 1">
            <a:extLst>
              <a:ext uri="{FF2B5EF4-FFF2-40B4-BE49-F238E27FC236}">
                <a16:creationId xmlns:a16="http://schemas.microsoft.com/office/drawing/2014/main" id="{35CF0A2A-B14E-ED03-02B2-0D2C3F18F8AB}"/>
              </a:ext>
            </a:extLst>
          </p:cNvPr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8">
            <a:extLst>
              <a:ext uri="{FF2B5EF4-FFF2-40B4-BE49-F238E27FC236}">
                <a16:creationId xmlns:a16="http://schemas.microsoft.com/office/drawing/2014/main" id="{FA188EB9-0CCE-34D0-F46C-E9FE7EC0C403}"/>
              </a:ext>
            </a:extLst>
          </p:cNvPr>
          <p:cNvSpPr/>
          <p:nvPr/>
        </p:nvSpPr>
        <p:spPr>
          <a:xfrm>
            <a:off x="4297680" y="1820672"/>
            <a:ext cx="3657600" cy="10972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201168" y="0"/>
            <a:ext cx="11987784" cy="73152"/>
          </a:xfrm>
          <a:prstGeom prst="rect">
            <a:avLst/>
          </a:prstGeom>
          <a:solidFill>
            <a:srgbClr val="0F3A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201168" y="109728"/>
            <a:ext cx="11987784" cy="658368"/>
          </a:xfrm>
          <a:prstGeom prst="rect">
            <a:avLst/>
          </a:prstGeom>
          <a:solidFill>
            <a:srgbClr val="0F3A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11480" y="128016"/>
            <a:ext cx="105156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Segoe UI"/>
              </a:rPr>
              <a:t>Problem Definition &amp;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804672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 i="0">
                <a:solidFill>
                  <a:srgbClr val="90E0EF"/>
                </a:solidFill>
                <a:latin typeface="Segoe UI"/>
              </a:rPr>
              <a:t>Binary classification — frozen backbone + learned fusion head + classifier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234440"/>
            <a:ext cx="5394960" cy="50749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1280160"/>
            <a:ext cx="5029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 dirty="0">
                <a:solidFill>
                  <a:srgbClr val="C77DFF"/>
                </a:solidFill>
                <a:latin typeface="Segoe UI"/>
              </a:rPr>
              <a:t>Task Definition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719072"/>
            <a:ext cx="5166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dirty="0">
                <a:solidFill>
                  <a:srgbClr val="CCCCCC"/>
                </a:solidFill>
                <a:latin typeface="Segoe UI"/>
              </a:rPr>
              <a:t>  •  Input: (image, caption) pair</a:t>
            </a:r>
          </a:p>
          <a:p>
            <a:pPr algn="l">
              <a:lnSpc>
                <a:spcPct val="125000"/>
              </a:lnSpc>
            </a:pPr>
            <a:r>
              <a:rPr sz="1350" dirty="0">
                <a:solidFill>
                  <a:srgbClr val="CCCCCC"/>
                </a:solidFill>
                <a:latin typeface="Segoe UI"/>
              </a:rPr>
              <a:t>  •  Output: 0 = literal  |  1 = metaphorical</a:t>
            </a:r>
          </a:p>
          <a:p>
            <a:pPr algn="l">
              <a:lnSpc>
                <a:spcPct val="125000"/>
              </a:lnSpc>
            </a:pPr>
            <a:r>
              <a:rPr sz="1350" b="1" dirty="0">
                <a:solidFill>
                  <a:srgbClr val="00B4D8"/>
                </a:solidFill>
                <a:latin typeface="Segoe UI"/>
              </a:rPr>
              <a:t>──────────────────────────</a:t>
            </a:r>
          </a:p>
          <a:p>
            <a:pPr algn="l">
              <a:lnSpc>
                <a:spcPct val="125000"/>
              </a:lnSpc>
            </a:pPr>
            <a:r>
              <a:rPr sz="1350" dirty="0">
                <a:solidFill>
                  <a:srgbClr val="CCCCCC"/>
                </a:solidFill>
                <a:latin typeface="Segoe UI"/>
              </a:rPr>
              <a:t>  •  Positive (1): </a:t>
            </a:r>
            <a:r>
              <a:rPr sz="1350" dirty="0" err="1">
                <a:solidFill>
                  <a:srgbClr val="CCCCCC"/>
                </a:solidFill>
                <a:latin typeface="Segoe UI"/>
              </a:rPr>
              <a:t>meme_caption</a:t>
            </a:r>
            <a:endParaRPr sz="1350" dirty="0">
              <a:solidFill>
                <a:srgbClr val="CCCCCC"/>
              </a:solidFill>
              <a:latin typeface="Segoe UI"/>
            </a:endParaRPr>
          </a:p>
          <a:p>
            <a:pPr algn="l">
              <a:lnSpc>
                <a:spcPct val="125000"/>
              </a:lnSpc>
            </a:pPr>
            <a:r>
              <a:rPr sz="1350" dirty="0">
                <a:solidFill>
                  <a:srgbClr val="CCCCCC"/>
                </a:solidFill>
                <a:latin typeface="Segoe UI"/>
              </a:rPr>
              <a:t>  •    poster's intended meaning</a:t>
            </a:r>
          </a:p>
          <a:p>
            <a:pPr algn="l">
              <a:lnSpc>
                <a:spcPct val="125000"/>
              </a:lnSpc>
            </a:pPr>
            <a:r>
              <a:rPr sz="1350" dirty="0">
                <a:solidFill>
                  <a:srgbClr val="CCCCCC"/>
                </a:solidFill>
                <a:latin typeface="Segoe UI"/>
              </a:rPr>
              <a:t>  •  Negative (0): </a:t>
            </a:r>
            <a:r>
              <a:rPr sz="1350" dirty="0" err="1">
                <a:solidFill>
                  <a:srgbClr val="CCCCCC"/>
                </a:solidFill>
                <a:latin typeface="Segoe UI"/>
              </a:rPr>
              <a:t>img_caption</a:t>
            </a:r>
            <a:endParaRPr sz="1350" dirty="0">
              <a:solidFill>
                <a:srgbClr val="CCCCCC"/>
              </a:solidFill>
              <a:latin typeface="Segoe UI"/>
            </a:endParaRPr>
          </a:p>
          <a:p>
            <a:pPr algn="l">
              <a:lnSpc>
                <a:spcPct val="125000"/>
              </a:lnSpc>
            </a:pPr>
            <a:r>
              <a:rPr sz="1350" dirty="0">
                <a:solidFill>
                  <a:srgbClr val="CCCCCC"/>
                </a:solidFill>
                <a:latin typeface="Segoe UI"/>
              </a:rPr>
              <a:t>  •    literal visual description</a:t>
            </a:r>
          </a:p>
          <a:p>
            <a:pPr algn="l">
              <a:lnSpc>
                <a:spcPct val="125000"/>
              </a:lnSpc>
            </a:pPr>
            <a:r>
              <a:rPr sz="1350" b="1" dirty="0">
                <a:solidFill>
                  <a:srgbClr val="00B4D8"/>
                </a:solidFill>
                <a:latin typeface="Segoe UI"/>
              </a:rPr>
              <a:t>──────────────────────────</a:t>
            </a:r>
          </a:p>
          <a:p>
            <a:pPr algn="l">
              <a:lnSpc>
                <a:spcPct val="125000"/>
              </a:lnSpc>
            </a:pPr>
            <a:r>
              <a:rPr sz="1350" dirty="0">
                <a:solidFill>
                  <a:srgbClr val="CCCCCC"/>
                </a:solidFill>
                <a:latin typeface="Segoe UI"/>
              </a:rPr>
              <a:t>  •  Dataset naturally ~50/50 balanced</a:t>
            </a:r>
          </a:p>
          <a:p>
            <a:pPr algn="l">
              <a:lnSpc>
                <a:spcPct val="125000"/>
              </a:lnSpc>
            </a:pPr>
            <a:r>
              <a:rPr sz="1350" dirty="0">
                <a:solidFill>
                  <a:srgbClr val="CCCCCC"/>
                </a:solidFill>
                <a:latin typeface="Segoe UI"/>
              </a:rPr>
              <a:t>  •    → accuracy is a valid primary metric</a:t>
            </a:r>
          </a:p>
          <a:p>
            <a:pPr algn="l">
              <a:lnSpc>
                <a:spcPct val="125000"/>
              </a:lnSpc>
            </a:pPr>
            <a:r>
              <a:rPr sz="1350" b="1" dirty="0">
                <a:solidFill>
                  <a:srgbClr val="00B4D8"/>
                </a:solidFill>
                <a:latin typeface="Segoe UI"/>
              </a:rPr>
              <a:t>──────────────────────────</a:t>
            </a:r>
          </a:p>
          <a:p>
            <a:pPr algn="l">
              <a:lnSpc>
                <a:spcPct val="125000"/>
              </a:lnSpc>
            </a:pPr>
            <a:r>
              <a:rPr sz="1350" dirty="0">
                <a:solidFill>
                  <a:srgbClr val="CCCCCC"/>
                </a:solidFill>
                <a:latin typeface="Segoe UI"/>
              </a:rPr>
              <a:t>  •  Metrics: Accuracy, F1, Precision,</a:t>
            </a:r>
          </a:p>
          <a:p>
            <a:pPr algn="l">
              <a:lnSpc>
                <a:spcPct val="125000"/>
              </a:lnSpc>
            </a:pPr>
            <a:r>
              <a:rPr sz="1350" dirty="0">
                <a:solidFill>
                  <a:srgbClr val="CCCCCC"/>
                </a:solidFill>
                <a:latin typeface="Segoe UI"/>
              </a:rPr>
              <a:t>  •    Recall, ROC-AUC, Confusion Matrix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89320" y="1234440"/>
            <a:ext cx="5897880" cy="50749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126480" y="1280160"/>
            <a:ext cx="5577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 dirty="0">
                <a:solidFill>
                  <a:srgbClr val="C77DFF"/>
                </a:solidFill>
                <a:latin typeface="Segoe UI"/>
              </a:rPr>
              <a:t>Model Architecture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0" y="1719072"/>
            <a:ext cx="55778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1" dirty="0">
                <a:solidFill>
                  <a:srgbClr val="00B4D8"/>
                </a:solidFill>
                <a:latin typeface="Segoe UI"/>
              </a:rPr>
              <a:t>── Frozen Backbone ──</a:t>
            </a:r>
          </a:p>
          <a:p>
            <a:pPr algn="l">
              <a:lnSpc>
                <a:spcPct val="125000"/>
              </a:lnSpc>
            </a:pPr>
            <a:r>
              <a:rPr sz="1350" dirty="0">
                <a:solidFill>
                  <a:srgbClr val="CCCCCC"/>
                </a:solidFill>
                <a:latin typeface="Segoe UI"/>
              </a:rPr>
              <a:t>  •  CLIP </a:t>
            </a:r>
            <a:r>
              <a:rPr sz="1350" dirty="0" err="1">
                <a:solidFill>
                  <a:srgbClr val="CCCCCC"/>
                </a:solidFill>
                <a:latin typeface="Segoe UI"/>
              </a:rPr>
              <a:t>ViT</a:t>
            </a:r>
            <a:r>
              <a:rPr sz="1350" dirty="0">
                <a:solidFill>
                  <a:srgbClr val="CCCCCC"/>
                </a:solidFill>
                <a:latin typeface="Segoe UI"/>
              </a:rPr>
              <a:t>-B/32  →  512-d embedding</a:t>
            </a:r>
          </a:p>
          <a:p>
            <a:pPr algn="l">
              <a:lnSpc>
                <a:spcPct val="125000"/>
              </a:lnSpc>
            </a:pPr>
            <a:r>
              <a:rPr sz="1350" dirty="0">
                <a:solidFill>
                  <a:srgbClr val="CCCCCC"/>
                </a:solidFill>
                <a:latin typeface="Segoe UI"/>
              </a:rPr>
              <a:t>  •  </a:t>
            </a:r>
            <a:r>
              <a:rPr sz="1350" dirty="0" err="1">
                <a:solidFill>
                  <a:srgbClr val="CCCCCC"/>
                </a:solidFill>
                <a:latin typeface="Segoe UI"/>
              </a:rPr>
              <a:t>SigLIP</a:t>
            </a:r>
            <a:r>
              <a:rPr sz="1350" dirty="0">
                <a:solidFill>
                  <a:srgbClr val="CCCCCC"/>
                </a:solidFill>
                <a:latin typeface="Segoe UI"/>
              </a:rPr>
              <a:t> </a:t>
            </a:r>
            <a:r>
              <a:rPr sz="1350" dirty="0" err="1">
                <a:solidFill>
                  <a:srgbClr val="CCCCCC"/>
                </a:solidFill>
                <a:latin typeface="Segoe UI"/>
              </a:rPr>
              <a:t>ViT</a:t>
            </a:r>
            <a:r>
              <a:rPr sz="1350" dirty="0">
                <a:solidFill>
                  <a:srgbClr val="CCCCCC"/>
                </a:solidFill>
                <a:latin typeface="Segoe UI"/>
              </a:rPr>
              <a:t>-B/16  →  768-d embedding</a:t>
            </a:r>
          </a:p>
          <a:p>
            <a:pPr algn="l">
              <a:lnSpc>
                <a:spcPct val="125000"/>
              </a:lnSpc>
            </a:pPr>
            <a:r>
              <a:rPr sz="1350" dirty="0">
                <a:solidFill>
                  <a:srgbClr val="CCCCCC"/>
                </a:solidFill>
                <a:latin typeface="Segoe UI"/>
              </a:rPr>
              <a:t>  •    (no gradient through backbone)</a:t>
            </a:r>
          </a:p>
          <a:p>
            <a:pPr algn="l">
              <a:lnSpc>
                <a:spcPct val="125000"/>
              </a:lnSpc>
            </a:pPr>
            <a:r>
              <a:rPr sz="1350" b="1" dirty="0">
                <a:solidFill>
                  <a:srgbClr val="00B4D8"/>
                </a:solidFill>
                <a:latin typeface="Segoe UI"/>
              </a:rPr>
              <a:t>──────────────────────────</a:t>
            </a:r>
          </a:p>
          <a:p>
            <a:pPr algn="l">
              <a:lnSpc>
                <a:spcPct val="125000"/>
              </a:lnSpc>
            </a:pPr>
            <a:r>
              <a:rPr sz="1350" b="1" dirty="0">
                <a:solidFill>
                  <a:srgbClr val="00B4D8"/>
                </a:solidFill>
                <a:latin typeface="Segoe UI"/>
              </a:rPr>
              <a:t>── Fusion Head ──</a:t>
            </a:r>
          </a:p>
          <a:p>
            <a:pPr algn="l">
              <a:lnSpc>
                <a:spcPct val="125000"/>
              </a:lnSpc>
            </a:pPr>
            <a:r>
              <a:rPr sz="1350" dirty="0">
                <a:solidFill>
                  <a:srgbClr val="CCCCCC"/>
                </a:solidFill>
                <a:latin typeface="Segoe UI"/>
              </a:rPr>
              <a:t>  •  One of 5 strategies (next slide)</a:t>
            </a:r>
          </a:p>
          <a:p>
            <a:pPr algn="l">
              <a:lnSpc>
                <a:spcPct val="125000"/>
              </a:lnSpc>
            </a:pPr>
            <a:r>
              <a:rPr sz="1350" dirty="0">
                <a:solidFill>
                  <a:srgbClr val="CCCCCC"/>
                </a:solidFill>
                <a:latin typeface="Segoe UI"/>
              </a:rPr>
              <a:t>  •  Combines image + text embeddings</a:t>
            </a:r>
          </a:p>
          <a:p>
            <a:pPr algn="l">
              <a:lnSpc>
                <a:spcPct val="125000"/>
              </a:lnSpc>
            </a:pPr>
            <a:r>
              <a:rPr sz="1350" b="1" dirty="0">
                <a:solidFill>
                  <a:srgbClr val="00B4D8"/>
                </a:solidFill>
                <a:latin typeface="Segoe UI"/>
              </a:rPr>
              <a:t>──────────────────────────</a:t>
            </a:r>
          </a:p>
          <a:p>
            <a:pPr algn="l">
              <a:lnSpc>
                <a:spcPct val="125000"/>
              </a:lnSpc>
            </a:pPr>
            <a:r>
              <a:rPr sz="1350" b="1" dirty="0">
                <a:solidFill>
                  <a:srgbClr val="00B4D8"/>
                </a:solidFill>
                <a:latin typeface="Segoe UI"/>
              </a:rPr>
              <a:t>── Classifier Head ──</a:t>
            </a:r>
          </a:p>
          <a:p>
            <a:pPr algn="l">
              <a:lnSpc>
                <a:spcPct val="125000"/>
              </a:lnSpc>
            </a:pPr>
            <a:r>
              <a:rPr sz="1350" dirty="0">
                <a:solidFill>
                  <a:srgbClr val="CCCCCC"/>
                </a:solidFill>
                <a:latin typeface="Segoe UI"/>
              </a:rPr>
              <a:t>  •  Linear(in → 512) → </a:t>
            </a:r>
            <a:r>
              <a:rPr sz="1350" dirty="0" err="1">
                <a:solidFill>
                  <a:srgbClr val="CCCCCC"/>
                </a:solidFill>
                <a:latin typeface="Segoe UI"/>
              </a:rPr>
              <a:t>ReLU</a:t>
            </a:r>
            <a:endParaRPr sz="1350" dirty="0">
              <a:solidFill>
                <a:srgbClr val="CCCCCC"/>
              </a:solidFill>
              <a:latin typeface="Segoe UI"/>
            </a:endParaRPr>
          </a:p>
          <a:p>
            <a:pPr algn="l">
              <a:lnSpc>
                <a:spcPct val="125000"/>
              </a:lnSpc>
            </a:pPr>
            <a:r>
              <a:rPr sz="1350" dirty="0">
                <a:solidFill>
                  <a:srgbClr val="CCCCCC"/>
                </a:solidFill>
                <a:latin typeface="Segoe UI"/>
              </a:rPr>
              <a:t>  •  → Dropout(p) → Linear(512 → 1)</a:t>
            </a:r>
          </a:p>
          <a:p>
            <a:pPr algn="l">
              <a:lnSpc>
                <a:spcPct val="125000"/>
              </a:lnSpc>
            </a:pPr>
            <a:r>
              <a:rPr sz="1350" dirty="0">
                <a:solidFill>
                  <a:srgbClr val="CCCCCC"/>
                </a:solidFill>
                <a:latin typeface="Segoe UI"/>
              </a:rPr>
              <a:t>  •  Loss: </a:t>
            </a:r>
            <a:r>
              <a:rPr sz="1350" dirty="0" err="1">
                <a:solidFill>
                  <a:srgbClr val="CCCCCC"/>
                </a:solidFill>
                <a:latin typeface="Segoe UI"/>
              </a:rPr>
              <a:t>BCEWithLogitsLoss</a:t>
            </a:r>
            <a:endParaRPr sz="1350" dirty="0">
              <a:solidFill>
                <a:srgbClr val="CCCCCC"/>
              </a:solidFill>
              <a:latin typeface="Segoe UI"/>
            </a:endParaRPr>
          </a:p>
          <a:p>
            <a:pPr algn="l">
              <a:lnSpc>
                <a:spcPct val="125000"/>
              </a:lnSpc>
            </a:pPr>
            <a:r>
              <a:rPr sz="1350" dirty="0">
                <a:solidFill>
                  <a:srgbClr val="CCCCCC"/>
                </a:solidFill>
                <a:latin typeface="Segoe UI"/>
              </a:rPr>
              <a:t>  •  Output: single logit → sigmoid → P(metaphorical)</a:t>
            </a:r>
          </a:p>
        </p:txBody>
      </p:sp>
      <p:sp>
        <p:nvSpPr>
          <p:cNvPr id="13" name="Rectangle 1">
            <a:extLst>
              <a:ext uri="{FF2B5EF4-FFF2-40B4-BE49-F238E27FC236}">
                <a16:creationId xmlns:a16="http://schemas.microsoft.com/office/drawing/2014/main" id="{87379E76-C1B5-4BA4-CF3B-F7188EBB8A84}"/>
              </a:ext>
            </a:extLst>
          </p:cNvPr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201168" y="0"/>
            <a:ext cx="11987784" cy="73152"/>
          </a:xfrm>
          <a:prstGeom prst="rect">
            <a:avLst/>
          </a:prstGeom>
          <a:solidFill>
            <a:srgbClr val="0F3A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201168" y="109728"/>
            <a:ext cx="11987784" cy="658368"/>
          </a:xfrm>
          <a:prstGeom prst="rect">
            <a:avLst/>
          </a:prstGeom>
          <a:solidFill>
            <a:srgbClr val="0F3A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11480" y="128016"/>
            <a:ext cx="10515600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 dirty="0">
                <a:solidFill>
                  <a:srgbClr val="FFFFFF"/>
                </a:solidFill>
                <a:latin typeface="Segoe UI"/>
              </a:rPr>
              <a:t>Fusion Strategies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804672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 i="0">
                <a:solidFill>
                  <a:srgbClr val="90E0EF"/>
                </a:solidFill>
                <a:latin typeface="Segoe UI"/>
              </a:rPr>
              <a:t>How image and text embeddings are combined before the classifier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234440"/>
            <a:ext cx="2194560" cy="50749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274320" y="1234440"/>
            <a:ext cx="2194560" cy="9144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47472" y="1353312"/>
            <a:ext cx="2057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50" b="1" i="0">
                <a:solidFill>
                  <a:srgbClr val="00B4D8"/>
                </a:solidFill>
                <a:latin typeface="Segoe UI"/>
              </a:rPr>
              <a:t>Concat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79" y="1920240"/>
            <a:ext cx="1920240" cy="36576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65760" y="1993392"/>
            <a:ext cx="201168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FFFFFF"/>
                </a:solidFill>
                <a:latin typeface="Segoe UI"/>
              </a:rPr>
              <a:t>[img ; text]
→ 1024-d vector
(CLIP)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3566160"/>
            <a:ext cx="2011680" cy="36576"/>
          </a:xfrm>
          <a:prstGeom prst="rect">
            <a:avLst/>
          </a:prstGeom>
          <a:solidFill>
            <a:srgbClr val="444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65760" y="3630168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90E0EF"/>
                </a:solidFill>
                <a:latin typeface="Segoe UI"/>
              </a:rPr>
              <a:t>Note: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7472" y="3931920"/>
            <a:ext cx="20574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CCCCC"/>
                </a:solidFill>
                <a:latin typeface="Segoe UI"/>
              </a:rPr>
              <a:t>Simple baseline
Larger classifier input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606039" y="1234440"/>
            <a:ext cx="2194560" cy="50749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2606039" y="1234440"/>
            <a:ext cx="2194560" cy="91440"/>
          </a:xfrm>
          <a:prstGeom prst="rect">
            <a:avLst/>
          </a:prstGeom>
          <a:solidFill>
            <a:srgbClr val="FF92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2679191" y="1353312"/>
            <a:ext cx="2057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50" b="1" i="0">
                <a:solidFill>
                  <a:srgbClr val="FF9214"/>
                </a:solidFill>
                <a:latin typeface="Segoe UI"/>
              </a:rPr>
              <a:t>Multiply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199" y="1920240"/>
            <a:ext cx="1920240" cy="36576"/>
          </a:xfrm>
          <a:prstGeom prst="rect">
            <a:avLst/>
          </a:prstGeom>
          <a:solidFill>
            <a:srgbClr val="FF92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2697479" y="1993392"/>
            <a:ext cx="201168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FFFFFF"/>
                </a:solidFill>
                <a:latin typeface="Segoe UI"/>
              </a:rPr>
              <a:t>img ⊗ text
(element-wise)
→ 512-d
(CLIP)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697479" y="3566160"/>
            <a:ext cx="2011680" cy="36576"/>
          </a:xfrm>
          <a:prstGeom prst="rect">
            <a:avLst/>
          </a:prstGeom>
          <a:solidFill>
            <a:srgbClr val="444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2697479" y="3630168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90E0EF"/>
                </a:solidFill>
                <a:latin typeface="Segoe UI"/>
              </a:rPr>
              <a:t>Note: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79191" y="3931920"/>
            <a:ext cx="20574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CCCCC"/>
                </a:solidFill>
                <a:latin typeface="Segoe UI"/>
              </a:rPr>
              <a:t>Captures direct
feature alignment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937759" y="1234440"/>
            <a:ext cx="2194560" cy="50749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4937759" y="1234440"/>
            <a:ext cx="2194560" cy="91440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5010912" y="1353312"/>
            <a:ext cx="2057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50" b="1" i="0">
                <a:solidFill>
                  <a:srgbClr val="06D6A0"/>
                </a:solidFill>
                <a:latin typeface="Segoe UI"/>
              </a:rPr>
              <a:t>Bilinear  ★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74920" y="1920240"/>
            <a:ext cx="1920240" cy="36576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029199" y="1993392"/>
            <a:ext cx="201168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FFFFFF"/>
                </a:solidFill>
                <a:latin typeface="Segoe UI"/>
              </a:rPr>
              <a:t>nn.Bilinear
(512, 512, 512)
Second-order
interaction
(CLIP)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199" y="3566160"/>
            <a:ext cx="2011680" cy="36576"/>
          </a:xfrm>
          <a:prstGeom prst="rect">
            <a:avLst/>
          </a:prstGeom>
          <a:solidFill>
            <a:srgbClr val="444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5029199" y="3630168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90E0EF"/>
                </a:solidFill>
                <a:latin typeface="Segoe UI"/>
              </a:rPr>
              <a:t>Note: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10912" y="3931920"/>
            <a:ext cx="20574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CCCCC"/>
                </a:solidFill>
                <a:latin typeface="Segoe UI"/>
              </a:rPr>
              <a:t>Best overall
Captures whether
caption deviates
from image content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269479" y="1234440"/>
            <a:ext cx="2194560" cy="50749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7269479" y="1234440"/>
            <a:ext cx="2194560" cy="91440"/>
          </a:xfrm>
          <a:prstGeom prst="rect">
            <a:avLst/>
          </a:prstGeom>
          <a:solidFill>
            <a:srgbClr val="FFD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7342631" y="1353312"/>
            <a:ext cx="2057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50" b="1" i="0">
                <a:solidFill>
                  <a:srgbClr val="FFD600"/>
                </a:solidFill>
                <a:latin typeface="Segoe UI"/>
              </a:rPr>
              <a:t>Cross-Attention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406640" y="1920240"/>
            <a:ext cx="1920240" cy="36576"/>
          </a:xfrm>
          <a:prstGeom prst="rect">
            <a:avLst/>
          </a:prstGeom>
          <a:solidFill>
            <a:srgbClr val="FFD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7360919" y="1993392"/>
            <a:ext cx="201168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FFFFFF"/>
                </a:solidFill>
                <a:latin typeface="Segoe UI"/>
              </a:rPr>
              <a:t>img as Q
text as K/V
4-head attn
→ 512-d
(CLIP)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60919" y="3566160"/>
            <a:ext cx="2011680" cy="36576"/>
          </a:xfrm>
          <a:prstGeom prst="rect">
            <a:avLst/>
          </a:prstGeom>
          <a:solidFill>
            <a:srgbClr val="444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7360919" y="3630168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90E0EF"/>
                </a:solidFill>
                <a:latin typeface="Segoe UI"/>
              </a:rPr>
              <a:t>Note: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42631" y="3931920"/>
            <a:ext cx="20574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CCCCC"/>
                </a:solidFill>
                <a:latin typeface="Segoe UI"/>
              </a:rPr>
              <a:t>Reduces to learned
weighted sum;
limited expressivity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601200" y="1234440"/>
            <a:ext cx="2194560" cy="50749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9601200" y="1234440"/>
            <a:ext cx="2194560" cy="91440"/>
          </a:xfrm>
          <a:prstGeom prst="rect">
            <a:avLst/>
          </a:prstGeom>
          <a:solidFill>
            <a:srgbClr val="C77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9674352" y="1353312"/>
            <a:ext cx="2057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50" b="1" i="0">
                <a:solidFill>
                  <a:srgbClr val="C77DFF"/>
                </a:solidFill>
                <a:latin typeface="Segoe UI"/>
              </a:rPr>
              <a:t>Gated Attention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738360" y="1920240"/>
            <a:ext cx="1920240" cy="36576"/>
          </a:xfrm>
          <a:prstGeom prst="rect">
            <a:avLst/>
          </a:prstGeom>
          <a:solidFill>
            <a:srgbClr val="C77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9692640" y="1993392"/>
            <a:ext cx="201168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FFFFFF"/>
                </a:solidFill>
                <a:latin typeface="Segoe UI"/>
              </a:rPr>
              <a:t>Linear(1536→512)
→ Tanh → Linear
→ Softmax weights
w·img + (1-w)·text
(SigLIP 768-d)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692640" y="3566160"/>
            <a:ext cx="2011680" cy="36576"/>
          </a:xfrm>
          <a:prstGeom prst="rect">
            <a:avLst/>
          </a:prstGeom>
          <a:solidFill>
            <a:srgbClr val="444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9692640" y="3630168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90E0EF"/>
                </a:solidFill>
                <a:latin typeface="Segoe UI"/>
              </a:rPr>
              <a:t>Note: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674352" y="3931920"/>
            <a:ext cx="20574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CCCCC"/>
                </a:solidFill>
                <a:latin typeface="Segoe UI"/>
              </a:rPr>
              <a:t>Adaptive modality
weighting per sample;
used with SigLIP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20040" y="6492240"/>
            <a:ext cx="11612880" cy="274320"/>
          </a:xfrm>
          <a:prstGeom prst="rect">
            <a:avLst/>
          </a:prstGeom>
          <a:solidFill>
            <a:srgbClr val="0F3A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457200" y="6510528"/>
            <a:ext cx="11338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D600"/>
                </a:solidFill>
                <a:latin typeface="Segoe UI"/>
              </a:rPr>
              <a:t>Bilinear captures multiplicative cross-modal interactions — ideal for detecting caption–image semantic divergence</a:t>
            </a:r>
          </a:p>
        </p:txBody>
      </p:sp>
      <p:sp>
        <p:nvSpPr>
          <p:cNvPr id="49" name="Rectangle 1">
            <a:extLst>
              <a:ext uri="{FF2B5EF4-FFF2-40B4-BE49-F238E27FC236}">
                <a16:creationId xmlns:a16="http://schemas.microsoft.com/office/drawing/2014/main" id="{537C6A1D-4DA9-74F6-A012-B062EF76A314}"/>
              </a:ext>
            </a:extLst>
          </p:cNvPr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201168" y="0"/>
            <a:ext cx="11987784" cy="73152"/>
          </a:xfrm>
          <a:prstGeom prst="rect">
            <a:avLst/>
          </a:prstGeom>
          <a:solidFill>
            <a:srgbClr val="0F3A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201168" y="109728"/>
            <a:ext cx="11987784" cy="658368"/>
          </a:xfrm>
          <a:prstGeom prst="rect">
            <a:avLst/>
          </a:prstGeom>
          <a:solidFill>
            <a:srgbClr val="0F3A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11480" y="128016"/>
            <a:ext cx="105156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Segoe UI"/>
              </a:rPr>
              <a:t>Results  —  CLIP ViT-B/32 + Bilinear Fusion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813816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C77DFF"/>
                </a:solidFill>
                <a:latin typeface="Segoe UI"/>
              </a:rPr>
              <a:t>hidden=512  ·  dropout=0.1  ·  Adam lr=1e-4  ·  10 epochs  ·  BCEWithLogitsLoss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20040" y="1216152"/>
          <a:ext cx="11608306" cy="3429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77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3487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3487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93487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93487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994306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311727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Segoe UI"/>
                        </a:rPr>
                        <a:t>Epoch</a:t>
                      </a:r>
                    </a:p>
                  </a:txBody>
                  <a:tcPr>
                    <a:solidFill>
                      <a:srgbClr val="2A00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Segoe UI"/>
                        </a:rPr>
                        <a:t>Loss</a:t>
                      </a:r>
                    </a:p>
                  </a:txBody>
                  <a:tcPr>
                    <a:solidFill>
                      <a:srgbClr val="2A00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Segoe UI"/>
                        </a:rPr>
                        <a:t>Accuracy</a:t>
                      </a:r>
                    </a:p>
                  </a:txBody>
                  <a:tcPr>
                    <a:solidFill>
                      <a:srgbClr val="2A00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Segoe UI"/>
                        </a:rPr>
                        <a:t>F1</a:t>
                      </a:r>
                    </a:p>
                  </a:txBody>
                  <a:tcPr>
                    <a:solidFill>
                      <a:srgbClr val="2A00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Segoe UI"/>
                        </a:rPr>
                        <a:t>Precision</a:t>
                      </a:r>
                    </a:p>
                  </a:txBody>
                  <a:tcPr>
                    <a:solidFill>
                      <a:srgbClr val="2A00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Segoe UI"/>
                        </a:rPr>
                        <a:t>Recall</a:t>
                      </a:r>
                    </a:p>
                  </a:txBody>
                  <a:tcPr>
                    <a:solidFill>
                      <a:srgbClr val="2A00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Segoe UI"/>
                        </a:rPr>
                        <a:t>ROC-AUC</a:t>
                      </a:r>
                    </a:p>
                  </a:txBody>
                  <a:tcPr>
                    <a:solidFill>
                      <a:srgbClr val="2A00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1727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  <a:latin typeface="Segoe UI"/>
                        </a:rPr>
                        <a:t>1</a:t>
                      </a:r>
                    </a:p>
                  </a:txBody>
                  <a:tcPr>
                    <a:solidFill>
                      <a:srgbClr val="1E2A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  <a:latin typeface="Segoe UI"/>
                        </a:rPr>
                        <a:t>0.0603</a:t>
                      </a:r>
                    </a:p>
                  </a:txBody>
                  <a:tcPr>
                    <a:solidFill>
                      <a:srgbClr val="1E2A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  <a:latin typeface="Segoe UI"/>
                        </a:rPr>
                        <a:t>96.74%</a:t>
                      </a:r>
                    </a:p>
                  </a:txBody>
                  <a:tcPr>
                    <a:solidFill>
                      <a:srgbClr val="1E2A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  <a:latin typeface="Segoe UI"/>
                        </a:rPr>
                        <a:t>0.9784</a:t>
                      </a:r>
                    </a:p>
                  </a:txBody>
                  <a:tcPr>
                    <a:solidFill>
                      <a:srgbClr val="1E2A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  <a:latin typeface="Segoe UI"/>
                        </a:rPr>
                        <a:t>0.9977</a:t>
                      </a:r>
                    </a:p>
                  </a:txBody>
                  <a:tcPr>
                    <a:solidFill>
                      <a:srgbClr val="1E2A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  <a:latin typeface="Segoe UI"/>
                        </a:rPr>
                        <a:t>0.9598</a:t>
                      </a:r>
                    </a:p>
                  </a:txBody>
                  <a:tcPr>
                    <a:solidFill>
                      <a:srgbClr val="1E2A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  <a:latin typeface="Segoe UI"/>
                        </a:rPr>
                        <a:t>0.9979</a:t>
                      </a:r>
                    </a:p>
                  </a:txBody>
                  <a:tcPr>
                    <a:solidFill>
                      <a:srgbClr val="1E2A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1727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  <a:latin typeface="Segoe UI"/>
                        </a:rPr>
                        <a:t>2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  <a:latin typeface="Segoe UI"/>
                        </a:rPr>
                        <a:t>0.0221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  <a:latin typeface="Segoe UI"/>
                        </a:rPr>
                        <a:t>97.25%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  <a:latin typeface="Segoe UI"/>
                        </a:rPr>
                        <a:t>0.9818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  <a:latin typeface="Segoe UI"/>
                        </a:rPr>
                        <a:t>0.9994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  <a:latin typeface="Segoe UI"/>
                        </a:rPr>
                        <a:t>0.9647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  <a:latin typeface="Segoe UI"/>
                        </a:rPr>
                        <a:t>0.9996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1727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  <a:latin typeface="Segoe UI"/>
                        </a:rPr>
                        <a:t>3</a:t>
                      </a:r>
                    </a:p>
                  </a:txBody>
                  <a:tcPr>
                    <a:solidFill>
                      <a:srgbClr val="1E2A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  <a:latin typeface="Segoe UI"/>
                        </a:rPr>
                        <a:t>0.0241</a:t>
                      </a:r>
                    </a:p>
                  </a:txBody>
                  <a:tcPr>
                    <a:solidFill>
                      <a:srgbClr val="1E2A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  <a:latin typeface="Segoe UI"/>
                        </a:rPr>
                        <a:t>97.42%</a:t>
                      </a:r>
                    </a:p>
                  </a:txBody>
                  <a:tcPr>
                    <a:solidFill>
                      <a:srgbClr val="1E2A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  <a:latin typeface="Segoe UI"/>
                        </a:rPr>
                        <a:t>0.9829</a:t>
                      </a:r>
                    </a:p>
                  </a:txBody>
                  <a:tcPr>
                    <a:solidFill>
                      <a:srgbClr val="1E2A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  <a:latin typeface="Segoe UI"/>
                        </a:rPr>
                        <a:t>0.9977</a:t>
                      </a:r>
                    </a:p>
                  </a:txBody>
                  <a:tcPr>
                    <a:solidFill>
                      <a:srgbClr val="1E2A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  <a:latin typeface="Segoe UI"/>
                        </a:rPr>
                        <a:t>0.9686</a:t>
                      </a:r>
                    </a:p>
                  </a:txBody>
                  <a:tcPr>
                    <a:solidFill>
                      <a:srgbClr val="1E2A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  <a:latin typeface="Segoe UI"/>
                        </a:rPr>
                        <a:t>0.9986</a:t>
                      </a:r>
                    </a:p>
                  </a:txBody>
                  <a:tcPr>
                    <a:solidFill>
                      <a:srgbClr val="1E2A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1727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  <a:latin typeface="Segoe UI"/>
                        </a:rPr>
                        <a:t>4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  <a:latin typeface="Segoe UI"/>
                        </a:rPr>
                        <a:t>0.0163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  <a:latin typeface="Segoe UI"/>
                        </a:rPr>
                        <a:t>98.60%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  <a:latin typeface="Segoe UI"/>
                        </a:rPr>
                        <a:t>0.9908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  <a:latin typeface="Segoe UI"/>
                        </a:rPr>
                        <a:t>0.9983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  <a:latin typeface="Segoe UI"/>
                        </a:rPr>
                        <a:t>0.9835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  <a:latin typeface="Segoe UI"/>
                        </a:rPr>
                        <a:t>0.9968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1727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6D6A0"/>
                          </a:solidFill>
                          <a:latin typeface="Segoe UI"/>
                        </a:rPr>
                        <a:t>5 ★</a:t>
                      </a:r>
                    </a:p>
                  </a:txBody>
                  <a:tcPr>
                    <a:solidFill>
                      <a:srgbClr val="05301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6D6A0"/>
                          </a:solidFill>
                          <a:latin typeface="Segoe UI"/>
                        </a:rPr>
                        <a:t>0.0052</a:t>
                      </a:r>
                    </a:p>
                  </a:txBody>
                  <a:tcPr>
                    <a:solidFill>
                      <a:srgbClr val="05301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6D6A0"/>
                          </a:solidFill>
                          <a:latin typeface="Segoe UI"/>
                        </a:rPr>
                        <a:t>98.69%</a:t>
                      </a:r>
                    </a:p>
                  </a:txBody>
                  <a:tcPr>
                    <a:solidFill>
                      <a:srgbClr val="05301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6D6A0"/>
                          </a:solidFill>
                          <a:latin typeface="Segoe UI"/>
                        </a:rPr>
                        <a:t>0.9914</a:t>
                      </a:r>
                    </a:p>
                  </a:txBody>
                  <a:tcPr>
                    <a:solidFill>
                      <a:srgbClr val="05301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6D6A0"/>
                          </a:solidFill>
                          <a:latin typeface="Segoe UI"/>
                        </a:rPr>
                        <a:t>0.9961</a:t>
                      </a:r>
                    </a:p>
                  </a:txBody>
                  <a:tcPr>
                    <a:solidFill>
                      <a:srgbClr val="05301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6D6A0"/>
                          </a:solidFill>
                          <a:latin typeface="Segoe UI"/>
                        </a:rPr>
                        <a:t>0.9868</a:t>
                      </a:r>
                    </a:p>
                  </a:txBody>
                  <a:tcPr>
                    <a:solidFill>
                      <a:srgbClr val="05301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6D6A0"/>
                          </a:solidFill>
                          <a:latin typeface="Segoe UI"/>
                        </a:rPr>
                        <a:t>0.9987</a:t>
                      </a:r>
                    </a:p>
                  </a:txBody>
                  <a:tcPr>
                    <a:solidFill>
                      <a:srgbClr val="05301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11727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  <a:latin typeface="Segoe UI"/>
                        </a:rPr>
                        <a:t>6</a:t>
                      </a:r>
                    </a:p>
                  </a:txBody>
                  <a:tcPr>
                    <a:solidFill>
                      <a:srgbClr val="1E2A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  <a:latin typeface="Segoe UI"/>
                        </a:rPr>
                        <a:t>0.0036</a:t>
                      </a:r>
                    </a:p>
                  </a:txBody>
                  <a:tcPr>
                    <a:solidFill>
                      <a:srgbClr val="1E2A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  <a:latin typeface="Segoe UI"/>
                        </a:rPr>
                        <a:t>98.35%</a:t>
                      </a:r>
                    </a:p>
                  </a:txBody>
                  <a:tcPr>
                    <a:solidFill>
                      <a:srgbClr val="1E2A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  <a:latin typeface="Segoe UI"/>
                        </a:rPr>
                        <a:t>0.9892</a:t>
                      </a:r>
                    </a:p>
                  </a:txBody>
                  <a:tcPr>
                    <a:solidFill>
                      <a:srgbClr val="1E2A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  <a:latin typeface="Segoe UI"/>
                        </a:rPr>
                        <a:t>0.9972</a:t>
                      </a:r>
                    </a:p>
                  </a:txBody>
                  <a:tcPr>
                    <a:solidFill>
                      <a:srgbClr val="1E2A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  <a:latin typeface="Segoe UI"/>
                        </a:rPr>
                        <a:t>0.9813</a:t>
                      </a:r>
                    </a:p>
                  </a:txBody>
                  <a:tcPr>
                    <a:solidFill>
                      <a:srgbClr val="1E2A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  <a:latin typeface="Segoe UI"/>
                        </a:rPr>
                        <a:t>0.9989</a:t>
                      </a:r>
                    </a:p>
                  </a:txBody>
                  <a:tcPr>
                    <a:solidFill>
                      <a:srgbClr val="1E2A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11727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  <a:latin typeface="Segoe UI"/>
                        </a:rPr>
                        <a:t>7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  <a:latin typeface="Segoe UI"/>
                        </a:rPr>
                        <a:t>0.0055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  <a:latin typeface="Segoe UI"/>
                        </a:rPr>
                        <a:t>96.86%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  <a:latin typeface="Segoe UI"/>
                        </a:rPr>
                        <a:t>0.9792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  <a:latin typeface="Segoe UI"/>
                        </a:rPr>
                        <a:t>0.9994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  <a:latin typeface="Segoe UI"/>
                        </a:rPr>
                        <a:t>0.9598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  <a:latin typeface="Segoe UI"/>
                        </a:rPr>
                        <a:t>0.9990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11727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  <a:latin typeface="Segoe UI"/>
                        </a:rPr>
                        <a:t>8</a:t>
                      </a:r>
                    </a:p>
                  </a:txBody>
                  <a:tcPr>
                    <a:solidFill>
                      <a:srgbClr val="1E2A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  <a:latin typeface="Segoe UI"/>
                        </a:rPr>
                        <a:t>0.0020</a:t>
                      </a:r>
                    </a:p>
                  </a:txBody>
                  <a:tcPr>
                    <a:solidFill>
                      <a:srgbClr val="1E2A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  <a:latin typeface="Segoe UI"/>
                        </a:rPr>
                        <a:t>98.60%</a:t>
                      </a:r>
                    </a:p>
                  </a:txBody>
                  <a:tcPr>
                    <a:solidFill>
                      <a:srgbClr val="1E2A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  <a:latin typeface="Segoe UI"/>
                        </a:rPr>
                        <a:t>0.9908</a:t>
                      </a:r>
                    </a:p>
                  </a:txBody>
                  <a:tcPr>
                    <a:solidFill>
                      <a:srgbClr val="1E2A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  <a:latin typeface="Segoe UI"/>
                        </a:rPr>
                        <a:t>0.9989</a:t>
                      </a:r>
                    </a:p>
                  </a:txBody>
                  <a:tcPr>
                    <a:solidFill>
                      <a:srgbClr val="1E2A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  <a:latin typeface="Segoe UI"/>
                        </a:rPr>
                        <a:t>0.9829</a:t>
                      </a:r>
                    </a:p>
                  </a:txBody>
                  <a:tcPr>
                    <a:solidFill>
                      <a:srgbClr val="1E2A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  <a:latin typeface="Segoe UI"/>
                        </a:rPr>
                        <a:t>0.9992</a:t>
                      </a:r>
                    </a:p>
                  </a:txBody>
                  <a:tcPr>
                    <a:solidFill>
                      <a:srgbClr val="1E2A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11727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  <a:latin typeface="Segoe UI"/>
                        </a:rPr>
                        <a:t>9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  <a:latin typeface="Segoe UI"/>
                        </a:rPr>
                        <a:t>0.0020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  <a:latin typeface="Segoe UI"/>
                        </a:rPr>
                        <a:t>98.47%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  <a:latin typeface="Segoe UI"/>
                        </a:rPr>
                        <a:t>0.9900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  <a:latin typeface="Segoe UI"/>
                        </a:rPr>
                        <a:t>0.9994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  <a:latin typeface="Segoe UI"/>
                        </a:rPr>
                        <a:t>0.9807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  <a:latin typeface="Segoe UI"/>
                        </a:rPr>
                        <a:t>0.9988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1173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  <a:latin typeface="Segoe UI"/>
                        </a:rPr>
                        <a:t>10</a:t>
                      </a:r>
                    </a:p>
                  </a:txBody>
                  <a:tcPr>
                    <a:solidFill>
                      <a:srgbClr val="1E2A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  <a:latin typeface="Segoe UI"/>
                        </a:rPr>
                        <a:t>0.0003</a:t>
                      </a:r>
                    </a:p>
                  </a:txBody>
                  <a:tcPr>
                    <a:solidFill>
                      <a:srgbClr val="1E2A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  <a:latin typeface="Segoe UI"/>
                        </a:rPr>
                        <a:t>98.31%</a:t>
                      </a:r>
                    </a:p>
                  </a:txBody>
                  <a:tcPr>
                    <a:solidFill>
                      <a:srgbClr val="1E2A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  <a:latin typeface="Segoe UI"/>
                        </a:rPr>
                        <a:t>0.9889</a:t>
                      </a:r>
                    </a:p>
                  </a:txBody>
                  <a:tcPr>
                    <a:solidFill>
                      <a:srgbClr val="1E2A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  <a:latin typeface="Segoe UI"/>
                        </a:rPr>
                        <a:t>0.9989</a:t>
                      </a:r>
                    </a:p>
                  </a:txBody>
                  <a:tcPr>
                    <a:solidFill>
                      <a:srgbClr val="1E2A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  <a:latin typeface="Segoe UI"/>
                        </a:rPr>
                        <a:t>0.9791</a:t>
                      </a:r>
                    </a:p>
                  </a:txBody>
                  <a:tcPr>
                    <a:solidFill>
                      <a:srgbClr val="1E2A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  <a:latin typeface="Segoe UI"/>
                        </a:rPr>
                        <a:t>0.9934</a:t>
                      </a:r>
                    </a:p>
                  </a:txBody>
                  <a:tcPr>
                    <a:solidFill>
                      <a:srgbClr val="1E2A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320040" y="4754880"/>
            <a:ext cx="3703320" cy="19202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320040" y="4754880"/>
            <a:ext cx="3703320" cy="82296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84632" y="4864608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6D6A0"/>
                </a:solidFill>
                <a:latin typeface="Segoe UI"/>
              </a:rPr>
              <a:t>Best (Epoch 5)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5303520"/>
            <a:ext cx="3246120" cy="36576"/>
          </a:xfrm>
          <a:prstGeom prst="rect">
            <a:avLst/>
          </a:prstGeom>
          <a:solidFill>
            <a:srgbClr val="334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84632" y="5376672"/>
            <a:ext cx="338328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CCCCCC"/>
                </a:solidFill>
                <a:latin typeface="Segoe UI"/>
              </a:rPr>
              <a:t>Accuracy = 98.69%
F1 = 0.9914
ROC-AUC = 0.9987
MedR: top performance
across all epochs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78807" y="4754880"/>
            <a:ext cx="3703320" cy="19202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178807" y="4754880"/>
            <a:ext cx="3703320" cy="82296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343399" y="4864608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0B4D8"/>
                </a:solidFill>
                <a:latin typeface="Segoe UI"/>
              </a:rPr>
              <a:t>Precision Near-Perfect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07407" y="5303520"/>
            <a:ext cx="3246120" cy="36576"/>
          </a:xfrm>
          <a:prstGeom prst="rect">
            <a:avLst/>
          </a:prstGeom>
          <a:solidFill>
            <a:srgbClr val="334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343399" y="5376672"/>
            <a:ext cx="338328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CCCCCC"/>
                </a:solidFill>
                <a:latin typeface="Segoe UI"/>
              </a:rPr>
              <a:t>Precision ≥ 0.996
throughout all epochs
Predicting 'metaphorical'
is almost always correct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37575" y="4754880"/>
            <a:ext cx="3703320" cy="19202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8037575" y="4754880"/>
            <a:ext cx="3703320" cy="82296"/>
          </a:xfrm>
          <a:prstGeom prst="rect">
            <a:avLst/>
          </a:prstGeom>
          <a:solidFill>
            <a:srgbClr val="EF47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202167" y="4864608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EF476F"/>
                </a:solidFill>
                <a:latin typeface="Segoe UI"/>
              </a:rPr>
              <a:t>Error Pattern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66175" y="5303520"/>
            <a:ext cx="3246120" cy="36576"/>
          </a:xfrm>
          <a:prstGeom prst="rect">
            <a:avLst/>
          </a:prstGeom>
          <a:solidFill>
            <a:srgbClr val="334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202167" y="5376672"/>
            <a:ext cx="338328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CCCCCC"/>
                </a:solidFill>
                <a:latin typeface="Segoe UI"/>
              </a:rPr>
              <a:t>Epoch 7 recall drop
0.9598 despite ~0 loss
False negatives dominate:
metaphorical captions
worded as literal</a:t>
            </a:r>
          </a:p>
        </p:txBody>
      </p:sp>
      <p:sp>
        <p:nvSpPr>
          <p:cNvPr id="23" name="Rectangle 1">
            <a:extLst>
              <a:ext uri="{FF2B5EF4-FFF2-40B4-BE49-F238E27FC236}">
                <a16:creationId xmlns:a16="http://schemas.microsoft.com/office/drawing/2014/main" id="{7D5575C5-0960-F49A-BF4C-F5EDB1868FA4}"/>
              </a:ext>
            </a:extLst>
          </p:cNvPr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201168" y="0"/>
            <a:ext cx="11987784" cy="73152"/>
          </a:xfrm>
          <a:prstGeom prst="rect">
            <a:avLst/>
          </a:prstGeom>
          <a:solidFill>
            <a:srgbClr val="0F3A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201168" y="109728"/>
            <a:ext cx="11987784" cy="658368"/>
          </a:xfrm>
          <a:prstGeom prst="rect">
            <a:avLst/>
          </a:prstGeom>
          <a:solidFill>
            <a:srgbClr val="0F3A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11480" y="128016"/>
            <a:ext cx="105156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Segoe UI"/>
              </a:rPr>
              <a:t>Ablation Study  &amp;  SigLIP 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804672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 i="0">
                <a:solidFill>
                  <a:srgbClr val="90E0EF"/>
                </a:solidFill>
                <a:latin typeface="Segoe UI"/>
              </a:rPr>
              <a:t>34 additional CLIP runs across fusion type, hidden dim, dropout  ·  SigLIP gated attention (5 epochs)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234440"/>
            <a:ext cx="5577840" cy="29718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128016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77DFF"/>
                </a:solidFill>
                <a:latin typeface="Segoe UI"/>
              </a:rPr>
              <a:t>CLIP Ablation — Multi-seed Results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10094459"/>
              </p:ext>
            </p:extLst>
          </p:nvPr>
        </p:nvGraphicFramePr>
        <p:xfrm>
          <a:off x="320039" y="1664208"/>
          <a:ext cx="5577839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936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1715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1715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7651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3308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4026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52374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Segoe UI"/>
                        </a:rPr>
                        <a:t>Fusion</a:t>
                      </a:r>
                    </a:p>
                  </a:txBody>
                  <a:tcPr>
                    <a:solidFill>
                      <a:srgbClr val="2A00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Segoe UI"/>
                        </a:rPr>
                        <a:t>Hidden</a:t>
                      </a:r>
                    </a:p>
                  </a:txBody>
                  <a:tcPr>
                    <a:solidFill>
                      <a:srgbClr val="2A00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Segoe UI"/>
                        </a:rPr>
                        <a:t>Dropout</a:t>
                      </a:r>
                    </a:p>
                  </a:txBody>
                  <a:tcPr>
                    <a:solidFill>
                      <a:srgbClr val="2A00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Segoe UI"/>
                        </a:rPr>
                        <a:t>Mean Acc</a:t>
                      </a:r>
                    </a:p>
                  </a:txBody>
                  <a:tcPr>
                    <a:solidFill>
                      <a:srgbClr val="2A00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Segoe UI"/>
                        </a:rPr>
                        <a:t>Mean F1</a:t>
                      </a:r>
                    </a:p>
                  </a:txBody>
                  <a:tcPr>
                    <a:solidFill>
                      <a:srgbClr val="2A00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Segoe UI"/>
                        </a:rPr>
                        <a:t>Std F1</a:t>
                      </a:r>
                    </a:p>
                  </a:txBody>
                  <a:tcPr>
                    <a:solidFill>
                      <a:srgbClr val="2A00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2374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  <a:latin typeface="Segoe UI"/>
                        </a:rPr>
                        <a:t>Cross-Attn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  <a:latin typeface="Segoe UI"/>
                        </a:rPr>
                        <a:t>512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  <a:latin typeface="Segoe UI"/>
                        </a:rPr>
                        <a:t>0.1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  <a:latin typeface="Segoe UI"/>
                        </a:rPr>
                        <a:t>97.01%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  <a:latin typeface="Segoe UI"/>
                        </a:rPr>
                        <a:t>0.980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  <a:latin typeface="Segoe UI"/>
                        </a:rPr>
                        <a:t>0.006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2374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  <a:latin typeface="Segoe UI"/>
                        </a:rPr>
                        <a:t>Bilinear</a:t>
                      </a:r>
                    </a:p>
                  </a:txBody>
                  <a:tcPr>
                    <a:solidFill>
                      <a:srgbClr val="1E2A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  <a:latin typeface="Segoe UI"/>
                        </a:rPr>
                        <a:t>512</a:t>
                      </a:r>
                    </a:p>
                  </a:txBody>
                  <a:tcPr>
                    <a:solidFill>
                      <a:srgbClr val="1E2A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  <a:latin typeface="Segoe UI"/>
                        </a:rPr>
                        <a:t>0.1</a:t>
                      </a:r>
                    </a:p>
                  </a:txBody>
                  <a:tcPr>
                    <a:solidFill>
                      <a:srgbClr val="1E2A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  <a:latin typeface="Segoe UI"/>
                        </a:rPr>
                        <a:t>97.85%</a:t>
                      </a:r>
                    </a:p>
                  </a:txBody>
                  <a:tcPr>
                    <a:solidFill>
                      <a:srgbClr val="1E2A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  <a:latin typeface="Segoe UI"/>
                        </a:rPr>
                        <a:t>0.985</a:t>
                      </a:r>
                    </a:p>
                  </a:txBody>
                  <a:tcPr>
                    <a:solidFill>
                      <a:srgbClr val="1E2A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  <a:latin typeface="Segoe UI"/>
                        </a:rPr>
                        <a:t>0.004</a:t>
                      </a:r>
                    </a:p>
                  </a:txBody>
                  <a:tcPr>
                    <a:solidFill>
                      <a:srgbClr val="1E2A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2374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  <a:latin typeface="Segoe UI"/>
                        </a:rPr>
                        <a:t>Bilinear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  <a:latin typeface="Segoe UI"/>
                        </a:rPr>
                        <a:t>1024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  <a:latin typeface="Segoe UI"/>
                        </a:rPr>
                        <a:t>0.3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  <a:latin typeface="Segoe UI"/>
                        </a:rPr>
                        <a:t>98.09%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  <a:latin typeface="Segoe UI"/>
                        </a:rPr>
                        <a:t>0.987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  <a:latin typeface="Segoe UI"/>
                        </a:rPr>
                        <a:t>0.004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2376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6D6A0"/>
                          </a:solidFill>
                          <a:latin typeface="Segoe UI"/>
                        </a:rPr>
                        <a:t>Bilinear</a:t>
                      </a:r>
                    </a:p>
                  </a:txBody>
                  <a:tcPr>
                    <a:solidFill>
                      <a:srgbClr val="05301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6D6A0"/>
                          </a:solidFill>
                          <a:latin typeface="Segoe UI"/>
                        </a:rPr>
                        <a:t>512</a:t>
                      </a:r>
                    </a:p>
                  </a:txBody>
                  <a:tcPr>
                    <a:solidFill>
                      <a:srgbClr val="05301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6D6A0"/>
                          </a:solidFill>
                          <a:latin typeface="Segoe UI"/>
                        </a:rPr>
                        <a:t>0.3</a:t>
                      </a:r>
                    </a:p>
                  </a:txBody>
                  <a:tcPr>
                    <a:solidFill>
                      <a:srgbClr val="05301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6D6A0"/>
                          </a:solidFill>
                          <a:latin typeface="Segoe UI"/>
                        </a:rPr>
                        <a:t>98.19%</a:t>
                      </a:r>
                    </a:p>
                  </a:txBody>
                  <a:tcPr>
                    <a:solidFill>
                      <a:srgbClr val="05301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06D6A0"/>
                          </a:solidFill>
                          <a:latin typeface="Segoe UI"/>
                        </a:rPr>
                        <a:t>0.988</a:t>
                      </a:r>
                    </a:p>
                  </a:txBody>
                  <a:tcPr>
                    <a:solidFill>
                      <a:srgbClr val="05301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06D6A0"/>
                          </a:solidFill>
                          <a:latin typeface="Segoe UI"/>
                        </a:rPr>
                        <a:t>0.003</a:t>
                      </a:r>
                    </a:p>
                  </a:txBody>
                  <a:tcPr>
                    <a:solidFill>
                      <a:srgbClr val="05301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94548" y="3235829"/>
            <a:ext cx="5303520" cy="6503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dirty="0">
                <a:solidFill>
                  <a:srgbClr val="CCCCCC"/>
                </a:solidFill>
                <a:latin typeface="Segoe UI"/>
              </a:rPr>
              <a:t>  •  Bilinear &gt; Cross-Attention in F1 and stability</a:t>
            </a:r>
          </a:p>
          <a:p>
            <a:pPr algn="l">
              <a:lnSpc>
                <a:spcPct val="125000"/>
              </a:lnSpc>
            </a:pPr>
            <a:r>
              <a:rPr sz="1000" dirty="0">
                <a:solidFill>
                  <a:srgbClr val="CCCCCC"/>
                </a:solidFill>
                <a:latin typeface="Segoe UI"/>
              </a:rPr>
              <a:t>  •  dropout 0.3 &gt; 0.1  (frozen backbone → more regularization helps)</a:t>
            </a:r>
          </a:p>
          <a:p>
            <a:pPr algn="l">
              <a:lnSpc>
                <a:spcPct val="125000"/>
              </a:lnSpc>
            </a:pPr>
            <a:r>
              <a:rPr sz="1000" dirty="0">
                <a:solidFill>
                  <a:srgbClr val="CCCCCC"/>
                </a:solidFill>
                <a:latin typeface="Segoe UI"/>
              </a:rPr>
              <a:t>  •  hidden 1024 brings no gain over 512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26480" y="1234440"/>
            <a:ext cx="5577840" cy="29718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263640" y="128016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77DFF"/>
                </a:solidFill>
                <a:latin typeface="Segoe UI"/>
              </a:rPr>
              <a:t>SigLIP ViT-B/16 + Gated Attention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6126480" y="1664208"/>
          <a:ext cx="557784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5908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Segoe UI"/>
                        </a:rPr>
                        <a:t>Epoch</a:t>
                      </a:r>
                    </a:p>
                  </a:txBody>
                  <a:tcPr>
                    <a:solidFill>
                      <a:srgbClr val="2A00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FFFFFF"/>
                          </a:solidFill>
                          <a:latin typeface="Segoe UI"/>
                        </a:rPr>
                        <a:t>Accuracy</a:t>
                      </a:r>
                    </a:p>
                  </a:txBody>
                  <a:tcPr>
                    <a:solidFill>
                      <a:srgbClr val="2A00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Segoe UI"/>
                        </a:rPr>
                        <a:t>F1</a:t>
                      </a:r>
                    </a:p>
                  </a:txBody>
                  <a:tcPr>
                    <a:solidFill>
                      <a:srgbClr val="2A00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Segoe UI"/>
                        </a:rPr>
                        <a:t>ROC-AUC</a:t>
                      </a:r>
                    </a:p>
                  </a:txBody>
                  <a:tcPr>
                    <a:solidFill>
                      <a:srgbClr val="2A00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908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6D6A0"/>
                          </a:solidFill>
                          <a:latin typeface="Segoe UI"/>
                        </a:rPr>
                        <a:t>1 ★</a:t>
                      </a:r>
                    </a:p>
                  </a:txBody>
                  <a:tcPr>
                    <a:solidFill>
                      <a:srgbClr val="05301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6D6A0"/>
                          </a:solidFill>
                          <a:latin typeface="Segoe UI"/>
                        </a:rPr>
                        <a:t>97.17%</a:t>
                      </a:r>
                    </a:p>
                  </a:txBody>
                  <a:tcPr>
                    <a:solidFill>
                      <a:srgbClr val="05301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6D6A0"/>
                          </a:solidFill>
                          <a:latin typeface="Segoe UI"/>
                        </a:rPr>
                        <a:t>0.9812</a:t>
                      </a:r>
                    </a:p>
                  </a:txBody>
                  <a:tcPr>
                    <a:solidFill>
                      <a:srgbClr val="05301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6D6A0"/>
                          </a:solidFill>
                          <a:latin typeface="Segoe UI"/>
                        </a:rPr>
                        <a:t>0.9981</a:t>
                      </a:r>
                    </a:p>
                  </a:txBody>
                  <a:tcPr>
                    <a:solidFill>
                      <a:srgbClr val="05301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908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  <a:latin typeface="Segoe UI"/>
                        </a:rPr>
                        <a:t>2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  <a:latin typeface="Segoe UI"/>
                        </a:rPr>
                        <a:t>97.08%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  <a:latin typeface="Segoe UI"/>
                        </a:rPr>
                        <a:t>0.9807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  <a:latin typeface="Segoe UI"/>
                        </a:rPr>
                        <a:t>0.9754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908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  <a:latin typeface="Segoe UI"/>
                        </a:rPr>
                        <a:t>3</a:t>
                      </a:r>
                    </a:p>
                  </a:txBody>
                  <a:tcPr>
                    <a:solidFill>
                      <a:srgbClr val="1E2A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  <a:latin typeface="Segoe UI"/>
                        </a:rPr>
                        <a:t>97.04%</a:t>
                      </a:r>
                    </a:p>
                  </a:txBody>
                  <a:tcPr>
                    <a:solidFill>
                      <a:srgbClr val="1E2A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  <a:latin typeface="Segoe UI"/>
                        </a:rPr>
                        <a:t>0.9804</a:t>
                      </a:r>
                    </a:p>
                  </a:txBody>
                  <a:tcPr>
                    <a:solidFill>
                      <a:srgbClr val="1E2A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  <a:latin typeface="Segoe UI"/>
                        </a:rPr>
                        <a:t>0.9716</a:t>
                      </a:r>
                    </a:p>
                  </a:txBody>
                  <a:tcPr>
                    <a:solidFill>
                      <a:srgbClr val="1E2A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908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  <a:latin typeface="Segoe UI"/>
                        </a:rPr>
                        <a:t>4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  <a:latin typeface="Segoe UI"/>
                        </a:rPr>
                        <a:t>97.12%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  <a:latin typeface="Segoe UI"/>
                        </a:rPr>
                        <a:t>0.9810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  <a:latin typeface="Segoe UI"/>
                        </a:rPr>
                        <a:t>0.9742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908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  <a:latin typeface="Segoe UI"/>
                        </a:rPr>
                        <a:t>5</a:t>
                      </a:r>
                    </a:p>
                  </a:txBody>
                  <a:tcPr>
                    <a:solidFill>
                      <a:srgbClr val="1E2A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  <a:latin typeface="Segoe UI"/>
                        </a:rPr>
                        <a:t>96.83%</a:t>
                      </a:r>
                    </a:p>
                  </a:txBody>
                  <a:tcPr>
                    <a:solidFill>
                      <a:srgbClr val="1E2A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  <a:latin typeface="Segoe UI"/>
                        </a:rPr>
                        <a:t>0.9790</a:t>
                      </a:r>
                    </a:p>
                  </a:txBody>
                  <a:tcPr>
                    <a:solidFill>
                      <a:srgbClr val="1E2A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>
                          <a:solidFill>
                            <a:srgbClr val="FFFFFF"/>
                          </a:solidFill>
                          <a:latin typeface="Segoe UI"/>
                        </a:rPr>
                        <a:t>0.9845</a:t>
                      </a:r>
                    </a:p>
                  </a:txBody>
                  <a:tcPr>
                    <a:solidFill>
                      <a:srgbClr val="1E2A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6263640" y="3291840"/>
            <a:ext cx="5303520" cy="8427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dirty="0">
                <a:solidFill>
                  <a:srgbClr val="CCCCCC"/>
                </a:solidFill>
                <a:latin typeface="Segoe UI"/>
              </a:rPr>
              <a:t>  •  Best at epoch 1 — saturates very quickly</a:t>
            </a:r>
          </a:p>
          <a:p>
            <a:pPr algn="l">
              <a:lnSpc>
                <a:spcPct val="125000"/>
              </a:lnSpc>
            </a:pPr>
            <a:r>
              <a:rPr sz="1000" dirty="0">
                <a:solidFill>
                  <a:srgbClr val="CCCCCC"/>
                </a:solidFill>
                <a:latin typeface="Segoe UI"/>
              </a:rPr>
              <a:t>  •  ROC-AUC declines steadily (0.9981 → 0.9716)</a:t>
            </a:r>
          </a:p>
          <a:p>
            <a:pPr algn="l">
              <a:lnSpc>
                <a:spcPct val="125000"/>
              </a:lnSpc>
            </a:pPr>
            <a:r>
              <a:rPr sz="1000" dirty="0">
                <a:solidFill>
                  <a:srgbClr val="CCCCCC"/>
                </a:solidFill>
                <a:latin typeface="Segoe UI"/>
              </a:rPr>
              <a:t>  •  FP stays near 0 throughout (FP ≤ 3)</a:t>
            </a:r>
          </a:p>
          <a:p>
            <a:pPr algn="l">
              <a:lnSpc>
                <a:spcPct val="125000"/>
              </a:lnSpc>
            </a:pPr>
            <a:r>
              <a:rPr sz="1000" dirty="0">
                <a:solidFill>
                  <a:srgbClr val="CCCCCC"/>
                </a:solidFill>
                <a:latin typeface="Segoe UI"/>
              </a:rPr>
              <a:t>  •  FN = main error source (65–73 missed metaphorical captions)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" y="4315968"/>
            <a:ext cx="11548872" cy="14173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320040" y="4315968"/>
            <a:ext cx="11548872" cy="73152"/>
          </a:xfrm>
          <a:prstGeom prst="rect">
            <a:avLst/>
          </a:prstGeom>
          <a:solidFill>
            <a:srgbClr val="C77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75488" y="4443983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77DFF"/>
                </a:solidFill>
                <a:latin typeface="Segoe UI"/>
              </a:rPr>
              <a:t>Key Insight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5488" y="4818888"/>
            <a:ext cx="1120140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CCCCCC"/>
                </a:solidFill>
                <a:latin typeface="Segoe UI"/>
              </a:rPr>
              <a:t>Both models learn the same error pattern: precision near-perfect, recall limited by metaphorical captions that are phrased in a visually plausible way.  CLIP bilinear converges more stably across 10 epochs; SigLIP gated attention saturates at epoch 1.</a:t>
            </a:r>
          </a:p>
        </p:txBody>
      </p:sp>
      <p:sp>
        <p:nvSpPr>
          <p:cNvPr id="19" name="Rectangle 1">
            <a:extLst>
              <a:ext uri="{FF2B5EF4-FFF2-40B4-BE49-F238E27FC236}">
                <a16:creationId xmlns:a16="http://schemas.microsoft.com/office/drawing/2014/main" id="{09C9145C-19D8-E0B0-2880-3EE09937F1A8}"/>
              </a:ext>
            </a:extLst>
          </p:cNvPr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201168" y="0"/>
            <a:ext cx="11987784" cy="73152"/>
          </a:xfrm>
          <a:prstGeom prst="rect">
            <a:avLst/>
          </a:prstGeom>
          <a:solidFill>
            <a:srgbClr val="0F3A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201168" y="109728"/>
            <a:ext cx="11987784" cy="658368"/>
          </a:xfrm>
          <a:prstGeom prst="rect">
            <a:avLst/>
          </a:prstGeom>
          <a:solidFill>
            <a:srgbClr val="0F3A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11480" y="128016"/>
            <a:ext cx="105156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Segoe UI"/>
              </a:rPr>
              <a:t>Overall Comparison &amp; Key Findings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804672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 i="0">
                <a:solidFill>
                  <a:srgbClr val="90E0EF"/>
                </a:solidFill>
                <a:latin typeface="Segoe UI"/>
              </a:rPr>
              <a:t>Task 2.2 — Literal vs. Metaphorical Caption Classification summary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43584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77DFF"/>
                </a:solidFill>
                <a:latin typeface="Segoe UI"/>
              </a:rPr>
              <a:t>Model Comparison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627632"/>
          <a:ext cx="11457432" cy="868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76479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Model</a:t>
                      </a:r>
                    </a:p>
                  </a:txBody>
                  <a:tcPr>
                    <a:solidFill>
                      <a:srgbClr val="2A00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Backbone</a:t>
                      </a:r>
                    </a:p>
                  </a:txBody>
                  <a:tcPr>
                    <a:solidFill>
                      <a:srgbClr val="2A00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Fusion</a:t>
                      </a:r>
                    </a:p>
                  </a:txBody>
                  <a:tcPr>
                    <a:solidFill>
                      <a:srgbClr val="2A00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Best Acc</a:t>
                      </a:r>
                    </a:p>
                  </a:txBody>
                  <a:tcPr>
                    <a:solidFill>
                      <a:srgbClr val="2A00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Best F1</a:t>
                      </a:r>
                    </a:p>
                  </a:txBody>
                  <a:tcPr>
                    <a:solidFill>
                      <a:srgbClr val="2A00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ROC-AUC</a:t>
                      </a:r>
                    </a:p>
                  </a:txBody>
                  <a:tcPr>
                    <a:solidFill>
                      <a:srgbClr val="2A00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06D6A0"/>
                          </a:solidFill>
                          <a:latin typeface="Segoe UI"/>
                        </a:rPr>
                        <a:t>CLIP Bilinear ★</a:t>
                      </a:r>
                    </a:p>
                  </a:txBody>
                  <a:tcPr>
                    <a:solidFill>
                      <a:srgbClr val="05301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06D6A0"/>
                          </a:solidFill>
                          <a:latin typeface="Segoe UI"/>
                        </a:rPr>
                        <a:t>CLIP ViT-B/32 (512-d)</a:t>
                      </a:r>
                    </a:p>
                  </a:txBody>
                  <a:tcPr>
                    <a:solidFill>
                      <a:srgbClr val="05301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06D6A0"/>
                          </a:solidFill>
                          <a:latin typeface="Segoe UI"/>
                        </a:rPr>
                        <a:t>Bilinear</a:t>
                      </a:r>
                    </a:p>
                  </a:txBody>
                  <a:tcPr>
                    <a:solidFill>
                      <a:srgbClr val="05301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06D6A0"/>
                          </a:solidFill>
                          <a:latin typeface="Segoe UI"/>
                        </a:rPr>
                        <a:t>98.69%</a:t>
                      </a:r>
                    </a:p>
                  </a:txBody>
                  <a:tcPr>
                    <a:solidFill>
                      <a:srgbClr val="05301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06D6A0"/>
                          </a:solidFill>
                          <a:latin typeface="Segoe UI"/>
                        </a:rPr>
                        <a:t>0.9914</a:t>
                      </a:r>
                    </a:p>
                  </a:txBody>
                  <a:tcPr>
                    <a:solidFill>
                      <a:srgbClr val="05301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06D6A0"/>
                          </a:solidFill>
                          <a:latin typeface="Segoe UI"/>
                        </a:rPr>
                        <a:t>0.9987</a:t>
                      </a:r>
                    </a:p>
                  </a:txBody>
                  <a:tcPr>
                    <a:solidFill>
                      <a:srgbClr val="05301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SigLIP Gated</a:t>
                      </a:r>
                    </a:p>
                  </a:txBody>
                  <a:tcPr>
                    <a:solidFill>
                      <a:srgbClr val="1E2A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SigLIP ViT-B/16 (768-d)</a:t>
                      </a:r>
                    </a:p>
                  </a:txBody>
                  <a:tcPr>
                    <a:solidFill>
                      <a:srgbClr val="1E2A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Gated Attn</a:t>
                      </a:r>
                    </a:p>
                  </a:txBody>
                  <a:tcPr>
                    <a:solidFill>
                      <a:srgbClr val="1E2A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97.17%</a:t>
                      </a:r>
                    </a:p>
                  </a:txBody>
                  <a:tcPr>
                    <a:solidFill>
                      <a:srgbClr val="1E2A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0.9812</a:t>
                      </a:r>
                    </a:p>
                  </a:txBody>
                  <a:tcPr>
                    <a:solidFill>
                      <a:srgbClr val="1E2A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0.9981</a:t>
                      </a:r>
                    </a:p>
                  </a:txBody>
                  <a:tcPr>
                    <a:solidFill>
                      <a:srgbClr val="1E2A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320040" y="2578608"/>
            <a:ext cx="3697224" cy="21488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20040" y="2578608"/>
            <a:ext cx="3697224" cy="82296"/>
          </a:xfrm>
          <a:prstGeom prst="rect">
            <a:avLst/>
          </a:prstGeom>
          <a:solidFill>
            <a:srgbClr val="C77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84632" y="2688336"/>
            <a:ext cx="344119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C77DFF"/>
                </a:solidFill>
                <a:latin typeface="Segoe UI"/>
              </a:rPr>
              <a:t>Bilinear Fusion Wins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3163824"/>
            <a:ext cx="3240024" cy="36576"/>
          </a:xfrm>
          <a:prstGeom prst="rect">
            <a:avLst/>
          </a:prstGeom>
          <a:solidFill>
            <a:srgbClr val="334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84632" y="3236976"/>
            <a:ext cx="3441192" cy="12772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 dirty="0">
                <a:solidFill>
                  <a:srgbClr val="CCCCCC"/>
                </a:solidFill>
                <a:latin typeface="Segoe UI"/>
              </a:rPr>
              <a:t>CLIP bilinear &gt; </a:t>
            </a:r>
            <a:r>
              <a:rPr sz="1100" b="0" i="0" dirty="0" err="1">
                <a:solidFill>
                  <a:srgbClr val="CCCCCC"/>
                </a:solidFill>
                <a:latin typeface="Segoe UI"/>
              </a:rPr>
              <a:t>SigLIP</a:t>
            </a:r>
            <a:r>
              <a:rPr sz="1100" b="0" i="0" dirty="0">
                <a:solidFill>
                  <a:srgbClr val="CCCCCC"/>
                </a:solidFill>
                <a:latin typeface="Segoe UI"/>
              </a:rPr>
              <a:t> gated
on all metrics despite lower-
dimensional embeddings
(512-d vs 768-d).
Multiplicative interaction
better than convex blend.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45864" y="2578608"/>
            <a:ext cx="3697224" cy="21488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245864" y="2578608"/>
            <a:ext cx="3697224" cy="82296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410456" y="2688336"/>
            <a:ext cx="344119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6D6A0"/>
                </a:solidFill>
                <a:latin typeface="Segoe UI"/>
              </a:rPr>
              <a:t>Near-Perfect Precision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474464" y="3163824"/>
            <a:ext cx="3240024" cy="36576"/>
          </a:xfrm>
          <a:prstGeom prst="rect">
            <a:avLst/>
          </a:prstGeom>
          <a:solidFill>
            <a:srgbClr val="334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410456" y="3236976"/>
            <a:ext cx="3441192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 dirty="0">
                <a:solidFill>
                  <a:srgbClr val="CCCCCC"/>
                </a:solidFill>
                <a:latin typeface="Segoe UI"/>
              </a:rPr>
              <a:t>Precision ≥ 0.996 across
all models and epochs.
False positives are
extremely rare.
When model says
'metaphorical', it's right.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171688" y="2578608"/>
            <a:ext cx="3697224" cy="21488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8171688" y="2578608"/>
            <a:ext cx="3697224" cy="82296"/>
          </a:xfrm>
          <a:prstGeom prst="rect">
            <a:avLst/>
          </a:prstGeom>
          <a:solidFill>
            <a:srgbClr val="FF92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336280" y="2688336"/>
            <a:ext cx="344119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9214"/>
                </a:solidFill>
                <a:latin typeface="Segoe UI"/>
              </a:rPr>
              <a:t>False Negatives Dominate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400288" y="3163824"/>
            <a:ext cx="3240024" cy="36576"/>
          </a:xfrm>
          <a:prstGeom prst="rect">
            <a:avLst/>
          </a:prstGeom>
          <a:solidFill>
            <a:srgbClr val="334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336280" y="3236976"/>
            <a:ext cx="3441192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 dirty="0">
                <a:solidFill>
                  <a:srgbClr val="CCCCCC"/>
                </a:solidFill>
                <a:latin typeface="Segoe UI"/>
              </a:rPr>
              <a:t>Residual error = metaphorical
captions worded literally.
Ironic / understated language
that CLIP reads as literal.
Hard cases: surface phrasing
diverges from intent.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0040" y="4828032"/>
            <a:ext cx="11548872" cy="10058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320040" y="4828032"/>
            <a:ext cx="11548872" cy="73152"/>
          </a:xfrm>
          <a:prstGeom prst="rect">
            <a:avLst/>
          </a:prstGeom>
          <a:solidFill>
            <a:srgbClr val="FFD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75488" y="4937760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D600"/>
                </a:solidFill>
                <a:latin typeface="Segoe UI"/>
              </a:rPr>
              <a:t>Why the task is easy for these models: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5488" y="5303520"/>
            <a:ext cx="11201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CCCCCC"/>
                </a:solidFill>
                <a:latin typeface="Segoe UI"/>
              </a:rPr>
              <a:t>Literal img_captions are exactly the image-aligned text CLIP/SigLIP were contrastively pretrained on — they sit close to their images in embedding space.  Metaphorical meme_captions deviate from visual content and sit further away.  The classifier effectively learns to threshold this embedding-space distance.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20040" y="5943600"/>
            <a:ext cx="11548872" cy="749808"/>
          </a:xfrm>
          <a:prstGeom prst="rect">
            <a:avLst/>
          </a:prstGeom>
          <a:solidFill>
            <a:srgbClr val="0F3A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320040" y="5943600"/>
            <a:ext cx="11548872" cy="73152"/>
          </a:xfrm>
          <a:prstGeom prst="rect">
            <a:avLst/>
          </a:prstGeom>
          <a:solidFill>
            <a:srgbClr val="C77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475488" y="6044184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77DFF"/>
                </a:solidFill>
                <a:latin typeface="Segoe UI"/>
              </a:rPr>
              <a:t>Best configuration: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71800" y="6044184"/>
            <a:ext cx="87782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CCCCCC"/>
                </a:solidFill>
                <a:latin typeface="Segoe UI"/>
              </a:rPr>
              <a:t>CLIP ViT-B/32  ·  Bilinear fusion  ·  hidden=512  ·  dropout=0.3   →   mean F1 = 0.988,  best single-run F1 = 0.9914</a:t>
            </a:r>
          </a:p>
        </p:txBody>
      </p:sp>
      <p:sp>
        <p:nvSpPr>
          <p:cNvPr id="32" name="Rectangle 1">
            <a:extLst>
              <a:ext uri="{FF2B5EF4-FFF2-40B4-BE49-F238E27FC236}">
                <a16:creationId xmlns:a16="http://schemas.microsoft.com/office/drawing/2014/main" id="{1F2F1B14-130A-4C30-2C81-18B5F6C80D38}"/>
              </a:ext>
            </a:extLst>
          </p:cNvPr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FD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87784" cy="73152"/>
          </a:xfrm>
          <a:prstGeom prst="rect">
            <a:avLst/>
          </a:prstGeom>
          <a:solidFill>
            <a:srgbClr val="0F3A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201168" y="73152"/>
            <a:ext cx="11987784" cy="1005840"/>
          </a:xfrm>
          <a:prstGeom prst="rect">
            <a:avLst/>
          </a:prstGeom>
          <a:solidFill>
            <a:srgbClr val="0F3A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5486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Segoe UI"/>
              </a:rPr>
              <a:t>CMPE 597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713232"/>
            <a:ext cx="9144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90E0EF"/>
                </a:solidFill>
                <a:latin typeface="Segoe UI"/>
              </a:rPr>
              <a:t>Deep Learning  —  Term Project  |  Group 13  |  Spring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325880"/>
            <a:ext cx="3657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D600"/>
                </a:solidFill>
                <a:latin typeface="Segoe UI"/>
              </a:rPr>
              <a:t>Moving to Final Task: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828800"/>
            <a:ext cx="3657600" cy="42062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411480" y="1828800"/>
            <a:ext cx="3657600" cy="109728"/>
          </a:xfrm>
          <a:prstGeom prst="rect">
            <a:avLst/>
          </a:prstGeom>
          <a:solidFill>
            <a:srgbClr val="3344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48640" y="1975104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334455"/>
                </a:solidFill>
                <a:latin typeface="Segoe UI"/>
              </a:rPr>
              <a:t>Task 2.1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423160"/>
            <a:ext cx="34747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900" b="1" i="0">
                <a:solidFill>
                  <a:srgbClr val="668866"/>
                </a:solidFill>
                <a:latin typeface="Segoe UI"/>
              </a:rPr>
              <a:t>Cross-Modal Retrieval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3090672"/>
            <a:ext cx="3108960" cy="36576"/>
          </a:xfrm>
          <a:prstGeom prst="rect">
            <a:avLst/>
          </a:prstGeom>
          <a:solidFill>
            <a:srgbClr val="3344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02920" y="3182112"/>
            <a:ext cx="3474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CCCCCC"/>
                </a:solidFill>
                <a:latin typeface="Segoe UI"/>
              </a:rPr>
              <a:t>Given a meme image &amp; title,
retrieve the matching caption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0120" y="5029200"/>
            <a:ext cx="2560320" cy="438912"/>
          </a:xfrm>
          <a:prstGeom prst="rect">
            <a:avLst/>
          </a:prstGeom>
          <a:solidFill>
            <a:srgbClr val="1A3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05840" y="5082033"/>
            <a:ext cx="2468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 dirty="0">
                <a:solidFill>
                  <a:srgbClr val="66CC66"/>
                </a:solidFill>
                <a:latin typeface="Segoe UI"/>
              </a:rPr>
              <a:t>✓  Completed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97680" y="1828800"/>
            <a:ext cx="3657600" cy="42062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4297680" y="1828800"/>
            <a:ext cx="3657600" cy="109728"/>
          </a:xfrm>
          <a:prstGeom prst="rect">
            <a:avLst/>
          </a:prstGeom>
          <a:solidFill>
            <a:srgbClr val="3333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434840" y="1975104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333355"/>
                </a:solidFill>
                <a:latin typeface="Segoe UI"/>
              </a:rPr>
              <a:t>Task 2.2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120" y="2423160"/>
            <a:ext cx="34747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900" b="1" i="0">
                <a:solidFill>
                  <a:srgbClr val="668866"/>
                </a:solidFill>
                <a:latin typeface="Segoe UI"/>
              </a:rPr>
              <a:t>Literal vs. Metaphorical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0" y="3090672"/>
            <a:ext cx="3108960" cy="36576"/>
          </a:xfrm>
          <a:prstGeom prst="rect">
            <a:avLst/>
          </a:prstGeom>
          <a:solidFill>
            <a:srgbClr val="3333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389120" y="3182112"/>
            <a:ext cx="3474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CCCCCC"/>
                </a:solidFill>
                <a:latin typeface="Segoe UI"/>
              </a:rPr>
              <a:t>Is the caption a literal
or metaphorical description?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846320" y="5029200"/>
            <a:ext cx="2560320" cy="438912"/>
          </a:xfrm>
          <a:prstGeom prst="rect">
            <a:avLst/>
          </a:prstGeom>
          <a:solidFill>
            <a:srgbClr val="1A3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892040" y="5090500"/>
            <a:ext cx="2468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66CC66"/>
                </a:solidFill>
                <a:latin typeface="Segoe UI"/>
              </a:rPr>
              <a:t>✓  Completed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183879" y="1828800"/>
            <a:ext cx="3657600" cy="42062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8183879" y="1828800"/>
            <a:ext cx="3657600" cy="109728"/>
          </a:xfrm>
          <a:prstGeom prst="rect">
            <a:avLst/>
          </a:prstGeom>
          <a:solidFill>
            <a:srgbClr val="FFD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321040" y="1975104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D600"/>
                </a:solidFill>
                <a:latin typeface="Segoe UI"/>
              </a:rPr>
              <a:t>Task 2.3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75319" y="2423160"/>
            <a:ext cx="34747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900" b="1" i="0">
                <a:solidFill>
                  <a:srgbClr val="FFFFFF"/>
                </a:solidFill>
                <a:latin typeface="Segoe UI"/>
              </a:rPr>
              <a:t>Sentiment Classification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458200" y="3090672"/>
            <a:ext cx="3108960" cy="36576"/>
          </a:xfrm>
          <a:prstGeom prst="rect">
            <a:avLst/>
          </a:prstGeom>
          <a:solidFill>
            <a:srgbClr val="FFD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275319" y="3182112"/>
            <a:ext cx="3474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CCCCCC"/>
                </a:solidFill>
                <a:latin typeface="Segoe UI"/>
              </a:rPr>
              <a:t>7-class emotion recognition
from meme images &amp; captions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732519" y="5029200"/>
            <a:ext cx="2560320" cy="438912"/>
          </a:xfrm>
          <a:prstGeom prst="rect">
            <a:avLst/>
          </a:prstGeom>
          <a:solidFill>
            <a:srgbClr val="FFD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778240" y="5090500"/>
            <a:ext cx="246888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 dirty="0">
                <a:solidFill>
                  <a:srgbClr val="1A1A2E"/>
                </a:solidFill>
                <a:latin typeface="Segoe UI"/>
              </a:rPr>
              <a:t>▶</a:t>
            </a:r>
            <a:r>
              <a:rPr lang="tr-TR" sz="1300" b="1" i="0" dirty="0">
                <a:solidFill>
                  <a:srgbClr val="1A1A2E"/>
                </a:solidFill>
                <a:latin typeface="Segoe UI"/>
              </a:rPr>
              <a:t> </a:t>
            </a:r>
            <a:r>
              <a:rPr lang="tr-TR" sz="1300" b="1" i="0" dirty="0" err="1">
                <a:solidFill>
                  <a:srgbClr val="1A1A2E"/>
                </a:solidFill>
                <a:latin typeface="Segoe UI"/>
              </a:rPr>
              <a:t>Current</a:t>
            </a:r>
            <a:r>
              <a:rPr lang="tr-TR" sz="1300" b="1" i="0" dirty="0">
                <a:solidFill>
                  <a:srgbClr val="1A1A2E"/>
                </a:solidFill>
                <a:latin typeface="Segoe UI"/>
              </a:rPr>
              <a:t> Presentation</a:t>
            </a:r>
            <a:endParaRPr sz="1300" b="1" i="0" dirty="0">
              <a:solidFill>
                <a:srgbClr val="1A1A2E"/>
              </a:solidFill>
              <a:latin typeface="Segoe UI"/>
            </a:endParaRPr>
          </a:p>
        </p:txBody>
      </p:sp>
      <p:sp>
        <p:nvSpPr>
          <p:cNvPr id="32" name="Rectangle 31"/>
          <p:cNvSpPr/>
          <p:nvPr/>
        </p:nvSpPr>
        <p:spPr>
          <a:xfrm>
            <a:off x="320040" y="6263640"/>
            <a:ext cx="11612880" cy="457200"/>
          </a:xfrm>
          <a:prstGeom prst="rect">
            <a:avLst/>
          </a:prstGeom>
          <a:solidFill>
            <a:srgbClr val="0A0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457200" y="6309360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0E0EF"/>
                </a:solidFill>
                <a:latin typeface="Segoe UI"/>
              </a:rPr>
              <a:t>Dataset:  MemeCap  (5,823 train · 559 test)   |   Backbone:  CLIP ViT-B/32 (frozen)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201168" y="0"/>
            <a:ext cx="11987784" cy="73152"/>
          </a:xfrm>
          <a:prstGeom prst="rect">
            <a:avLst/>
          </a:prstGeom>
          <a:solidFill>
            <a:srgbClr val="0F3A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201168" y="109728"/>
            <a:ext cx="11987784" cy="658368"/>
          </a:xfrm>
          <a:prstGeom prst="rect">
            <a:avLst/>
          </a:prstGeom>
          <a:solidFill>
            <a:srgbClr val="0F3A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11480" y="128016"/>
            <a:ext cx="10515600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 dirty="0">
                <a:solidFill>
                  <a:srgbClr val="FFFFFF"/>
                </a:solidFill>
                <a:latin typeface="Segoe UI"/>
              </a:rPr>
              <a:t>Sentiment Annotation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804672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 i="0">
                <a:solidFill>
                  <a:srgbClr val="90E0EF"/>
                </a:solidFill>
                <a:latin typeface="Segoe UI"/>
              </a:rPr>
              <a:t>Automated labelling with j-hartmann/emotion-english-distilroberta-base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234440"/>
            <a:ext cx="5394960" cy="50749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1280160"/>
            <a:ext cx="5029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D600"/>
                </a:solidFill>
                <a:latin typeface="Segoe UI"/>
              </a:rPr>
              <a:t>Annotation Pipeline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719072"/>
            <a:ext cx="5166360" cy="41512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dirty="0">
                <a:solidFill>
                  <a:srgbClr val="CCCCCC"/>
                </a:solidFill>
                <a:latin typeface="Segoe UI"/>
              </a:rPr>
              <a:t>  •  Model: </a:t>
            </a:r>
            <a:r>
              <a:rPr sz="1300" dirty="0" err="1">
                <a:solidFill>
                  <a:srgbClr val="CCCCCC"/>
                </a:solidFill>
                <a:latin typeface="Segoe UI"/>
              </a:rPr>
              <a:t>DistilRoBERTa</a:t>
            </a:r>
            <a:r>
              <a:rPr sz="1300" dirty="0">
                <a:solidFill>
                  <a:srgbClr val="CCCCCC"/>
                </a:solidFill>
                <a:latin typeface="Segoe UI"/>
              </a:rPr>
              <a:t> fine-tuned</a:t>
            </a:r>
            <a:endParaRPr lang="tr-TR" sz="1300" dirty="0">
              <a:solidFill>
                <a:srgbClr val="CCCCCC"/>
              </a:solidFill>
              <a:latin typeface="Segoe UI"/>
            </a:endParaRPr>
          </a:p>
          <a:p>
            <a:pPr algn="l">
              <a:lnSpc>
                <a:spcPct val="120000"/>
              </a:lnSpc>
            </a:pPr>
            <a:r>
              <a:rPr lang="tr-TR" sz="1300" dirty="0">
                <a:solidFill>
                  <a:srgbClr val="CCCCCC"/>
                </a:solidFill>
                <a:latin typeface="Segoe UI"/>
              </a:rPr>
              <a:t>  •    on 7-class </a:t>
            </a:r>
            <a:r>
              <a:rPr lang="tr-TR" sz="1300" dirty="0" err="1">
                <a:solidFill>
                  <a:srgbClr val="CCCCCC"/>
                </a:solidFill>
                <a:latin typeface="Segoe UI"/>
              </a:rPr>
              <a:t>emotion</a:t>
            </a:r>
            <a:r>
              <a:rPr lang="tr-TR" sz="1300" dirty="0">
                <a:solidFill>
                  <a:srgbClr val="CCCCCC"/>
                </a:solidFill>
                <a:latin typeface="Segoe UI"/>
              </a:rPr>
              <a:t> </a:t>
            </a:r>
            <a:r>
              <a:rPr lang="tr-TR" sz="1300" dirty="0" err="1">
                <a:solidFill>
                  <a:srgbClr val="CCCCCC"/>
                </a:solidFill>
                <a:latin typeface="Segoe UI"/>
              </a:rPr>
              <a:t>corpus</a:t>
            </a:r>
            <a:endParaRPr lang="tr-TR" sz="1300" dirty="0">
              <a:solidFill>
                <a:srgbClr val="CCCCCC"/>
              </a:solidFill>
              <a:latin typeface="Segoe UI"/>
            </a:endParaRPr>
          </a:p>
          <a:p>
            <a:pPr algn="l">
              <a:lnSpc>
                <a:spcPct val="120000"/>
              </a:lnSpc>
            </a:pPr>
            <a:r>
              <a:rPr sz="1300" dirty="0">
                <a:solidFill>
                  <a:srgbClr val="CCCCCC"/>
                </a:solidFill>
                <a:latin typeface="Segoe UI"/>
              </a:rPr>
              <a:t>  •  7 classes: anger, disgust, fear,</a:t>
            </a:r>
            <a:endParaRPr lang="tr-TR" sz="1300" dirty="0">
              <a:solidFill>
                <a:srgbClr val="CCCCCC"/>
              </a:solidFill>
              <a:latin typeface="Segoe UI"/>
            </a:endParaRPr>
          </a:p>
          <a:p>
            <a:pPr algn="l">
              <a:lnSpc>
                <a:spcPct val="120000"/>
              </a:lnSpc>
            </a:pPr>
            <a:r>
              <a:rPr lang="tr-TR" sz="1300" dirty="0">
                <a:solidFill>
                  <a:srgbClr val="CCCCCC"/>
                </a:solidFill>
                <a:latin typeface="Segoe UI"/>
              </a:rPr>
              <a:t>  •    </a:t>
            </a:r>
            <a:r>
              <a:rPr lang="tr-TR" sz="1300" dirty="0" err="1">
                <a:solidFill>
                  <a:srgbClr val="CCCCCC"/>
                </a:solidFill>
                <a:latin typeface="Segoe UI"/>
              </a:rPr>
              <a:t>joy</a:t>
            </a:r>
            <a:r>
              <a:rPr lang="tr-TR" sz="1300" dirty="0">
                <a:solidFill>
                  <a:srgbClr val="CCCCCC"/>
                </a:solidFill>
                <a:latin typeface="Segoe UI"/>
              </a:rPr>
              <a:t>, </a:t>
            </a:r>
            <a:r>
              <a:rPr lang="tr-TR" sz="1300" dirty="0" err="1">
                <a:solidFill>
                  <a:srgbClr val="CCCCCC"/>
                </a:solidFill>
                <a:latin typeface="Segoe UI"/>
              </a:rPr>
              <a:t>neutral</a:t>
            </a:r>
            <a:r>
              <a:rPr lang="tr-TR" sz="1300" dirty="0">
                <a:solidFill>
                  <a:srgbClr val="CCCCCC"/>
                </a:solidFill>
                <a:latin typeface="Segoe UI"/>
              </a:rPr>
              <a:t>, </a:t>
            </a:r>
            <a:r>
              <a:rPr lang="tr-TR" sz="1300" dirty="0" err="1">
                <a:solidFill>
                  <a:srgbClr val="CCCCCC"/>
                </a:solidFill>
                <a:latin typeface="Segoe UI"/>
              </a:rPr>
              <a:t>sadness</a:t>
            </a:r>
            <a:r>
              <a:rPr lang="tr-TR" sz="1300" dirty="0">
                <a:solidFill>
                  <a:srgbClr val="CCCCCC"/>
                </a:solidFill>
                <a:latin typeface="Segoe UI"/>
              </a:rPr>
              <a:t>, </a:t>
            </a:r>
            <a:r>
              <a:rPr lang="tr-TR" sz="1300" dirty="0" err="1">
                <a:solidFill>
                  <a:srgbClr val="CCCCCC"/>
                </a:solidFill>
                <a:latin typeface="Segoe UI"/>
              </a:rPr>
              <a:t>surprise</a:t>
            </a:r>
            <a:endParaRPr lang="tr-TR" sz="1300" dirty="0">
              <a:solidFill>
                <a:srgbClr val="CCCCCC"/>
              </a:solidFill>
              <a:latin typeface="Segoe UI"/>
            </a:endParaRPr>
          </a:p>
          <a:p>
            <a:pPr algn="l">
              <a:lnSpc>
                <a:spcPct val="120000"/>
              </a:lnSpc>
            </a:pPr>
            <a:r>
              <a:rPr sz="1300" b="1" dirty="0">
                <a:solidFill>
                  <a:srgbClr val="00B4D8"/>
                </a:solidFill>
                <a:latin typeface="Segoe UI"/>
              </a:rPr>
              <a:t>──────────────────────────</a:t>
            </a:r>
          </a:p>
          <a:p>
            <a:pPr algn="l">
              <a:lnSpc>
                <a:spcPct val="120000"/>
              </a:lnSpc>
            </a:pPr>
            <a:r>
              <a:rPr sz="1300" dirty="0">
                <a:solidFill>
                  <a:srgbClr val="CCCCCC"/>
                </a:solidFill>
                <a:latin typeface="Segoe UI"/>
              </a:rPr>
              <a:t>  •  Pipeline:</a:t>
            </a:r>
          </a:p>
          <a:p>
            <a:pPr algn="l">
              <a:lnSpc>
                <a:spcPct val="120000"/>
              </a:lnSpc>
            </a:pPr>
            <a:r>
              <a:rPr sz="1300" dirty="0">
                <a:solidFill>
                  <a:srgbClr val="CCCCCC"/>
                </a:solidFill>
                <a:latin typeface="Segoe UI"/>
              </a:rPr>
              <a:t>  •    1. Sanitize</a:t>
            </a:r>
            <a:r>
              <a:rPr lang="tr-TR" sz="1300" dirty="0">
                <a:solidFill>
                  <a:srgbClr val="CCCCCC"/>
                </a:solidFill>
                <a:latin typeface="Segoe UI"/>
              </a:rPr>
              <a:t> meme</a:t>
            </a:r>
            <a:r>
              <a:rPr sz="1300" dirty="0">
                <a:solidFill>
                  <a:srgbClr val="CCCCCC"/>
                </a:solidFill>
                <a:latin typeface="Segoe UI"/>
              </a:rPr>
              <a:t> captions</a:t>
            </a:r>
            <a:endParaRPr lang="tr-TR" sz="1300" dirty="0">
              <a:solidFill>
                <a:srgbClr val="CCCCCC"/>
              </a:solidFill>
              <a:latin typeface="Segoe UI"/>
            </a:endParaRPr>
          </a:p>
          <a:p>
            <a:pPr algn="l">
              <a:lnSpc>
                <a:spcPct val="120000"/>
              </a:lnSpc>
            </a:pPr>
            <a:r>
              <a:rPr lang="tr-TR" sz="1300" dirty="0">
                <a:solidFill>
                  <a:srgbClr val="CCCCCC"/>
                </a:solidFill>
                <a:latin typeface="Segoe UI"/>
              </a:rPr>
              <a:t>  •       (150+ </a:t>
            </a:r>
            <a:r>
              <a:rPr lang="tr-TR" sz="1300" dirty="0" err="1">
                <a:solidFill>
                  <a:srgbClr val="CCCCCC"/>
                </a:solidFill>
                <a:latin typeface="Segoe UI"/>
              </a:rPr>
              <a:t>replacement</a:t>
            </a:r>
            <a:r>
              <a:rPr lang="tr-TR" sz="1300" dirty="0">
                <a:solidFill>
                  <a:srgbClr val="CCCCCC"/>
                </a:solidFill>
                <a:latin typeface="Segoe UI"/>
              </a:rPr>
              <a:t> </a:t>
            </a:r>
            <a:r>
              <a:rPr lang="tr-TR" sz="1300" dirty="0" err="1">
                <a:solidFill>
                  <a:srgbClr val="CCCCCC"/>
                </a:solidFill>
                <a:latin typeface="Segoe UI"/>
              </a:rPr>
              <a:t>rules</a:t>
            </a:r>
            <a:r>
              <a:rPr lang="tr-TR" sz="1300" dirty="0">
                <a:solidFill>
                  <a:srgbClr val="CCCCCC"/>
                </a:solidFill>
                <a:latin typeface="Segoe UI"/>
              </a:rPr>
              <a:t>)</a:t>
            </a:r>
          </a:p>
          <a:p>
            <a:pPr algn="l">
              <a:lnSpc>
                <a:spcPct val="120000"/>
              </a:lnSpc>
            </a:pPr>
            <a:r>
              <a:rPr sz="1300" dirty="0">
                <a:solidFill>
                  <a:srgbClr val="CCCCCC"/>
                </a:solidFill>
                <a:latin typeface="Segoe UI"/>
              </a:rPr>
              <a:t>  •    2. Classify first caption</a:t>
            </a:r>
          </a:p>
          <a:p>
            <a:pPr algn="l">
              <a:lnSpc>
                <a:spcPct val="120000"/>
              </a:lnSpc>
            </a:pPr>
            <a:r>
              <a:rPr sz="1300" dirty="0">
                <a:solidFill>
                  <a:srgbClr val="CCCCCC"/>
                </a:solidFill>
                <a:latin typeface="Segoe UI"/>
              </a:rPr>
              <a:t>  •    3. Majority-vote on multi-caption memes</a:t>
            </a:r>
          </a:p>
          <a:p>
            <a:pPr algn="l">
              <a:lnSpc>
                <a:spcPct val="120000"/>
              </a:lnSpc>
            </a:pPr>
            <a:r>
              <a:rPr sz="1300" dirty="0">
                <a:solidFill>
                  <a:srgbClr val="CCCCCC"/>
                </a:solidFill>
                <a:latin typeface="Segoe UI"/>
              </a:rPr>
              <a:t>  •    4. Save score + label per sample</a:t>
            </a:r>
          </a:p>
          <a:p>
            <a:pPr algn="l">
              <a:lnSpc>
                <a:spcPct val="120000"/>
              </a:lnSpc>
            </a:pPr>
            <a:r>
              <a:rPr sz="1300" b="1" dirty="0">
                <a:solidFill>
                  <a:srgbClr val="00B4D8"/>
                </a:solidFill>
                <a:latin typeface="Segoe UI"/>
              </a:rPr>
              <a:t>──────────────────────────</a:t>
            </a:r>
          </a:p>
          <a:p>
            <a:pPr algn="l">
              <a:lnSpc>
                <a:spcPct val="120000"/>
              </a:lnSpc>
            </a:pPr>
            <a:r>
              <a:rPr sz="1300" dirty="0">
                <a:solidFill>
                  <a:srgbClr val="CCCCCC"/>
                </a:solidFill>
                <a:latin typeface="Segoe UI"/>
              </a:rPr>
              <a:t>  •  Quality check (50 samples):</a:t>
            </a:r>
          </a:p>
          <a:p>
            <a:pPr algn="l">
              <a:lnSpc>
                <a:spcPct val="120000"/>
              </a:lnSpc>
            </a:pPr>
            <a:r>
              <a:rPr sz="1300" dirty="0">
                <a:solidFill>
                  <a:srgbClr val="CCCCCC"/>
                </a:solidFill>
                <a:latin typeface="Segoe UI"/>
              </a:rPr>
              <a:t>  •    score ≥ 0.85  →  reliable</a:t>
            </a:r>
          </a:p>
          <a:p>
            <a:pPr algn="l">
              <a:lnSpc>
                <a:spcPct val="120000"/>
              </a:lnSpc>
            </a:pPr>
            <a:r>
              <a:rPr sz="1300" dirty="0">
                <a:solidFill>
                  <a:srgbClr val="CCCCCC"/>
                </a:solidFill>
                <a:latin typeface="Segoe UI"/>
              </a:rPr>
              <a:t>  •    score &lt; 0.50  →  ~8-12% mislabel rate</a:t>
            </a:r>
          </a:p>
          <a:p>
            <a:pPr algn="l">
              <a:lnSpc>
                <a:spcPct val="120000"/>
              </a:lnSpc>
            </a:pPr>
            <a:r>
              <a:rPr sz="1300" dirty="0">
                <a:solidFill>
                  <a:srgbClr val="CCCCCC"/>
                </a:solidFill>
                <a:latin typeface="Segoe UI"/>
              </a:rPr>
              <a:t>  •    Main errors: sarcasm, irony</a:t>
            </a:r>
          </a:p>
          <a:p>
            <a:pPr algn="l">
              <a:lnSpc>
                <a:spcPct val="120000"/>
              </a:lnSpc>
            </a:pPr>
            <a:r>
              <a:rPr sz="1300" dirty="0">
                <a:solidFill>
                  <a:srgbClr val="CCCCCC"/>
                </a:solidFill>
                <a:latin typeface="Segoe UI"/>
              </a:rPr>
              <a:t>  •    → label smoothing used in 2.3(c)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89320" y="1234440"/>
            <a:ext cx="5897880" cy="50749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126480" y="1280160"/>
            <a:ext cx="5577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D600"/>
                </a:solidFill>
                <a:latin typeface="Segoe UI"/>
              </a:rPr>
              <a:t>Class Distribution  (Train: 5,823 samples)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5989320" y="1691640"/>
          <a:ext cx="5897880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48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91465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Emotion</a:t>
                      </a:r>
                    </a:p>
                  </a:txBody>
                  <a:tcPr>
                    <a:solidFill>
                      <a:srgbClr val="403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Count</a:t>
                      </a:r>
                    </a:p>
                  </a:txBody>
                  <a:tcPr>
                    <a:solidFill>
                      <a:srgbClr val="403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Train %</a:t>
                      </a:r>
                    </a:p>
                  </a:txBody>
                  <a:tcPr>
                    <a:solidFill>
                      <a:srgbClr val="403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1465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neutral</a:t>
                      </a:r>
                    </a:p>
                  </a:txBody>
                  <a:tcPr>
                    <a:solidFill>
                      <a:srgbClr val="1E2A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2,153</a:t>
                      </a:r>
                    </a:p>
                  </a:txBody>
                  <a:tcPr>
                    <a:solidFill>
                      <a:srgbClr val="1E2A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37.0%</a:t>
                      </a:r>
                    </a:p>
                  </a:txBody>
                  <a:tcPr>
                    <a:solidFill>
                      <a:srgbClr val="1E2A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1465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anger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  959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16.5%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1465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sadness</a:t>
                      </a:r>
                    </a:p>
                  </a:txBody>
                  <a:tcPr>
                    <a:solidFill>
                      <a:srgbClr val="1E2A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  860</a:t>
                      </a:r>
                    </a:p>
                  </a:txBody>
                  <a:tcPr>
                    <a:solidFill>
                      <a:srgbClr val="1E2A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14.8%</a:t>
                      </a:r>
                    </a:p>
                  </a:txBody>
                  <a:tcPr>
                    <a:solidFill>
                      <a:srgbClr val="1E2A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1465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joy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  621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10.7%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1465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surprise</a:t>
                      </a:r>
                    </a:p>
                  </a:txBody>
                  <a:tcPr>
                    <a:solidFill>
                      <a:srgbClr val="1E2A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  495</a:t>
                      </a:r>
                    </a:p>
                  </a:txBody>
                  <a:tcPr>
                    <a:solidFill>
                      <a:srgbClr val="1E2A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8.5%</a:t>
                      </a:r>
                    </a:p>
                  </a:txBody>
                  <a:tcPr>
                    <a:solidFill>
                      <a:srgbClr val="1E2A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91465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disgust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  393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6.7%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91465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fear</a:t>
                      </a:r>
                    </a:p>
                  </a:txBody>
                  <a:tcPr>
                    <a:solidFill>
                      <a:srgbClr val="1E2A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  342</a:t>
                      </a:r>
                    </a:p>
                  </a:txBody>
                  <a:tcPr>
                    <a:solidFill>
                      <a:srgbClr val="1E2A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5.9%</a:t>
                      </a:r>
                    </a:p>
                  </a:txBody>
                  <a:tcPr>
                    <a:solidFill>
                      <a:srgbClr val="1E2A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6126480" y="4096512"/>
            <a:ext cx="55778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dirty="0">
                <a:solidFill>
                  <a:srgbClr val="CCCCCC"/>
                </a:solidFill>
                <a:latin typeface="Segoe UI"/>
              </a:rPr>
              <a:t>  •  Imbalance ratio: 6.30× (train) · 9.20× (test)</a:t>
            </a:r>
          </a:p>
          <a:p>
            <a:pPr algn="l">
              <a:lnSpc>
                <a:spcPct val="120000"/>
              </a:lnSpc>
            </a:pPr>
            <a:r>
              <a:rPr sz="1300" dirty="0">
                <a:solidFill>
                  <a:srgbClr val="CCCCCC"/>
                </a:solidFill>
                <a:latin typeface="Segoe UI"/>
              </a:rPr>
              <a:t>  •  Shannon entropy: 2.516 / 2.807 (uniform)</a:t>
            </a:r>
          </a:p>
          <a:p>
            <a:pPr algn="l">
              <a:lnSpc>
                <a:spcPct val="120000"/>
              </a:lnSpc>
            </a:pPr>
            <a:r>
              <a:rPr sz="1300" dirty="0">
                <a:solidFill>
                  <a:srgbClr val="CCCCCC"/>
                </a:solidFill>
                <a:latin typeface="Segoe UI"/>
              </a:rPr>
              <a:t>  •  neutral dominates — addressed with</a:t>
            </a:r>
          </a:p>
          <a:p>
            <a:pPr algn="l">
              <a:lnSpc>
                <a:spcPct val="120000"/>
              </a:lnSpc>
            </a:pPr>
            <a:r>
              <a:rPr sz="1300" dirty="0">
                <a:solidFill>
                  <a:srgbClr val="CCCCCC"/>
                </a:solidFill>
                <a:latin typeface="Segoe UI"/>
              </a:rPr>
              <a:t>  •    class-weighted loss + weighted sampler</a:t>
            </a:r>
          </a:p>
          <a:p>
            <a:pPr algn="l">
              <a:lnSpc>
                <a:spcPct val="120000"/>
              </a:lnSpc>
            </a:pPr>
            <a:r>
              <a:rPr sz="1300" b="1" dirty="0">
                <a:solidFill>
                  <a:srgbClr val="00B4D8"/>
                </a:solidFill>
                <a:latin typeface="Segoe UI"/>
              </a:rPr>
              <a:t>──────────────────────────</a:t>
            </a:r>
          </a:p>
          <a:p>
            <a:pPr algn="l">
              <a:lnSpc>
                <a:spcPct val="120000"/>
              </a:lnSpc>
            </a:pPr>
            <a:r>
              <a:rPr sz="1300" dirty="0">
                <a:solidFill>
                  <a:srgbClr val="CCCCCC"/>
                </a:solidFill>
                <a:latin typeface="Segoe UI"/>
              </a:rPr>
              <a:t>  •  Caption sanitizer removes:</a:t>
            </a:r>
          </a:p>
          <a:p>
            <a:pPr algn="l">
              <a:lnSpc>
                <a:spcPct val="120000"/>
              </a:lnSpc>
            </a:pPr>
            <a:r>
              <a:rPr sz="1300" dirty="0">
                <a:solidFill>
                  <a:srgbClr val="CCCCCC"/>
                </a:solidFill>
                <a:latin typeface="Segoe UI"/>
              </a:rPr>
              <a:t>  •    narrator framing, reporting verbs,</a:t>
            </a:r>
          </a:p>
          <a:p>
            <a:pPr algn="l">
              <a:lnSpc>
                <a:spcPct val="120000"/>
              </a:lnSpc>
            </a:pPr>
            <a:r>
              <a:rPr sz="1300" dirty="0">
                <a:solidFill>
                  <a:srgbClr val="CCCCCC"/>
                </a:solidFill>
                <a:latin typeface="Segoe UI"/>
              </a:rPr>
              <a:t>  •    hedging language  →  cleaner emotion signal</a:t>
            </a:r>
          </a:p>
        </p:txBody>
      </p:sp>
      <p:sp>
        <p:nvSpPr>
          <p:cNvPr id="14" name="Rectangle 1">
            <a:extLst>
              <a:ext uri="{FF2B5EF4-FFF2-40B4-BE49-F238E27FC236}">
                <a16:creationId xmlns:a16="http://schemas.microsoft.com/office/drawing/2014/main" id="{F559230A-7479-9670-8191-B17CE0F8CCC4}"/>
              </a:ext>
            </a:extLst>
          </p:cNvPr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FD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201168" y="0"/>
            <a:ext cx="11987784" cy="73152"/>
          </a:xfrm>
          <a:prstGeom prst="rect">
            <a:avLst/>
          </a:prstGeom>
          <a:solidFill>
            <a:srgbClr val="0F3A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201168" y="109728"/>
            <a:ext cx="11987784" cy="658368"/>
          </a:xfrm>
          <a:prstGeom prst="rect">
            <a:avLst/>
          </a:prstGeom>
          <a:solidFill>
            <a:srgbClr val="0F3A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11480" y="128016"/>
            <a:ext cx="10515600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 dirty="0">
                <a:solidFill>
                  <a:srgbClr val="FFFFFF"/>
                </a:solidFill>
                <a:latin typeface="Segoe UI"/>
              </a:rPr>
              <a:t>Unimodal MLP Probes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804672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 i="0">
                <a:solidFill>
                  <a:srgbClr val="90E0EF"/>
                </a:solidFill>
                <a:latin typeface="Segoe UI"/>
              </a:rPr>
              <a:t>How much does each modality carry alone?  CLIP frozen embeddings → 3-layer MLP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234440"/>
            <a:ext cx="5394960" cy="32918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1280160"/>
            <a:ext cx="5029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D600"/>
                </a:solidFill>
                <a:latin typeface="Segoe UI"/>
              </a:rPr>
              <a:t>Architecture &amp; Training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719072"/>
            <a:ext cx="51663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dirty="0">
                <a:solidFill>
                  <a:srgbClr val="CCCCCC"/>
                </a:solidFill>
                <a:latin typeface="Segoe UI"/>
              </a:rPr>
              <a:t>  •  CLIP </a:t>
            </a:r>
            <a:r>
              <a:rPr sz="1350" dirty="0" err="1">
                <a:solidFill>
                  <a:srgbClr val="CCCCCC"/>
                </a:solidFill>
                <a:latin typeface="Segoe UI"/>
              </a:rPr>
              <a:t>ViT</a:t>
            </a:r>
            <a:r>
              <a:rPr sz="1350" dirty="0">
                <a:solidFill>
                  <a:srgbClr val="CCCCCC"/>
                </a:solidFill>
                <a:latin typeface="Segoe UI"/>
              </a:rPr>
              <a:t>-B/32 embeddings (frozen, 512-d)</a:t>
            </a:r>
          </a:p>
          <a:p>
            <a:pPr algn="l">
              <a:lnSpc>
                <a:spcPct val="125000"/>
              </a:lnSpc>
            </a:pPr>
            <a:r>
              <a:rPr sz="1350" dirty="0">
                <a:solidFill>
                  <a:srgbClr val="CCCCCC"/>
                </a:solidFill>
                <a:latin typeface="Segoe UI"/>
              </a:rPr>
              <a:t>  •  MLP: 512 → 256 → 7 classes</a:t>
            </a:r>
          </a:p>
          <a:p>
            <a:pPr algn="l">
              <a:lnSpc>
                <a:spcPct val="125000"/>
              </a:lnSpc>
            </a:pPr>
            <a:r>
              <a:rPr sz="1350" dirty="0">
                <a:solidFill>
                  <a:srgbClr val="CCCCCC"/>
                </a:solidFill>
                <a:latin typeface="Segoe UI"/>
              </a:rPr>
              <a:t>  •  Optimizer: </a:t>
            </a:r>
            <a:r>
              <a:rPr sz="1350" dirty="0" err="1">
                <a:solidFill>
                  <a:srgbClr val="CCCCCC"/>
                </a:solidFill>
                <a:latin typeface="Segoe UI"/>
              </a:rPr>
              <a:t>AdamW</a:t>
            </a:r>
            <a:endParaRPr sz="1350" dirty="0">
              <a:solidFill>
                <a:srgbClr val="CCCCCC"/>
              </a:solidFill>
              <a:latin typeface="Segoe UI"/>
            </a:endParaRPr>
          </a:p>
          <a:p>
            <a:pPr algn="l">
              <a:lnSpc>
                <a:spcPct val="125000"/>
              </a:lnSpc>
            </a:pPr>
            <a:r>
              <a:rPr sz="1350" dirty="0">
                <a:solidFill>
                  <a:srgbClr val="CCCCCC"/>
                </a:solidFill>
                <a:latin typeface="Segoe UI"/>
              </a:rPr>
              <a:t>  •  Loss: cross-entropy + class weights</a:t>
            </a:r>
          </a:p>
          <a:p>
            <a:pPr algn="l">
              <a:lnSpc>
                <a:spcPct val="125000"/>
              </a:lnSpc>
            </a:pPr>
            <a:r>
              <a:rPr sz="1350" dirty="0">
                <a:solidFill>
                  <a:srgbClr val="CCCCCC"/>
                </a:solidFill>
                <a:latin typeface="Segoe UI"/>
              </a:rPr>
              <a:t>  •    (inverse frequency per class)</a:t>
            </a:r>
          </a:p>
          <a:p>
            <a:pPr algn="l">
              <a:lnSpc>
                <a:spcPct val="125000"/>
              </a:lnSpc>
            </a:pPr>
            <a:r>
              <a:rPr sz="1350" dirty="0">
                <a:solidFill>
                  <a:srgbClr val="CCCCCC"/>
                </a:solidFill>
                <a:latin typeface="Segoe UI"/>
              </a:rPr>
              <a:t>  •  Early stop: patience=10 on </a:t>
            </a:r>
            <a:r>
              <a:rPr sz="1350" dirty="0" err="1">
                <a:solidFill>
                  <a:srgbClr val="CCCCCC"/>
                </a:solidFill>
                <a:latin typeface="Segoe UI"/>
              </a:rPr>
              <a:t>val</a:t>
            </a:r>
            <a:r>
              <a:rPr sz="1350" dirty="0">
                <a:solidFill>
                  <a:srgbClr val="CCCCCC"/>
                </a:solidFill>
                <a:latin typeface="Segoe UI"/>
              </a:rPr>
              <a:t> Macro F1</a:t>
            </a:r>
          </a:p>
          <a:p>
            <a:pPr algn="l">
              <a:lnSpc>
                <a:spcPct val="125000"/>
              </a:lnSpc>
            </a:pPr>
            <a:r>
              <a:rPr sz="1350" dirty="0">
                <a:solidFill>
                  <a:srgbClr val="CCCCCC"/>
                </a:solidFill>
                <a:latin typeface="Segoe UI"/>
              </a:rPr>
              <a:t>  •  Split: 5,160 train / 504 </a:t>
            </a:r>
            <a:r>
              <a:rPr sz="1350" dirty="0" err="1">
                <a:solidFill>
                  <a:srgbClr val="CCCCCC"/>
                </a:solidFill>
                <a:latin typeface="Segoe UI"/>
              </a:rPr>
              <a:t>val</a:t>
            </a:r>
            <a:r>
              <a:rPr sz="1350" dirty="0">
                <a:solidFill>
                  <a:srgbClr val="CCCCCC"/>
                </a:solidFill>
                <a:latin typeface="Segoe UI"/>
              </a:rPr>
              <a:t> / 559 test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" y="4645152"/>
            <a:ext cx="5394960" cy="15544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57200" y="4690872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D600"/>
                </a:solidFill>
                <a:latin typeface="Segoe UI"/>
              </a:rPr>
              <a:t>Key Observation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084064"/>
            <a:ext cx="5166360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dirty="0">
                <a:solidFill>
                  <a:srgbClr val="CCCCCC"/>
                </a:solidFill>
                <a:latin typeface="Segoe UI"/>
              </a:rPr>
              <a:t>  •  Caption &gt;&gt; Image for most emotions</a:t>
            </a:r>
          </a:p>
          <a:p>
            <a:pPr algn="l">
              <a:lnSpc>
                <a:spcPct val="120000"/>
              </a:lnSpc>
            </a:pPr>
            <a:r>
              <a:rPr sz="1300" dirty="0">
                <a:solidFill>
                  <a:srgbClr val="CCCCCC"/>
                </a:solidFill>
                <a:latin typeface="Segoe UI"/>
              </a:rPr>
              <a:t>  •  Image fails on disgust (0.076) &amp;</a:t>
            </a:r>
          </a:p>
          <a:p>
            <a:pPr algn="l">
              <a:lnSpc>
                <a:spcPct val="120000"/>
              </a:lnSpc>
            </a:pPr>
            <a:r>
              <a:rPr sz="1300" dirty="0">
                <a:solidFill>
                  <a:srgbClr val="CCCCCC"/>
                </a:solidFill>
                <a:latin typeface="Segoe UI"/>
              </a:rPr>
              <a:t>  •    surprise (0.073) completely</a:t>
            </a:r>
          </a:p>
          <a:p>
            <a:pPr algn="l">
              <a:lnSpc>
                <a:spcPct val="120000"/>
              </a:lnSpc>
            </a:pPr>
            <a:r>
              <a:rPr sz="1300" dirty="0">
                <a:solidFill>
                  <a:srgbClr val="CCCCCC"/>
                </a:solidFill>
                <a:latin typeface="Segoe UI"/>
              </a:rPr>
              <a:t>  •  Both weak on neutral (~0.333)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89320" y="1234440"/>
            <a:ext cx="5897880" cy="4965192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126480" y="1280160"/>
            <a:ext cx="5577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D600"/>
                </a:solidFill>
                <a:latin typeface="Segoe UI"/>
              </a:rPr>
              <a:t>Results per Class  (F1)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5989320" y="1664208"/>
          <a:ext cx="5897880" cy="23957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087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9466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Class</a:t>
                      </a:r>
                    </a:p>
                  </a:txBody>
                  <a:tcPr>
                    <a:solidFill>
                      <a:srgbClr val="403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dirty="0">
                          <a:solidFill>
                            <a:srgbClr val="FFFFFF"/>
                          </a:solidFill>
                          <a:latin typeface="Segoe UI"/>
                        </a:rPr>
                        <a:t>Image MLP</a:t>
                      </a:r>
                    </a:p>
                  </a:txBody>
                  <a:tcPr>
                    <a:solidFill>
                      <a:srgbClr val="403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Caption MLP</a:t>
                      </a:r>
                    </a:p>
                  </a:txBody>
                  <a:tcPr>
                    <a:solidFill>
                      <a:srgbClr val="403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Δ</a:t>
                      </a:r>
                    </a:p>
                  </a:txBody>
                  <a:tcPr>
                    <a:solidFill>
                      <a:srgbClr val="403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9466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anger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dirty="0">
                          <a:solidFill>
                            <a:srgbClr val="FFFFFF"/>
                          </a:solidFill>
                          <a:latin typeface="Segoe UI"/>
                        </a:rPr>
                        <a:t>0.238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dirty="0">
                          <a:solidFill>
                            <a:srgbClr val="FFFFFF"/>
                          </a:solidFill>
                          <a:latin typeface="Segoe UI"/>
                        </a:rPr>
                        <a:t>0.402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+0.164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9466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disgust</a:t>
                      </a:r>
                    </a:p>
                  </a:txBody>
                  <a:tcPr>
                    <a:solidFill>
                      <a:srgbClr val="1E2A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0.076</a:t>
                      </a:r>
                    </a:p>
                  </a:txBody>
                  <a:tcPr>
                    <a:solidFill>
                      <a:srgbClr val="1E2A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0.176</a:t>
                      </a:r>
                    </a:p>
                  </a:txBody>
                  <a:tcPr>
                    <a:solidFill>
                      <a:srgbClr val="1E2A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+0.100</a:t>
                      </a:r>
                    </a:p>
                  </a:txBody>
                  <a:tcPr>
                    <a:solidFill>
                      <a:srgbClr val="1E2A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9466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fear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0.151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dirty="0">
                          <a:solidFill>
                            <a:srgbClr val="FFFFFF"/>
                          </a:solidFill>
                          <a:latin typeface="Segoe UI"/>
                        </a:rPr>
                        <a:t>0.386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+0.235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9466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joy</a:t>
                      </a:r>
                    </a:p>
                  </a:txBody>
                  <a:tcPr>
                    <a:solidFill>
                      <a:srgbClr val="1E2A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dirty="0">
                          <a:solidFill>
                            <a:srgbClr val="FFFFFF"/>
                          </a:solidFill>
                          <a:latin typeface="Segoe UI"/>
                        </a:rPr>
                        <a:t>0.239</a:t>
                      </a:r>
                    </a:p>
                  </a:txBody>
                  <a:tcPr>
                    <a:solidFill>
                      <a:srgbClr val="1E2A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0.428</a:t>
                      </a:r>
                    </a:p>
                  </a:txBody>
                  <a:tcPr>
                    <a:solidFill>
                      <a:srgbClr val="1E2A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+0.189</a:t>
                      </a:r>
                    </a:p>
                  </a:txBody>
                  <a:tcPr>
                    <a:solidFill>
                      <a:srgbClr val="1E2A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9466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neutral</a:t>
                      </a:r>
                    </a:p>
                  </a:txBody>
                  <a:tcPr>
                    <a:solidFill>
                      <a:srgbClr val="1E2A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0.333</a:t>
                      </a:r>
                    </a:p>
                  </a:txBody>
                  <a:tcPr>
                    <a:solidFill>
                      <a:srgbClr val="1E2A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0.335</a:t>
                      </a:r>
                    </a:p>
                  </a:txBody>
                  <a:tcPr>
                    <a:solidFill>
                      <a:srgbClr val="1E2A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+0.002</a:t>
                      </a:r>
                    </a:p>
                  </a:txBody>
                  <a:tcPr>
                    <a:solidFill>
                      <a:srgbClr val="1E2A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99466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06D6A0"/>
                          </a:solidFill>
                          <a:latin typeface="Segoe UI"/>
                        </a:rPr>
                        <a:t>sadness</a:t>
                      </a:r>
                    </a:p>
                  </a:txBody>
                  <a:tcPr>
                    <a:solidFill>
                      <a:srgbClr val="05301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06D6A0"/>
                          </a:solidFill>
                          <a:latin typeface="Segoe UI"/>
                        </a:rPr>
                        <a:t>0.278</a:t>
                      </a:r>
                    </a:p>
                  </a:txBody>
                  <a:tcPr>
                    <a:solidFill>
                      <a:srgbClr val="05301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06D6A0"/>
                          </a:solidFill>
                          <a:latin typeface="Segoe UI"/>
                        </a:rPr>
                        <a:t>0.485</a:t>
                      </a:r>
                    </a:p>
                  </a:txBody>
                  <a:tcPr>
                    <a:solidFill>
                      <a:srgbClr val="05301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06D6A0"/>
                          </a:solidFill>
                          <a:latin typeface="Segoe UI"/>
                        </a:rPr>
                        <a:t>+0.208</a:t>
                      </a:r>
                    </a:p>
                  </a:txBody>
                  <a:tcPr>
                    <a:solidFill>
                      <a:srgbClr val="05301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99466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surprise</a:t>
                      </a:r>
                    </a:p>
                  </a:txBody>
                  <a:tcPr>
                    <a:solidFill>
                      <a:srgbClr val="1E2A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0.073</a:t>
                      </a:r>
                    </a:p>
                  </a:txBody>
                  <a:tcPr>
                    <a:solidFill>
                      <a:srgbClr val="1E2A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dirty="0">
                          <a:solidFill>
                            <a:srgbClr val="FFFFFF"/>
                          </a:solidFill>
                          <a:latin typeface="Segoe UI"/>
                        </a:rPr>
                        <a:t>0.262</a:t>
                      </a:r>
                    </a:p>
                  </a:txBody>
                  <a:tcPr>
                    <a:solidFill>
                      <a:srgbClr val="1E2A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dirty="0">
                          <a:solidFill>
                            <a:srgbClr val="FFFFFF"/>
                          </a:solidFill>
                          <a:latin typeface="Segoe UI"/>
                        </a:rPr>
                        <a:t>+0.189</a:t>
                      </a:r>
                    </a:p>
                  </a:txBody>
                  <a:tcPr>
                    <a:solidFill>
                      <a:srgbClr val="1E2A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126480" y="4133087"/>
            <a:ext cx="5577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 i="0">
                <a:solidFill>
                  <a:srgbClr val="FFD600"/>
                </a:solidFill>
                <a:latin typeface="Segoe UI"/>
              </a:rPr>
              <a:t>Overall metrics: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5989320" y="4498848"/>
          <a:ext cx="5897880" cy="8458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68224"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Segoe UI"/>
                        </a:rPr>
                        <a:t>Model</a:t>
                      </a:r>
                    </a:p>
                  </a:txBody>
                  <a:tcPr>
                    <a:solidFill>
                      <a:srgbClr val="403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Segoe UI"/>
                        </a:rPr>
                        <a:t>Accuracy</a:t>
                      </a:r>
                    </a:p>
                  </a:txBody>
                  <a:tcPr>
                    <a:solidFill>
                      <a:srgbClr val="403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Segoe UI"/>
                        </a:rPr>
                        <a:t>Macro F1</a:t>
                      </a:r>
                    </a:p>
                  </a:txBody>
                  <a:tcPr>
                    <a:solidFill>
                      <a:srgbClr val="403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Segoe UI"/>
                        </a:rPr>
                        <a:t>Weighted F1</a:t>
                      </a:r>
                    </a:p>
                  </a:txBody>
                  <a:tcPr>
                    <a:solidFill>
                      <a:srgbClr val="403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8224"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FFFFFF"/>
                          </a:solidFill>
                          <a:latin typeface="Segoe UI"/>
                        </a:rPr>
                        <a:t>Image MLP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FFFFFF"/>
                          </a:solidFill>
                          <a:latin typeface="Segoe UI"/>
                        </a:rPr>
                        <a:t>23.81%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FFFFFF"/>
                          </a:solidFill>
                          <a:latin typeface="Segoe UI"/>
                        </a:rPr>
                        <a:t>0.1983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FFFFFF"/>
                          </a:solidFill>
                          <a:latin typeface="Segoe UI"/>
                        </a:rPr>
                        <a:t>0.2584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8224"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FFFFFF"/>
                          </a:solidFill>
                          <a:latin typeface="Segoe UI"/>
                        </a:rPr>
                        <a:t>Caption MLP</a:t>
                      </a:r>
                    </a:p>
                  </a:txBody>
                  <a:tcPr>
                    <a:solidFill>
                      <a:srgbClr val="1E2A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FFFFFF"/>
                          </a:solidFill>
                          <a:latin typeface="Segoe UI"/>
                        </a:rPr>
                        <a:t>36.51%</a:t>
                      </a:r>
                    </a:p>
                  </a:txBody>
                  <a:tcPr>
                    <a:solidFill>
                      <a:srgbClr val="1E2A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FFFFFF"/>
                          </a:solidFill>
                          <a:latin typeface="Segoe UI"/>
                        </a:rPr>
                        <a:t>0.3533</a:t>
                      </a:r>
                    </a:p>
                  </a:txBody>
                  <a:tcPr>
                    <a:solidFill>
                      <a:srgbClr val="1E2A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FFFFFF"/>
                          </a:solidFill>
                          <a:latin typeface="Segoe UI"/>
                        </a:rPr>
                        <a:t>0.3634</a:t>
                      </a:r>
                    </a:p>
                  </a:txBody>
                  <a:tcPr>
                    <a:solidFill>
                      <a:srgbClr val="1E2A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8" name="Rectangle 1">
            <a:extLst>
              <a:ext uri="{FF2B5EF4-FFF2-40B4-BE49-F238E27FC236}">
                <a16:creationId xmlns:a16="http://schemas.microsoft.com/office/drawing/2014/main" id="{748F3767-340E-3FF2-6B44-B51E11D8792D}"/>
              </a:ext>
            </a:extLst>
          </p:cNvPr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FD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201168" y="0"/>
            <a:ext cx="11987784" cy="73152"/>
          </a:xfrm>
          <a:prstGeom prst="rect">
            <a:avLst/>
          </a:prstGeom>
          <a:solidFill>
            <a:srgbClr val="0F3A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201168" y="109728"/>
            <a:ext cx="11987784" cy="658368"/>
          </a:xfrm>
          <a:prstGeom prst="rect">
            <a:avLst/>
          </a:prstGeom>
          <a:solidFill>
            <a:srgbClr val="0F3A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11480" y="128016"/>
            <a:ext cx="10515600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 dirty="0">
                <a:solidFill>
                  <a:srgbClr val="FFFFFF"/>
                </a:solidFill>
                <a:latin typeface="Segoe UI"/>
              </a:rPr>
              <a:t>CAFN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804672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 i="0">
                <a:solidFill>
                  <a:srgbClr val="90E0EF"/>
                </a:solidFill>
                <a:latin typeface="Segoe UI"/>
              </a:rPr>
              <a:t>CrossModal Attention Fusion Network — bidirectional cross-attention + gated fusion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234440"/>
            <a:ext cx="2194560" cy="31089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274320" y="1234440"/>
            <a:ext cx="2194560" cy="91440"/>
          </a:xfrm>
          <a:prstGeom prst="rect">
            <a:avLst/>
          </a:prstGeom>
          <a:solidFill>
            <a:srgbClr val="FFD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47472" y="1353312"/>
            <a:ext cx="2057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D600"/>
                </a:solidFill>
                <a:latin typeface="Segoe UI"/>
              </a:rPr>
              <a:t>① Projection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79" y="2011680"/>
            <a:ext cx="1920240" cy="36576"/>
          </a:xfrm>
          <a:prstGeom prst="rect">
            <a:avLst/>
          </a:prstGeom>
          <a:solidFill>
            <a:srgbClr val="FFD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65760" y="2084831"/>
            <a:ext cx="2029968" cy="21762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FFFFFF"/>
                </a:solidFill>
                <a:latin typeface="Segoe UI"/>
              </a:rPr>
              <a:t>CLIP 512-d embeddings
→ Linear → LayerNorm → GELU
→ 256-d for image &amp; text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06039" y="1234440"/>
            <a:ext cx="2194560" cy="31089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2606039" y="1234440"/>
            <a:ext cx="2194560" cy="9144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2679191" y="1353312"/>
            <a:ext cx="2057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0B4D8"/>
                </a:solidFill>
                <a:latin typeface="Segoe UI"/>
              </a:rPr>
              <a:t>② Bidirectional
Cross-Attention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199" y="2011680"/>
            <a:ext cx="1920240" cy="36576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2697479" y="2084831"/>
            <a:ext cx="2029968" cy="21762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FFFFFF"/>
                </a:solidFill>
                <a:latin typeface="Segoe UI"/>
              </a:rPr>
              <a:t>Image queries Text
(4-head MultiheadAttention)
+
Text queries Image
→ residual connections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937759" y="1234440"/>
            <a:ext cx="2194560" cy="31089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4937759" y="1234440"/>
            <a:ext cx="2194560" cy="91440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010912" y="1353312"/>
            <a:ext cx="2057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6D6A0"/>
                </a:solidFill>
                <a:latin typeface="Segoe UI"/>
              </a:rPr>
              <a:t>③ Gated Fusion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74920" y="2011680"/>
            <a:ext cx="1920240" cy="36576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029199" y="2084831"/>
            <a:ext cx="2029968" cy="21762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FFFFFF"/>
                </a:solidFill>
                <a:latin typeface="Segoe UI"/>
              </a:rPr>
              <a:t>2-way softmax gate:
g_i · i_att + g_t · t_att
→ 256-d fused vector
(learned per-sample weights)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269479" y="1234440"/>
            <a:ext cx="2194560" cy="31089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7269479" y="1234440"/>
            <a:ext cx="2194560" cy="91440"/>
          </a:xfrm>
          <a:prstGeom prst="rect">
            <a:avLst/>
          </a:prstGeom>
          <a:solidFill>
            <a:srgbClr val="FF92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7342631" y="1353312"/>
            <a:ext cx="2057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9214"/>
                </a:solidFill>
                <a:latin typeface="Segoe UI"/>
              </a:rPr>
              <a:t>④ Concat + Project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406640" y="2011680"/>
            <a:ext cx="1920240" cy="36576"/>
          </a:xfrm>
          <a:prstGeom prst="rect">
            <a:avLst/>
          </a:prstGeom>
          <a:solidFill>
            <a:srgbClr val="FF92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360919" y="2084831"/>
            <a:ext cx="2029968" cy="21762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FFFFFF"/>
                </a:solidFill>
                <a:latin typeface="Segoe UI"/>
              </a:rPr>
              <a:t>[gated_fusion ; i_att]
→ 512-d
→ Linear → LayerNorm
→ GELU → Dropout(0.3)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601200" y="1234440"/>
            <a:ext cx="2194560" cy="31089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9601200" y="1234440"/>
            <a:ext cx="2194560" cy="91440"/>
          </a:xfrm>
          <a:prstGeom prst="rect">
            <a:avLst/>
          </a:prstGeom>
          <a:solidFill>
            <a:srgbClr val="C77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9674352" y="1353312"/>
            <a:ext cx="2057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C77DFF"/>
                </a:solidFill>
                <a:latin typeface="Segoe UI"/>
              </a:rPr>
              <a:t>⑤ Classifier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738360" y="2011680"/>
            <a:ext cx="1920240" cy="36576"/>
          </a:xfrm>
          <a:prstGeom prst="rect">
            <a:avLst/>
          </a:prstGeom>
          <a:solidFill>
            <a:srgbClr val="C77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9692640" y="2084831"/>
            <a:ext cx="2029968" cy="21762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FFFFFF"/>
                </a:solidFill>
                <a:latin typeface="Segoe UI"/>
              </a:rPr>
              <a:t>512 → 256 → GELU
→ Dropout(0.3)
→ 7 logits
(BCEWithLogitsLoss per class)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4462272"/>
            <a:ext cx="3657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D600"/>
                </a:solidFill>
                <a:latin typeface="Segoe UI"/>
              </a:rPr>
              <a:t>Training Techniques: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74320" y="4846320"/>
            <a:ext cx="2194560" cy="1810512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274320" y="4846320"/>
            <a:ext cx="2194560" cy="64008"/>
          </a:xfrm>
          <a:prstGeom prst="rect">
            <a:avLst/>
          </a:prstGeom>
          <a:solidFill>
            <a:srgbClr val="FFD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347472" y="4937760"/>
            <a:ext cx="20574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D600"/>
                </a:solidFill>
                <a:latin typeface="Segoe UI"/>
              </a:rPr>
              <a:t>Label Smoothing ε=0.1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5413248"/>
            <a:ext cx="2029968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CCCCC"/>
                </a:solidFill>
                <a:latin typeface="Segoe UI"/>
              </a:rPr>
              <a:t>Handles ~8-12% mislabels
from 2.3(a) annotation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606039" y="4846320"/>
            <a:ext cx="2194560" cy="1810512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2606039" y="4846320"/>
            <a:ext cx="2194560" cy="64008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2679191" y="4937760"/>
            <a:ext cx="20574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6D6A0"/>
                </a:solidFill>
                <a:latin typeface="Segoe UI"/>
              </a:rPr>
              <a:t>Mixup (α=0.2)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697479" y="5413248"/>
            <a:ext cx="2029968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CCCCC"/>
                </a:solidFill>
                <a:latin typeface="Segoe UI"/>
              </a:rPr>
              <a:t>Synthetic embedding
mixtures → robustness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937759" y="4846320"/>
            <a:ext cx="2194560" cy="1810512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4937759" y="4846320"/>
            <a:ext cx="2194560" cy="6400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5010912" y="4937760"/>
            <a:ext cx="20574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0B4D8"/>
                </a:solidFill>
                <a:latin typeface="Segoe UI"/>
              </a:rPr>
              <a:t>Weighted Sampler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029199" y="5413248"/>
            <a:ext cx="2029968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CCCCC"/>
                </a:solidFill>
                <a:latin typeface="Segoe UI"/>
              </a:rPr>
              <a:t>Inverse-freq oversampling
capped at 2× — minority boost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269479" y="4846320"/>
            <a:ext cx="2194560" cy="1810512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ectangle 45"/>
          <p:cNvSpPr/>
          <p:nvPr/>
        </p:nvSpPr>
        <p:spPr>
          <a:xfrm>
            <a:off x="7269479" y="4846320"/>
            <a:ext cx="2194560" cy="64008"/>
          </a:xfrm>
          <a:prstGeom prst="rect">
            <a:avLst/>
          </a:prstGeom>
          <a:solidFill>
            <a:srgbClr val="FF92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7342631" y="4937760"/>
            <a:ext cx="20574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9214"/>
                </a:solidFill>
                <a:latin typeface="Segoe UI"/>
              </a:rPr>
              <a:t>Modality Dropout p=0.15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360919" y="5413248"/>
            <a:ext cx="2029968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CCCCC"/>
                </a:solidFill>
                <a:latin typeface="Segoe UI"/>
              </a:rPr>
              <a:t>Zeros one modality
15% of batches → robust</a:t>
            </a:r>
          </a:p>
        </p:txBody>
      </p:sp>
      <p:sp>
        <p:nvSpPr>
          <p:cNvPr id="49" name="Rectangle 48"/>
          <p:cNvSpPr/>
          <p:nvPr/>
        </p:nvSpPr>
        <p:spPr>
          <a:xfrm>
            <a:off x="9601200" y="4846320"/>
            <a:ext cx="2194560" cy="1810512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Rectangle 49"/>
          <p:cNvSpPr/>
          <p:nvPr/>
        </p:nvSpPr>
        <p:spPr>
          <a:xfrm>
            <a:off x="9601200" y="4846320"/>
            <a:ext cx="2194560" cy="64008"/>
          </a:xfrm>
          <a:prstGeom prst="rect">
            <a:avLst/>
          </a:prstGeom>
          <a:solidFill>
            <a:srgbClr val="C77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9674352" y="4937760"/>
            <a:ext cx="20574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77DFF"/>
                </a:solidFill>
                <a:latin typeface="Segoe UI"/>
              </a:rPr>
              <a:t>Cosine LR + Warmup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692640" y="5413248"/>
            <a:ext cx="2029968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CCCCC"/>
                </a:solidFill>
                <a:latin typeface="Segoe UI"/>
              </a:rPr>
              <a:t>3 epoch warm-up
then cosine decay</a:t>
            </a:r>
          </a:p>
        </p:txBody>
      </p:sp>
      <p:sp>
        <p:nvSpPr>
          <p:cNvPr id="53" name="Rectangle 1">
            <a:extLst>
              <a:ext uri="{FF2B5EF4-FFF2-40B4-BE49-F238E27FC236}">
                <a16:creationId xmlns:a16="http://schemas.microsoft.com/office/drawing/2014/main" id="{402682B3-B9B1-466F-16BB-3968174A7D6A}"/>
              </a:ext>
            </a:extLst>
          </p:cNvPr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FD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201168" y="0"/>
            <a:ext cx="11987784" cy="73152"/>
          </a:xfrm>
          <a:prstGeom prst="rect">
            <a:avLst/>
          </a:prstGeom>
          <a:solidFill>
            <a:srgbClr val="0F3A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201168" y="109728"/>
            <a:ext cx="11987784" cy="658368"/>
          </a:xfrm>
          <a:prstGeom prst="rect">
            <a:avLst/>
          </a:prstGeom>
          <a:solidFill>
            <a:srgbClr val="0F3A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11480" y="128016"/>
            <a:ext cx="10515600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 dirty="0">
                <a:solidFill>
                  <a:srgbClr val="FFFFFF"/>
                </a:solidFill>
                <a:latin typeface="Segoe UI"/>
              </a:rPr>
              <a:t>Results &amp; Full Comparison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804672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 i="0">
                <a:solidFill>
                  <a:srgbClr val="90E0EF"/>
                </a:solidFill>
                <a:latin typeface="Segoe UI"/>
              </a:rPr>
              <a:t>Image MLP  vs.  Caption MLP  vs.  CAFN (CrossModal Attention Fusion Network)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43584"/>
            <a:ext cx="3657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D600"/>
                </a:solidFill>
                <a:latin typeface="Segoe UI"/>
              </a:rPr>
              <a:t>Overall Metrics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02623619"/>
              </p:ext>
            </p:extLst>
          </p:nvPr>
        </p:nvGraphicFramePr>
        <p:xfrm>
          <a:off x="320040" y="1562778"/>
          <a:ext cx="11548872" cy="1158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7977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7977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889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17170">
                <a:tc>
                  <a:txBody>
                    <a:bodyPr/>
                    <a:lstStyle/>
                    <a:p>
                      <a:pPr algn="ctr"/>
                      <a:r>
                        <a:rPr sz="1300" b="1" dirty="0">
                          <a:solidFill>
                            <a:srgbClr val="FFFFFF"/>
                          </a:solidFill>
                          <a:latin typeface="Segoe UI"/>
                        </a:rPr>
                        <a:t>Model</a:t>
                      </a:r>
                    </a:p>
                  </a:txBody>
                  <a:tcPr>
                    <a:solidFill>
                      <a:srgbClr val="403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Accuracy</a:t>
                      </a:r>
                    </a:p>
                  </a:txBody>
                  <a:tcPr>
                    <a:solidFill>
                      <a:srgbClr val="403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Macro F1</a:t>
                      </a:r>
                    </a:p>
                  </a:txBody>
                  <a:tcPr>
                    <a:solidFill>
                      <a:srgbClr val="403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Weighted F1</a:t>
                      </a:r>
                    </a:p>
                  </a:txBody>
                  <a:tcPr>
                    <a:solidFill>
                      <a:srgbClr val="403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7170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Image MLP</a:t>
                      </a:r>
                    </a:p>
                  </a:txBody>
                  <a:tcPr>
                    <a:solidFill>
                      <a:srgbClr val="1E2A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23.81%</a:t>
                      </a:r>
                    </a:p>
                  </a:txBody>
                  <a:tcPr>
                    <a:solidFill>
                      <a:srgbClr val="1E2A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0.1983</a:t>
                      </a:r>
                    </a:p>
                  </a:txBody>
                  <a:tcPr>
                    <a:solidFill>
                      <a:srgbClr val="1E2A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0.2584</a:t>
                      </a:r>
                    </a:p>
                  </a:txBody>
                  <a:tcPr>
                    <a:solidFill>
                      <a:srgbClr val="1E2A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7170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Caption MLP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36.51%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0.3533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0.3634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717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06D6A0"/>
                          </a:solidFill>
                          <a:latin typeface="Segoe UI"/>
                        </a:rPr>
                        <a:t>CAFN ★</a:t>
                      </a:r>
                    </a:p>
                  </a:txBody>
                  <a:tcPr>
                    <a:solidFill>
                      <a:srgbClr val="05301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06D6A0"/>
                          </a:solidFill>
                          <a:latin typeface="Segoe UI"/>
                        </a:rPr>
                        <a:t>38.89%</a:t>
                      </a:r>
                    </a:p>
                  </a:txBody>
                  <a:tcPr>
                    <a:solidFill>
                      <a:srgbClr val="05301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06D6A0"/>
                          </a:solidFill>
                          <a:latin typeface="Segoe UI"/>
                        </a:rPr>
                        <a:t>0.3335</a:t>
                      </a:r>
                    </a:p>
                  </a:txBody>
                  <a:tcPr>
                    <a:solidFill>
                      <a:srgbClr val="05301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dirty="0">
                          <a:solidFill>
                            <a:srgbClr val="06D6A0"/>
                          </a:solidFill>
                          <a:latin typeface="Segoe UI"/>
                        </a:rPr>
                        <a:t>0.4040</a:t>
                      </a:r>
                    </a:p>
                  </a:txBody>
                  <a:tcPr>
                    <a:solidFill>
                      <a:srgbClr val="05301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11480" y="2711027"/>
            <a:ext cx="3657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 dirty="0">
                <a:solidFill>
                  <a:srgbClr val="FFD600"/>
                </a:solidFill>
                <a:latin typeface="Segoe UI"/>
              </a:rPr>
              <a:t>Per-class F1 Score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990088"/>
          <a:ext cx="11548872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3697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3697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2461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1465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Class</a:t>
                      </a:r>
                    </a:p>
                  </a:txBody>
                  <a:tcPr>
                    <a:solidFill>
                      <a:srgbClr val="403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Image MLP</a:t>
                      </a:r>
                    </a:p>
                  </a:txBody>
                  <a:tcPr>
                    <a:solidFill>
                      <a:srgbClr val="403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Caption MLP</a:t>
                      </a:r>
                    </a:p>
                  </a:txBody>
                  <a:tcPr>
                    <a:solidFill>
                      <a:srgbClr val="403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CAFN ★</a:t>
                      </a:r>
                    </a:p>
                  </a:txBody>
                  <a:tcPr>
                    <a:solidFill>
                      <a:srgbClr val="403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1465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anger</a:t>
                      </a:r>
                    </a:p>
                  </a:txBody>
                  <a:tcPr>
                    <a:solidFill>
                      <a:srgbClr val="1E2A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0.238</a:t>
                      </a:r>
                    </a:p>
                  </a:txBody>
                  <a:tcPr>
                    <a:solidFill>
                      <a:srgbClr val="1E2A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06D6A0"/>
                          </a:solidFill>
                          <a:latin typeface="Segoe UI"/>
                        </a:rPr>
                        <a:t>0.402</a:t>
                      </a:r>
                    </a:p>
                  </a:txBody>
                  <a:tcPr>
                    <a:solidFill>
                      <a:srgbClr val="1E2A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0.350</a:t>
                      </a:r>
                    </a:p>
                  </a:txBody>
                  <a:tcPr>
                    <a:solidFill>
                      <a:srgbClr val="1E2A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1465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disgust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0.076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06D6A0"/>
                          </a:solidFill>
                          <a:latin typeface="Segoe UI"/>
                        </a:rPr>
                        <a:t>0.176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0.121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1465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fear</a:t>
                      </a:r>
                    </a:p>
                  </a:txBody>
                  <a:tcPr>
                    <a:solidFill>
                      <a:srgbClr val="1E2A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0.151</a:t>
                      </a:r>
                    </a:p>
                  </a:txBody>
                  <a:tcPr>
                    <a:solidFill>
                      <a:srgbClr val="1E2A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06D6A0"/>
                          </a:solidFill>
                          <a:latin typeface="Segoe UI"/>
                        </a:rPr>
                        <a:t>0.386</a:t>
                      </a:r>
                    </a:p>
                  </a:txBody>
                  <a:tcPr>
                    <a:solidFill>
                      <a:srgbClr val="1E2A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0.327</a:t>
                      </a:r>
                    </a:p>
                  </a:txBody>
                  <a:tcPr>
                    <a:solidFill>
                      <a:srgbClr val="1E2A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1465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joy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0.239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06D6A0"/>
                          </a:solidFill>
                          <a:latin typeface="Segoe UI"/>
                        </a:rPr>
                        <a:t>0.428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0.418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1465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neutral</a:t>
                      </a:r>
                    </a:p>
                  </a:txBody>
                  <a:tcPr>
                    <a:solidFill>
                      <a:srgbClr val="1E2A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0.333</a:t>
                      </a:r>
                    </a:p>
                  </a:txBody>
                  <a:tcPr>
                    <a:solidFill>
                      <a:srgbClr val="1E2A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0.335</a:t>
                      </a:r>
                    </a:p>
                  </a:txBody>
                  <a:tcPr>
                    <a:solidFill>
                      <a:srgbClr val="1E2A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06D6A0"/>
                          </a:solidFill>
                          <a:latin typeface="Segoe UI"/>
                        </a:rPr>
                        <a:t>0.496</a:t>
                      </a:r>
                    </a:p>
                  </a:txBody>
                  <a:tcPr>
                    <a:solidFill>
                      <a:srgbClr val="1E2A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91465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sadness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0.278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06D6A0"/>
                          </a:solidFill>
                          <a:latin typeface="Segoe UI"/>
                        </a:rPr>
                        <a:t>0.485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0.446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91465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surprise</a:t>
                      </a:r>
                    </a:p>
                  </a:txBody>
                  <a:tcPr>
                    <a:solidFill>
                      <a:srgbClr val="1E2A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0.073</a:t>
                      </a:r>
                    </a:p>
                  </a:txBody>
                  <a:tcPr>
                    <a:solidFill>
                      <a:srgbClr val="1E2A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06D6A0"/>
                          </a:solidFill>
                          <a:latin typeface="Segoe UI"/>
                        </a:rPr>
                        <a:t>0.262</a:t>
                      </a:r>
                    </a:p>
                  </a:txBody>
                  <a:tcPr>
                    <a:solidFill>
                      <a:srgbClr val="1E2A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dirty="0">
                          <a:solidFill>
                            <a:srgbClr val="FFFFFF"/>
                          </a:solidFill>
                          <a:latin typeface="Segoe UI"/>
                        </a:rPr>
                        <a:t>0.176</a:t>
                      </a:r>
                    </a:p>
                  </a:txBody>
                  <a:tcPr>
                    <a:solidFill>
                      <a:srgbClr val="1E2A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320040" y="5458968"/>
            <a:ext cx="3703320" cy="12801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320040" y="5458968"/>
            <a:ext cx="3703320" cy="73152"/>
          </a:xfrm>
          <a:prstGeom prst="rect">
            <a:avLst/>
          </a:prstGeom>
          <a:solidFill>
            <a:srgbClr val="FFD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84632" y="5559552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50" b="1" i="0">
                <a:solidFill>
                  <a:srgbClr val="FFD600"/>
                </a:solidFill>
                <a:latin typeface="Segoe UI"/>
              </a:rPr>
              <a:t>CAFN Accuracy Best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5943600"/>
            <a:ext cx="3246120" cy="27432"/>
          </a:xfrm>
          <a:prstGeom prst="rect">
            <a:avLst/>
          </a:prstGeom>
          <a:solidFill>
            <a:srgbClr val="334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84632" y="5989320"/>
            <a:ext cx="338328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 dirty="0">
                <a:solidFill>
                  <a:srgbClr val="CCCCCC"/>
                </a:solidFill>
                <a:latin typeface="Segoe UI"/>
              </a:rPr>
              <a:t>38.89% (+2.38pp vs caption)
Weighted F1 = 0.4040
Better on high-support
classes (neutral, joy)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78807" y="5458968"/>
            <a:ext cx="3703320" cy="12801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4178807" y="5458968"/>
            <a:ext cx="3703320" cy="73152"/>
          </a:xfrm>
          <a:prstGeom prst="rect">
            <a:avLst/>
          </a:prstGeom>
          <a:solidFill>
            <a:srgbClr val="EF47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343399" y="5559552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50" b="1" i="0">
                <a:solidFill>
                  <a:srgbClr val="EF476F"/>
                </a:solidFill>
                <a:latin typeface="Segoe UI"/>
              </a:rPr>
              <a:t>Macro F1 Dips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07407" y="5943600"/>
            <a:ext cx="3246120" cy="27432"/>
          </a:xfrm>
          <a:prstGeom prst="rect">
            <a:avLst/>
          </a:prstGeom>
          <a:solidFill>
            <a:srgbClr val="334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343399" y="5989320"/>
            <a:ext cx="338328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 dirty="0">
                <a:solidFill>
                  <a:srgbClr val="CCCCCC"/>
                </a:solidFill>
                <a:latin typeface="Segoe UI"/>
              </a:rPr>
              <a:t>CAFN Macro F1 = 0.3335
vs Caption 0.3533
Image modality hurts</a:t>
            </a:r>
            <a:r>
              <a:rPr lang="tr-TR" sz="800" b="0" i="0" dirty="0">
                <a:solidFill>
                  <a:srgbClr val="CCCCCC"/>
                </a:solidFill>
                <a:latin typeface="Segoe UI"/>
              </a:rPr>
              <a:t> </a:t>
            </a:r>
            <a:r>
              <a:rPr sz="800" b="0" i="0" dirty="0">
                <a:solidFill>
                  <a:srgbClr val="CCCCCC"/>
                </a:solidFill>
                <a:latin typeface="Segoe UI"/>
              </a:rPr>
              <a:t>minority classes
(disgust, surprise)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37575" y="5458968"/>
            <a:ext cx="3703320" cy="12801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8037575" y="5458968"/>
            <a:ext cx="3703320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202167" y="5559552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50" b="1" i="0">
                <a:solidFill>
                  <a:srgbClr val="00B4D8"/>
                </a:solidFill>
                <a:latin typeface="Segoe UI"/>
              </a:rPr>
              <a:t>Caption Wins per Class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66175" y="5943600"/>
            <a:ext cx="3246120" cy="27432"/>
          </a:xfrm>
          <a:prstGeom prst="rect">
            <a:avLst/>
          </a:prstGeom>
          <a:solidFill>
            <a:srgbClr val="334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202167" y="5989320"/>
            <a:ext cx="338328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 dirty="0">
                <a:solidFill>
                  <a:srgbClr val="CCCCCC"/>
                </a:solidFill>
                <a:latin typeface="Segoe UI"/>
              </a:rPr>
              <a:t>Caption MLP best on:
anger, disgust, fear,</a:t>
            </a:r>
            <a:r>
              <a:rPr lang="tr-TR" sz="800" b="0" i="0" dirty="0">
                <a:solidFill>
                  <a:srgbClr val="CCCCCC"/>
                </a:solidFill>
                <a:latin typeface="Segoe UI"/>
              </a:rPr>
              <a:t> </a:t>
            </a:r>
            <a:r>
              <a:rPr sz="800" b="0" i="0" dirty="0">
                <a:solidFill>
                  <a:srgbClr val="CCCCCC"/>
                </a:solidFill>
                <a:latin typeface="Segoe UI"/>
              </a:rPr>
              <a:t>joy, sadness, surprise
CAFN only best on:
neutral (+0.161)</a:t>
            </a:r>
          </a:p>
        </p:txBody>
      </p:sp>
      <p:sp>
        <p:nvSpPr>
          <p:cNvPr id="26" name="Rectangle 1">
            <a:extLst>
              <a:ext uri="{FF2B5EF4-FFF2-40B4-BE49-F238E27FC236}">
                <a16:creationId xmlns:a16="http://schemas.microsoft.com/office/drawing/2014/main" id="{4962A195-AA04-D475-EB7D-79A70977A0FF}"/>
              </a:ext>
            </a:extLst>
          </p:cNvPr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FD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201168" y="0"/>
            <a:ext cx="11987784" cy="73152"/>
          </a:xfrm>
          <a:prstGeom prst="rect">
            <a:avLst/>
          </a:prstGeom>
          <a:solidFill>
            <a:srgbClr val="0F3A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201168" y="109728"/>
            <a:ext cx="11987784" cy="658368"/>
          </a:xfrm>
          <a:prstGeom prst="rect">
            <a:avLst/>
          </a:prstGeom>
          <a:solidFill>
            <a:srgbClr val="0F3A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11480" y="128016"/>
            <a:ext cx="105156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Segoe UI"/>
              </a:rPr>
              <a:t>Key Findings &amp; Conclusion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804672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 i="0">
                <a:solidFill>
                  <a:srgbClr val="90E0EF"/>
                </a:solidFill>
                <a:latin typeface="Segoe UI"/>
              </a:rPr>
              <a:t>Task 2.3 — Meme Sentiment Classification summary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261872"/>
            <a:ext cx="3697224" cy="21945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320040" y="1261872"/>
            <a:ext cx="3697224" cy="82296"/>
          </a:xfrm>
          <a:prstGeom prst="rect">
            <a:avLst/>
          </a:prstGeom>
          <a:solidFill>
            <a:srgbClr val="FFD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84632" y="1371600"/>
            <a:ext cx="34411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50" b="1" i="0">
                <a:solidFill>
                  <a:srgbClr val="FFD600"/>
                </a:solidFill>
                <a:latin typeface="Segoe UI"/>
              </a:rPr>
              <a:t>Caption &gt; Image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828800"/>
            <a:ext cx="3240024" cy="36576"/>
          </a:xfrm>
          <a:prstGeom prst="rect">
            <a:avLst/>
          </a:prstGeom>
          <a:solidFill>
            <a:srgbClr val="334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84632" y="1901952"/>
            <a:ext cx="3441192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CCCCCC"/>
                </a:solidFill>
                <a:latin typeface="Segoe UI"/>
              </a:rPr>
              <a:t>Caption MLP Macro F1: 0.353
Image MLP Macro F1: 0.198
Image embeddings encode
visual semantics, not
emotional tone.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45864" y="1261872"/>
            <a:ext cx="3697224" cy="21945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245864" y="1261872"/>
            <a:ext cx="3697224" cy="82296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410456" y="1371600"/>
            <a:ext cx="34411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50" b="1" i="0">
                <a:solidFill>
                  <a:srgbClr val="06D6A0"/>
                </a:solidFill>
                <a:latin typeface="Segoe UI"/>
              </a:rPr>
              <a:t>CAFN Improves Accuracy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474464" y="1828800"/>
            <a:ext cx="3240024" cy="36576"/>
          </a:xfrm>
          <a:prstGeom prst="rect">
            <a:avLst/>
          </a:prstGeom>
          <a:solidFill>
            <a:srgbClr val="334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410456" y="1901952"/>
            <a:ext cx="3441192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CCCCCC"/>
                </a:solidFill>
                <a:latin typeface="Segoe UI"/>
              </a:rPr>
              <a:t>38.89% vs 36.51%
(+2.38pp)
Higher weighted F1 (0.404)
CAFN helps on neutral —
the majority class.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71688" y="1261872"/>
            <a:ext cx="3697224" cy="21945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8171688" y="1261872"/>
            <a:ext cx="3697224" cy="82296"/>
          </a:xfrm>
          <a:prstGeom prst="rect">
            <a:avLst/>
          </a:prstGeom>
          <a:solidFill>
            <a:srgbClr val="EF47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336280" y="1371600"/>
            <a:ext cx="34411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50" b="1" i="0">
                <a:solidFill>
                  <a:srgbClr val="EF476F"/>
                </a:solidFill>
                <a:latin typeface="Segoe UI"/>
              </a:rPr>
              <a:t>Minority Classes Hurt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400288" y="1828800"/>
            <a:ext cx="3240024" cy="36576"/>
          </a:xfrm>
          <a:prstGeom prst="rect">
            <a:avLst/>
          </a:prstGeom>
          <a:solidFill>
            <a:srgbClr val="334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336280" y="1901952"/>
            <a:ext cx="3441192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CCCCCC"/>
                </a:solidFill>
                <a:latin typeface="Segoe UI"/>
              </a:rPr>
              <a:t>CAFN Macro F1 &lt; Caption MLP
(0.334 vs 0.353)
Image modality adds noise
for disgust, surprise.
Gating insufficient.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282951" y="3602736"/>
            <a:ext cx="3697224" cy="21488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2282951" y="3602736"/>
            <a:ext cx="3697224" cy="82296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2447543" y="3712463"/>
            <a:ext cx="34411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50" b="1" i="0">
                <a:solidFill>
                  <a:srgbClr val="00B4D8"/>
                </a:solidFill>
                <a:latin typeface="Segoe UI"/>
              </a:rPr>
              <a:t>Label Noise Handled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511551" y="4187952"/>
            <a:ext cx="3240024" cy="36576"/>
          </a:xfrm>
          <a:prstGeom prst="rect">
            <a:avLst/>
          </a:prstGeom>
          <a:solidFill>
            <a:srgbClr val="334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2447543" y="4261104"/>
            <a:ext cx="3441192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CCCCCC"/>
                </a:solidFill>
                <a:latin typeface="Segoe UI"/>
              </a:rPr>
              <a:t>~8-12% mislabel rate from 2.3(a)
→ label smoothing (ε=0.1)
→ modality dropout (p=0.15)
Both techniques reduce
overfitting to noisy labels.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08776" y="3602736"/>
            <a:ext cx="3697224" cy="21488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6208776" y="3602736"/>
            <a:ext cx="3697224" cy="82296"/>
          </a:xfrm>
          <a:prstGeom prst="rect">
            <a:avLst/>
          </a:prstGeom>
          <a:solidFill>
            <a:srgbClr val="FF92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373368" y="3712463"/>
            <a:ext cx="34411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50" b="1" i="0">
                <a:solidFill>
                  <a:srgbClr val="FF9214"/>
                </a:solidFill>
                <a:latin typeface="Segoe UI"/>
              </a:rPr>
              <a:t>Class Imbalance Hard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37376" y="4187952"/>
            <a:ext cx="3240024" cy="36576"/>
          </a:xfrm>
          <a:prstGeom prst="rect">
            <a:avLst/>
          </a:prstGeom>
          <a:solidFill>
            <a:srgbClr val="334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373368" y="4261104"/>
            <a:ext cx="3441192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CCCCCC"/>
                </a:solidFill>
                <a:latin typeface="Segoe UI"/>
              </a:rPr>
              <a:t>9.2× imbalance (test set)
neutral = 37% of samples
Weighted sampler + class
weights improve recall on
minority classes partially.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20040" y="5870448"/>
            <a:ext cx="11548872" cy="804672"/>
          </a:xfrm>
          <a:prstGeom prst="rect">
            <a:avLst/>
          </a:prstGeom>
          <a:solidFill>
            <a:srgbClr val="0F3A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320040" y="5870448"/>
            <a:ext cx="11548872" cy="73152"/>
          </a:xfrm>
          <a:prstGeom prst="rect">
            <a:avLst/>
          </a:prstGeom>
          <a:solidFill>
            <a:srgbClr val="FFD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475488" y="5980176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D600"/>
                </a:solidFill>
                <a:latin typeface="Segoe UI"/>
              </a:rPr>
              <a:t>Best result: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240280" y="5980176"/>
            <a:ext cx="9509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CCCCCC"/>
                </a:solidFill>
                <a:latin typeface="Segoe UI"/>
              </a:rPr>
              <a:t>CAFN  →  Accuracy 38.89%, Weighted F1 0.404   |   Caption MLP  →  Macro F1 0.353 (best on minority classes)   |   Annotation quality is the task bottleneck</a:t>
            </a:r>
          </a:p>
        </p:txBody>
      </p:sp>
      <p:sp>
        <p:nvSpPr>
          <p:cNvPr id="36" name="Rectangle 1">
            <a:extLst>
              <a:ext uri="{FF2B5EF4-FFF2-40B4-BE49-F238E27FC236}">
                <a16:creationId xmlns:a16="http://schemas.microsoft.com/office/drawing/2014/main" id="{E4B85CFB-8FA3-7237-FE00-364B10F9447D}"/>
              </a:ext>
            </a:extLst>
          </p:cNvPr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FD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eması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92</TotalTime>
  <Words>3808</Words>
  <Application>Microsoft Office PowerPoint</Application>
  <PresentationFormat>Özel</PresentationFormat>
  <Paragraphs>774</Paragraphs>
  <Slides>20</Slides>
  <Notes>1</Notes>
  <HiddenSlides>0</HiddenSlides>
  <MMClips>0</MMClips>
  <ScaleCrop>false</ScaleCrop>
  <HeadingPairs>
    <vt:vector size="6" baseType="variant">
      <vt:variant>
        <vt:lpstr>Kullanılan Yazı Tipleri</vt:lpstr>
      </vt:variant>
      <vt:variant>
        <vt:i4>4</vt:i4>
      </vt:variant>
      <vt:variant>
        <vt:lpstr>Tema</vt:lpstr>
      </vt:variant>
      <vt:variant>
        <vt:i4>1</vt:i4>
      </vt:variant>
      <vt:variant>
        <vt:lpstr>Slayt Başlıkları</vt:lpstr>
      </vt:variant>
      <vt:variant>
        <vt:i4>20</vt:i4>
      </vt:variant>
    </vt:vector>
  </HeadingPairs>
  <TitlesOfParts>
    <vt:vector size="25" baseType="lpstr">
      <vt:lpstr>Aptos</vt:lpstr>
      <vt:lpstr>Arial</vt:lpstr>
      <vt:lpstr>Calibri</vt:lpstr>
      <vt:lpstr>Segoe UI</vt:lpstr>
      <vt:lpstr>Office Theme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Onur Alp Güvercin</cp:lastModifiedBy>
  <cp:revision>9</cp:revision>
  <dcterms:created xsi:type="dcterms:W3CDTF">2013-01-27T09:14:16Z</dcterms:created>
  <dcterms:modified xsi:type="dcterms:W3CDTF">2026-05-12T06:16:54Z</dcterms:modified>
  <cp:category/>
</cp:coreProperties>
</file>