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22E479-FD2D-45E4-9FF2-6F52B5439251}" type="datetimeFigureOut">
              <a:rPr lang="tr-TR" smtClean="0"/>
              <a:t>12.05.2026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8E22F2-D78D-4A40-B4EB-15E3FB23EC9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66067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8E22F2-D78D-4A40-B4EB-15E3FB23EC91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879020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73152"/>
            <a:ext cx="11987784" cy="1005840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CMPE 597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0E0EF"/>
                </a:solidFill>
                <a:latin typeface="Segoe UI"/>
              </a:rPr>
              <a:t>Deep Learning  —  Term Project  |  Group 13  | 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36576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 dirty="0">
                <a:solidFill>
                  <a:srgbClr val="00B4D8"/>
                </a:solidFill>
                <a:latin typeface="Segoe UI"/>
              </a:rPr>
              <a:t>Presentation: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828800"/>
            <a:ext cx="3657600" cy="4206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1828800"/>
            <a:ext cx="3657600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97510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00B4D8"/>
                </a:solidFill>
                <a:latin typeface="Segoe UI"/>
              </a:rPr>
              <a:t>Task 2.1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2316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Segoe UI"/>
              </a:rPr>
              <a:t>Cross-Modal Retrieval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090672"/>
            <a:ext cx="310896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3182112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  <a:latin typeface="Segoe UI"/>
              </a:rPr>
              <a:t>Given a meme image &amp; title,
retrieve the matching caption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5029200"/>
            <a:ext cx="2560320" cy="43891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5107434"/>
            <a:ext cx="24688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1A1A2E"/>
                </a:solidFill>
                <a:latin typeface="Segoe UI"/>
              </a:rPr>
              <a:t>▶  </a:t>
            </a:r>
            <a:r>
              <a:rPr lang="tr-TR" sz="1300" b="1" dirty="0" err="1">
                <a:solidFill>
                  <a:srgbClr val="1A1A2E"/>
                </a:solidFill>
                <a:latin typeface="Segoe UI"/>
              </a:rPr>
              <a:t>Now</a:t>
            </a:r>
            <a:r>
              <a:rPr lang="tr-TR" sz="1300" b="1" dirty="0">
                <a:solidFill>
                  <a:srgbClr val="1A1A2E"/>
                </a:solidFill>
                <a:latin typeface="Segoe UI"/>
              </a:rPr>
              <a:t> </a:t>
            </a:r>
            <a:r>
              <a:rPr lang="tr-TR" sz="1300" b="1" dirty="0" err="1">
                <a:solidFill>
                  <a:srgbClr val="1A1A2E"/>
                </a:solidFill>
                <a:latin typeface="Segoe UI"/>
              </a:rPr>
              <a:t>Presenting</a:t>
            </a:r>
            <a:endParaRPr sz="1300" b="1" i="0" dirty="0">
              <a:solidFill>
                <a:srgbClr val="1A1A2E"/>
              </a:solidFill>
              <a:latin typeface="Segoe U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297680" y="1828800"/>
            <a:ext cx="3657600" cy="4206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97680" y="1828800"/>
            <a:ext cx="3657600" cy="109728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34840" y="197510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CCCCC"/>
                </a:solidFill>
                <a:latin typeface="Segoe UI"/>
              </a:rPr>
              <a:t>Task 2.2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2316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666688"/>
                </a:solidFill>
                <a:latin typeface="Segoe UI"/>
              </a:rPr>
              <a:t>Literal vs. Metaphorical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3090672"/>
            <a:ext cx="3108960" cy="36576"/>
          </a:xfrm>
          <a:prstGeom prst="rect">
            <a:avLst/>
          </a:prstGeom>
          <a:solidFill>
            <a:srgbClr val="33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89120" y="3182112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5577"/>
                </a:solidFill>
                <a:latin typeface="Segoe UI"/>
              </a:rPr>
              <a:t>Is the caption a literal
or metaphorical description?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5029200"/>
            <a:ext cx="2560320" cy="438912"/>
          </a:xfrm>
          <a:prstGeom prst="rect">
            <a:avLst/>
          </a:prstGeom>
          <a:solidFill>
            <a:srgbClr val="2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92040" y="5082033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>
                <a:solidFill>
                  <a:srgbClr val="666688"/>
                </a:solidFill>
                <a:latin typeface="Segoe UI"/>
              </a:rPr>
              <a:t>Upcoming Presentations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79" y="1828800"/>
            <a:ext cx="3657600" cy="4206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183879" y="1828800"/>
            <a:ext cx="3657600" cy="109728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21040" y="197510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CCCCC"/>
                </a:solidFill>
                <a:latin typeface="Segoe UI"/>
              </a:rPr>
              <a:t>Task 2.3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42316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666688"/>
                </a:solidFill>
                <a:latin typeface="Segoe UI"/>
              </a:rPr>
              <a:t>Sentiment Classification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90672"/>
            <a:ext cx="3108960" cy="36576"/>
          </a:xfrm>
          <a:prstGeom prst="rect">
            <a:avLst/>
          </a:prstGeom>
          <a:solidFill>
            <a:srgbClr val="33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75319" y="3182112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5577"/>
                </a:solidFill>
                <a:latin typeface="Segoe UI"/>
              </a:rPr>
              <a:t>7-class emotion recognition
from meme images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32519" y="5029200"/>
            <a:ext cx="2560320" cy="438912"/>
          </a:xfrm>
          <a:prstGeom prst="rect">
            <a:avLst/>
          </a:prstGeom>
          <a:solidFill>
            <a:srgbClr val="2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778240" y="5073566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>
                <a:solidFill>
                  <a:srgbClr val="666688"/>
                </a:solidFill>
                <a:latin typeface="Segoe UI"/>
              </a:rPr>
              <a:t>Upcoming Presentations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6263640"/>
            <a:ext cx="11612880" cy="457200"/>
          </a:xfrm>
          <a:prstGeom prst="rect">
            <a:avLst/>
          </a:prstGeom>
          <a:solidFill>
            <a:srgbClr val="0A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63093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0E0EF"/>
                </a:solidFill>
                <a:latin typeface="Segoe UI"/>
              </a:rPr>
              <a:t>Dataset:  MemeCap  (6,384 Reddit memes)   |   Shared Backbone:  CLIP ViT-B/32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Problem Definition &amp;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MemeCap — 6,384 Reddit memes, each annotated with two types of captions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949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  <a:latin typeface="Segoe UI"/>
              </a:rPr>
              <a:t>Task Definition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19072"/>
            <a:ext cx="5166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Input: meme image  (+ optional title)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Output: retrieve correct caption from 559 candidates</a:t>
            </a:r>
          </a:p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Type 1 → Image only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Type 2 → Image  +  Title</a:t>
            </a:r>
          </a:p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Evaluation Metrics: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R@1   — is the top-1 prediction correct?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R@5   — is ground truth in top 5?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R@10  — is ground truth in top 10?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MedR</a:t>
            </a:r>
            <a:r>
              <a:rPr sz="1350" dirty="0">
                <a:solidFill>
                  <a:srgbClr val="CCCCCC"/>
                </a:solidFill>
                <a:latin typeface="Segoe UI"/>
              </a:rPr>
              <a:t>  — median rank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MRR   — mean reciprocal rank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234440"/>
            <a:ext cx="589788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0" y="128016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  <a:latin typeface="Segoe UI"/>
              </a:rPr>
              <a:t>MemeCap Dataset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719072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5,823 train  /  559 test examples</a:t>
            </a:r>
          </a:p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Each meme has 3 components: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image        → the meme visual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img_caption</a:t>
            </a:r>
            <a:r>
              <a:rPr sz="1350" dirty="0">
                <a:solidFill>
                  <a:srgbClr val="CCCCCC"/>
                </a:solidFill>
                <a:latin typeface="Segoe UI"/>
              </a:rPr>
              <a:t>  → literal image description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meme_caption</a:t>
            </a:r>
            <a:r>
              <a:rPr sz="1350" dirty="0">
                <a:solidFill>
                  <a:srgbClr val="CCCCCC"/>
                </a:solidFill>
                <a:latin typeface="Segoe UI"/>
              </a:rPr>
              <a:t> → poster's intended meaning</a:t>
            </a:r>
          </a:p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Example metaphor mapping: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'Spiderman'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→ 'climate change protesters'</a:t>
            </a:r>
          </a:p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Retrieval target: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meme_caption</a:t>
            </a:r>
            <a:endParaRPr sz="135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Query: (image, title) → caption gallery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Models Explored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Zero-shot transfer, training from scratch, and LoRA fine-tuning — three approaches compared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749039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3749039" cy="91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79" y="134416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B4D8"/>
                </a:solidFill>
                <a:latin typeface="Segoe UI"/>
              </a:rPr>
              <a:t>Model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709928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Segoe UI"/>
              </a:rPr>
              <a:t>Zero-shot CLIP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176272"/>
            <a:ext cx="338328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79" y="2267712"/>
            <a:ext cx="3566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Base CLIP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ViT</a:t>
            </a:r>
            <a:r>
              <a:rPr sz="1300" dirty="0">
                <a:solidFill>
                  <a:srgbClr val="CCCCCC"/>
                </a:solidFill>
                <a:latin typeface="Segoe UI"/>
              </a:rPr>
              <a:t>-B/32 (OpenAI)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No fine-tuning applied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Baseline to measure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transfer capability</a:t>
            </a:r>
          </a:p>
          <a:p>
            <a:pPr algn="l">
              <a:lnSpc>
                <a:spcPct val="130000"/>
              </a:lnSpc>
            </a:pPr>
            <a:r>
              <a:rPr sz="1300" b="1" dirty="0">
                <a:solidFill>
                  <a:srgbClr val="00B4D8"/>
                </a:solidFill>
                <a:latin typeface="Segoe UI"/>
              </a:rPr>
              <a:t>──────────────────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Training: —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Params: 151M (frozen)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Loss: 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234440"/>
            <a:ext cx="3749039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51959" y="1234440"/>
            <a:ext cx="3749039" cy="91440"/>
          </a:xfrm>
          <a:prstGeom prst="rect">
            <a:avLst/>
          </a:prstGeom>
          <a:solidFill>
            <a:srgbClr val="FF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43399" y="134416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9214"/>
                </a:solidFill>
                <a:latin typeface="Segoe UI"/>
              </a:rPr>
              <a:t>Model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399" y="1709928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 dirty="0">
                <a:solidFill>
                  <a:srgbClr val="FFFFFF"/>
                </a:solidFill>
                <a:latin typeface="Segoe UI"/>
              </a:rPr>
              <a:t>Custom Dual Encoder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2176272"/>
            <a:ext cx="3383280" cy="36576"/>
          </a:xfrm>
          <a:prstGeom prst="rect">
            <a:avLst/>
          </a:prstGeom>
          <a:solidFill>
            <a:srgbClr val="FF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43399" y="2267712"/>
            <a:ext cx="3566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Image: ResNet-50 +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proj</a:t>
            </a:r>
            <a:r>
              <a:rPr sz="1300" dirty="0">
                <a:solidFill>
                  <a:srgbClr val="CCCCCC"/>
                </a:solidFill>
                <a:latin typeface="Segoe UI"/>
              </a:rPr>
              <a:t> → 256d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Text: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DistilBERT</a:t>
            </a:r>
            <a:r>
              <a:rPr sz="1300" dirty="0">
                <a:solidFill>
                  <a:srgbClr val="CCCCCC"/>
                </a:solidFill>
                <a:latin typeface="Segoe UI"/>
              </a:rPr>
              <a:t> +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proj</a:t>
            </a:r>
            <a:r>
              <a:rPr sz="1300" dirty="0">
                <a:solidFill>
                  <a:srgbClr val="CCCCCC"/>
                </a:solidFill>
                <a:latin typeface="Segoe UI"/>
              </a:rPr>
              <a:t> → 256d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Loss: Symmetric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InfoNCE</a:t>
            </a:r>
            <a:endParaRPr sz="130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Optimizer: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AdamW</a:t>
            </a:r>
            <a:endParaRPr sz="130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LR: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ReduceLROnPlateau</a:t>
            </a:r>
            <a:endParaRPr sz="130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Early stop: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val</a:t>
            </a:r>
            <a:r>
              <a:rPr sz="1300" dirty="0">
                <a:solidFill>
                  <a:srgbClr val="CCCCCC"/>
                </a:solidFill>
                <a:latin typeface="Segoe UI"/>
              </a:rPr>
              <a:t> R@5</a:t>
            </a:r>
          </a:p>
          <a:p>
            <a:pPr algn="l">
              <a:lnSpc>
                <a:spcPct val="130000"/>
              </a:lnSpc>
            </a:pPr>
            <a:r>
              <a:rPr sz="1300" b="1" dirty="0">
                <a:solidFill>
                  <a:srgbClr val="00B4D8"/>
                </a:solidFill>
                <a:latin typeface="Segoe UI"/>
              </a:rPr>
              <a:t>──────────────────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Trained from scratch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1234440"/>
            <a:ext cx="3749039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83879" y="1234440"/>
            <a:ext cx="3749039" cy="914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75319" y="134416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6D6A0"/>
                </a:solidFill>
                <a:latin typeface="Segoe UI"/>
              </a:rPr>
              <a:t>Model C  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1709928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Segoe UI"/>
              </a:rPr>
              <a:t>CLIP + LoRA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66759" y="2176272"/>
            <a:ext cx="338328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75319" y="2267712"/>
            <a:ext cx="3566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Base: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OpenCLIP</a:t>
            </a:r>
            <a:r>
              <a:rPr sz="1300" dirty="0">
                <a:solidFill>
                  <a:srgbClr val="CCCCCC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ViT</a:t>
            </a:r>
            <a:r>
              <a:rPr sz="1300" dirty="0">
                <a:solidFill>
                  <a:srgbClr val="CCCCCC"/>
                </a:solidFill>
                <a:latin typeface="Segoe UI"/>
              </a:rPr>
              <a:t>-B/32 (frozen)</a:t>
            </a:r>
          </a:p>
          <a:p>
            <a:pPr algn="l">
              <a:lnSpc>
                <a:spcPct val="130000"/>
              </a:lnSpc>
            </a:pPr>
            <a:r>
              <a:rPr sz="1300" dirty="0" err="1">
                <a:solidFill>
                  <a:srgbClr val="CCCCCC"/>
                </a:solidFill>
                <a:latin typeface="Segoe UI"/>
              </a:rPr>
              <a:t>LoRA</a:t>
            </a:r>
            <a:r>
              <a:rPr sz="1300" dirty="0">
                <a:solidFill>
                  <a:srgbClr val="CCCCCC"/>
                </a:solidFill>
                <a:latin typeface="Segoe UI"/>
              </a:rPr>
              <a:t> adapters injected into: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attn.out_proj</a:t>
            </a:r>
            <a:endParaRPr sz="130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mlp.c_fc</a:t>
            </a:r>
            <a:r>
              <a:rPr sz="1300" dirty="0">
                <a:solidFill>
                  <a:srgbClr val="CCCCCC"/>
                </a:solidFill>
                <a:latin typeface="Segoe UI"/>
              </a:rPr>
              <a:t> /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mlp.c_proj</a:t>
            </a:r>
            <a:endParaRPr sz="130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Loss: Symmetric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InfoNCE</a:t>
            </a:r>
            <a:endParaRPr sz="130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30000"/>
              </a:lnSpc>
            </a:pPr>
            <a:r>
              <a:rPr sz="1300" b="1" dirty="0">
                <a:solidFill>
                  <a:srgbClr val="00B4D8"/>
                </a:solidFill>
                <a:latin typeface="Segoe UI"/>
              </a:rPr>
              <a:t>──────────────────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Very few trainable params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Best overall results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6492240"/>
            <a:ext cx="11612880" cy="274320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97931" y="6485127"/>
            <a:ext cx="11338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FD600"/>
                </a:solidFill>
                <a:latin typeface="Segoe UI"/>
              </a:rPr>
              <a:t>Shared training details: gradient clipping, cosine annealing, symmetric </a:t>
            </a:r>
            <a:r>
              <a:rPr sz="1300" b="0" i="0" dirty="0" err="1">
                <a:solidFill>
                  <a:srgbClr val="FFD600"/>
                </a:solidFill>
                <a:latin typeface="Segoe UI"/>
              </a:rPr>
              <a:t>InfoNCE</a:t>
            </a:r>
            <a:r>
              <a:rPr sz="1300" b="0" i="0" dirty="0">
                <a:solidFill>
                  <a:srgbClr val="FFD600"/>
                </a:solidFill>
                <a:latin typeface="Segoe UI"/>
              </a:rPr>
              <a:t> loss (temperature τ=0.07)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Fusion Strategies  (Type 2: Image + Title)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Type 1 uses the image embedding alone — fusion only applies to Type 2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21945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2194560" cy="91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00B4D8"/>
                </a:solidFill>
                <a:latin typeface="Segoe UI"/>
              </a:rPr>
              <a:t>Concat + Project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79" y="1920240"/>
            <a:ext cx="192024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993392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 err="1">
                <a:solidFill>
                  <a:srgbClr val="FFFFFF"/>
                </a:solidFill>
                <a:latin typeface="Segoe UI"/>
              </a:rPr>
              <a:t>img_emb</a:t>
            </a:r>
            <a:r>
              <a:rPr sz="1300" b="0" i="0" dirty="0">
                <a:solidFill>
                  <a:srgbClr val="FFFFFF"/>
                </a:solidFill>
                <a:latin typeface="Segoe UI"/>
              </a:rPr>
              <a:t> ∥ </a:t>
            </a:r>
            <a:r>
              <a:rPr sz="1300" b="0" i="0" dirty="0" err="1">
                <a:solidFill>
                  <a:srgbClr val="FFFFFF"/>
                </a:solidFill>
                <a:latin typeface="Segoe UI"/>
              </a:rPr>
              <a:t>title_emb</a:t>
            </a:r>
            <a:r>
              <a:rPr sz="1300" b="0" i="0" dirty="0">
                <a:solidFill>
                  <a:srgbClr val="FFFFFF"/>
                </a:solidFill>
                <a:latin typeface="Segoe UI"/>
              </a:rPr>
              <a:t>
→ projected to 256d via MLP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37560"/>
            <a:ext cx="2011680" cy="36576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34015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90E0EF"/>
                </a:solidFill>
                <a:latin typeface="Segoe UI"/>
              </a:rPr>
              <a:t>Note: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370332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Complete collapse on
zero-shot CLIP (R@1 = 0.4%)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39" y="1234440"/>
            <a:ext cx="21945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606039" y="1234440"/>
            <a:ext cx="2194560" cy="914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79191" y="135331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06D6A0"/>
                </a:solidFill>
                <a:latin typeface="Segoe UI"/>
              </a:rPr>
              <a:t>Cross-Attention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199" y="1920240"/>
            <a:ext cx="192024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697479" y="1993392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Segoe UI"/>
              </a:rPr>
              <a:t>Image as query,
attends to title
(multi-head attention)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97479" y="3337560"/>
            <a:ext cx="2011680" cy="36576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97479" y="34015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90E0EF"/>
                </a:solidFill>
                <a:latin typeface="Segoe UI"/>
              </a:rPr>
              <a:t>Note: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79191" y="370332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Good for custom model,
moderate for CLIP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7759" y="1234440"/>
            <a:ext cx="21945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937759" y="1234440"/>
            <a:ext cx="2194560" cy="91440"/>
          </a:xfrm>
          <a:prstGeom prst="rect">
            <a:avLst/>
          </a:prstGeom>
          <a:solidFill>
            <a:srgbClr val="FF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10912" y="135331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9214"/>
                </a:solidFill>
                <a:latin typeface="Segoe UI"/>
              </a:rPr>
              <a:t>Additive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1920240"/>
            <a:ext cx="1920240" cy="36576"/>
          </a:xfrm>
          <a:prstGeom prst="rect">
            <a:avLst/>
          </a:prstGeom>
          <a:solidFill>
            <a:srgbClr val="FF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199" y="1993392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Segoe UI"/>
              </a:rPr>
              <a:t>img_emb + title_emb
(element-wise sum)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199" y="3337560"/>
            <a:ext cx="2011680" cy="36576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199" y="34015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90E0EF"/>
                </a:solidFill>
                <a:latin typeface="Segoe UI"/>
              </a:rPr>
              <a:t>Note: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0912" y="370332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Simple but
partially effective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79" y="1234440"/>
            <a:ext cx="21945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269479" y="1234440"/>
            <a:ext cx="2194560" cy="9144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42631" y="135331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D600"/>
                </a:solidFill>
                <a:latin typeface="Segoe UI"/>
              </a:rPr>
              <a:t>Weighted Sum  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06640" y="1920240"/>
            <a:ext cx="1920240" cy="36576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60919" y="1993392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Segoe UI"/>
              </a:rPr>
              <a:t>α·img_emb + (1-α)·title_emb
α is a learned scalar weight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60919" y="3337560"/>
            <a:ext cx="2011680" cy="36576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60919" y="34015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90E0EF"/>
                </a:solidFill>
                <a:latin typeface="Segoe UI"/>
              </a:rPr>
              <a:t>Note: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2631" y="370332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Best results with
CLIP-based models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01200" y="1234440"/>
            <a:ext cx="21945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601200" y="1234440"/>
            <a:ext cx="2194560" cy="91440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674352" y="135331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77DFF"/>
                </a:solidFill>
                <a:latin typeface="Segoe UI"/>
              </a:rPr>
              <a:t>Gated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38360" y="1920240"/>
            <a:ext cx="1920240" cy="36576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692640" y="1993392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>
                <a:solidFill>
                  <a:srgbClr val="FFFFFF"/>
                </a:solidFill>
                <a:latin typeface="Segoe UI"/>
              </a:rPr>
              <a:t>Sigmoid gate:
g = σ(W·[</a:t>
            </a:r>
            <a:r>
              <a:rPr sz="1300" b="0" i="0" dirty="0" err="1">
                <a:solidFill>
                  <a:srgbClr val="FFFFFF"/>
                </a:solidFill>
                <a:latin typeface="Segoe UI"/>
              </a:rPr>
              <a:t>img;title</a:t>
            </a:r>
            <a:r>
              <a:rPr sz="1300" b="0" i="0" dirty="0">
                <a:solidFill>
                  <a:srgbClr val="FFFFFF"/>
                </a:solidFill>
                <a:latin typeface="Segoe UI"/>
              </a:rPr>
              <a:t>])
out = </a:t>
            </a:r>
            <a:r>
              <a:rPr sz="1300" b="0" i="0" dirty="0" err="1">
                <a:solidFill>
                  <a:srgbClr val="FFFFFF"/>
                </a:solidFill>
                <a:latin typeface="Segoe UI"/>
              </a:rPr>
              <a:t>g⊙img</a:t>
            </a:r>
            <a:r>
              <a:rPr sz="1300" b="0" i="0" dirty="0">
                <a:solidFill>
                  <a:srgbClr val="FFFFFF"/>
                </a:solidFill>
                <a:latin typeface="Segoe UI"/>
              </a:rPr>
              <a:t> + (1-g)⊙title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92640" y="3337560"/>
            <a:ext cx="2011680" cy="36576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692640" y="34015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90E0EF"/>
                </a:solidFill>
                <a:latin typeface="Segoe UI"/>
              </a:rPr>
              <a:t>Note: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74352" y="370332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Best for custom
dual encoder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6492240"/>
            <a:ext cx="11612880" cy="274320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6476660"/>
            <a:ext cx="11338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FD600"/>
                </a:solidFill>
                <a:latin typeface="Segoe UI"/>
              </a:rPr>
              <a:t>Fusion only applies to Type 2 (image + title).  Type 1 uses a single image embedding — no fusion module is ever called.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Results  —  Zero-shot CLIP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13816"/>
            <a:ext cx="6309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90E0EF"/>
                </a:solidFill>
                <a:latin typeface="Segoe UI"/>
              </a:rPr>
              <a:t>OpenAI ViT-B/32  ·  No fine-tuning  ·  Pure transfer learning baseline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850392"/>
            <a:ext cx="164592" cy="164592"/>
          </a:xfrm>
          <a:prstGeom prst="rect">
            <a:avLst/>
          </a:prstGeom>
          <a:solidFill>
            <a:srgbClr val="1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8040" y="8229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Segoe UI"/>
              </a:rPr>
              <a:t>Type 1 rows</a:t>
            </a:r>
          </a:p>
        </p:txBody>
      </p:sp>
      <p:sp>
        <p:nvSpPr>
          <p:cNvPr id="9" name="Rectangle 8"/>
          <p:cNvSpPr/>
          <p:nvPr/>
        </p:nvSpPr>
        <p:spPr>
          <a:xfrm>
            <a:off x="8796528" y="850392"/>
            <a:ext cx="164592" cy="16459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25128" y="8229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Segoe UI"/>
              </a:rPr>
              <a:t>Type 2 rows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43615" y="850392"/>
            <a:ext cx="164592" cy="164592"/>
          </a:xfrm>
          <a:prstGeom prst="rect">
            <a:avLst/>
          </a:prstGeom>
          <a:solidFill>
            <a:srgbClr val="0530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872215" y="8229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Segoe UI"/>
              </a:rPr>
              <a:t>Best in category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1216152"/>
          <a:ext cx="1154887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910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494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Strategy / Variant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Input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R@1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R@5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R@10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MedR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MRR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—  (no fusion)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Type 1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45.26%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64.76%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68.87%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54.23%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concat_project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0.36%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1.25%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2.15%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290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1.47%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cross_attention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6.62%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11.27%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13.24%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164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9.54%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gated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15.56%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27.19%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32.92%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40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21.56%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add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19.68%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30.77%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35.42%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25.77%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495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weighted_sum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36.85%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56.89%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61.00%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45.66%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320040" y="4160520"/>
            <a:ext cx="3703320" cy="2468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0040" y="4160520"/>
            <a:ext cx="3703320" cy="8229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4632" y="427024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00B4D8"/>
                </a:solidFill>
                <a:latin typeface="Segoe UI"/>
              </a:rPr>
              <a:t>Type 1 Baseline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709160"/>
            <a:ext cx="3246120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4632" y="4791456"/>
            <a:ext cx="3383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Segoe UI"/>
              </a:rPr>
              <a:t>R@1 = 45.26%
R@5 = 64.76%
MedR = 2  ·  MRR = 54.23%
Strong result with zero training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78807" y="4160520"/>
            <a:ext cx="3703320" cy="2468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178807" y="4160520"/>
            <a:ext cx="3703320" cy="8229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43399" y="427024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06D6A0"/>
                </a:solidFill>
                <a:latin typeface="Segoe UI"/>
              </a:rPr>
              <a:t>Best Type 2 Fusion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7407" y="4709160"/>
            <a:ext cx="3246120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43399" y="4791456"/>
            <a:ext cx="3383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Segoe UI"/>
              </a:rPr>
              <a:t>weighted_sum: R@1 = 36.85%
R@5 = 56.89%
MedR = 3  ·  MRR = 45.66%
+36 pp vs worst Type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37575" y="4160520"/>
            <a:ext cx="3703320" cy="2468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37575" y="4160520"/>
            <a:ext cx="3703320" cy="82296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02167" y="427024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EF476F"/>
                </a:solidFill>
                <a:latin typeface="Segoe UI"/>
              </a:rPr>
              <a:t>Fusion Collapse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66175" y="4709160"/>
            <a:ext cx="3246120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02167" y="4791456"/>
            <a:ext cx="3383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Segoe UI"/>
              </a:rPr>
              <a:t>concat_project: R@1 = 0.36%
R@5 =  1.25%
MedR = 290  ·  MRR = 1.47%
Project head destroys embeddings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Results  —  Custom Dual Encoder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13816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9214"/>
                </a:solidFill>
                <a:latin typeface="Segoe UI"/>
              </a:rPr>
              <a:t>ResNet-50  +  DistilBERT  ·  Symmetric InfoNCE  ·  Trained from scratch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850392"/>
            <a:ext cx="164592" cy="164592"/>
          </a:xfrm>
          <a:prstGeom prst="rect">
            <a:avLst/>
          </a:prstGeom>
          <a:solidFill>
            <a:srgbClr val="1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8040" y="8229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Segoe UI"/>
              </a:rPr>
              <a:t>Type 1 rows</a:t>
            </a:r>
          </a:p>
        </p:txBody>
      </p:sp>
      <p:sp>
        <p:nvSpPr>
          <p:cNvPr id="9" name="Rectangle 8"/>
          <p:cNvSpPr/>
          <p:nvPr/>
        </p:nvSpPr>
        <p:spPr>
          <a:xfrm>
            <a:off x="8796528" y="850392"/>
            <a:ext cx="164592" cy="16459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25128" y="8229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Segoe UI"/>
              </a:rPr>
              <a:t>Type 2 rows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43615" y="850392"/>
            <a:ext cx="164592" cy="164592"/>
          </a:xfrm>
          <a:prstGeom prst="rect">
            <a:avLst/>
          </a:prstGeom>
          <a:solidFill>
            <a:srgbClr val="0530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872215" y="8229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Segoe UI"/>
              </a:rPr>
              <a:t>Best in category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1216152"/>
          <a:ext cx="1154887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910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Strategy / Variant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Input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R@1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R@5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R@10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MedR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MRR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— (image only)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Type 1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1.43%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3.76%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6.44%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170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3.73%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concat_project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2.68%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6.80%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11.63%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125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6.04%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weighted_sum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9.66%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16.28%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21.82%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103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14.19%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cross_attention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11.09%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19.32%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23.79%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92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15.66%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add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11.63%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19.50%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25.04%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76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16.20%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269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gated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12.34%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19.50%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24.87%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16.88%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3749039"/>
            <a:ext cx="11548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8888AA"/>
                </a:solidFill>
                <a:latin typeface="Segoe UI"/>
              </a:rPr>
              <a:t>Type 1 row = best of 5 training runs; fusion is never called for image-only queries.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4069080"/>
            <a:ext cx="3703320" cy="2514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4069080"/>
            <a:ext cx="3703320" cy="8229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4632" y="41788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00B4D8"/>
                </a:solidFill>
                <a:latin typeface="Segoe UI"/>
              </a:rPr>
              <a:t>Type 1 Baseline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617720"/>
            <a:ext cx="3246120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4632" y="4700016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>
                <a:solidFill>
                  <a:srgbClr val="CCCCCC"/>
                </a:solidFill>
                <a:latin typeface="Segoe UI"/>
              </a:rPr>
              <a:t>R@1 =  1.43%
R@5 =  3.76%
</a:t>
            </a:r>
            <a:r>
              <a:rPr sz="1300" b="0" i="0" dirty="0" err="1">
                <a:solidFill>
                  <a:srgbClr val="CCCCCC"/>
                </a:solidFill>
                <a:latin typeface="Segoe UI"/>
              </a:rPr>
              <a:t>MedR</a:t>
            </a:r>
            <a:r>
              <a:rPr sz="1300" b="0" i="0" dirty="0">
                <a:solidFill>
                  <a:srgbClr val="CCCCCC"/>
                </a:solidFill>
                <a:latin typeface="Segoe UI"/>
              </a:rPr>
              <a:t> = 170
Far below zero-shot CLIP
(45.26%) — no pretraining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78807" y="4069080"/>
            <a:ext cx="3703320" cy="2514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178807" y="4069080"/>
            <a:ext cx="3703320" cy="8229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343399" y="41788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06D6A0"/>
                </a:solidFill>
                <a:latin typeface="Segoe UI"/>
              </a:rPr>
              <a:t>Best Type 2  (gated)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7407" y="4617720"/>
            <a:ext cx="3246120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43399" y="4700016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Segoe UI"/>
              </a:rPr>
              <a:t>R@1 = 12.34%
R@5 = 19.50%
MedR =  66
Adaptive gate best for
weak dual encoders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37575" y="4069080"/>
            <a:ext cx="3703320" cy="2514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037575" y="4069080"/>
            <a:ext cx="3703320" cy="82296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02167" y="41788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EF476F"/>
                </a:solidFill>
                <a:latin typeface="Segoe UI"/>
              </a:rPr>
              <a:t>Worst Type 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66175" y="4617720"/>
            <a:ext cx="3246120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02167" y="4700016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Segoe UI"/>
              </a:rPr>
              <a:t>concat_project:
R@1 =  2.68%
MedR = 125
Projection degrades
already-weak embeddings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Results  —  CLIP + LoRA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13816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06D6A0"/>
                </a:solidFill>
                <a:latin typeface="Segoe UI"/>
              </a:rPr>
              <a:t>OpenCLIP ViT-B/32 frozen  ·  LoRA on attn.out_proj, mlp.c_fc, mlp.c_proj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850392"/>
            <a:ext cx="164592" cy="164592"/>
          </a:xfrm>
          <a:prstGeom prst="rect">
            <a:avLst/>
          </a:prstGeom>
          <a:solidFill>
            <a:srgbClr val="1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8040" y="8229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Segoe UI"/>
              </a:rPr>
              <a:t>Type 1 rows</a:t>
            </a:r>
          </a:p>
        </p:txBody>
      </p:sp>
      <p:sp>
        <p:nvSpPr>
          <p:cNvPr id="9" name="Rectangle 8"/>
          <p:cNvSpPr/>
          <p:nvPr/>
        </p:nvSpPr>
        <p:spPr>
          <a:xfrm>
            <a:off x="8796528" y="850392"/>
            <a:ext cx="164592" cy="16459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25128" y="8229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Segoe UI"/>
              </a:rPr>
              <a:t>Type 2 rows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43615" y="850392"/>
            <a:ext cx="164592" cy="164592"/>
          </a:xfrm>
          <a:prstGeom prst="rect">
            <a:avLst/>
          </a:prstGeom>
          <a:solidFill>
            <a:srgbClr val="0530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872215" y="8229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Segoe UI"/>
              </a:rPr>
              <a:t>Best in category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1216152"/>
          <a:ext cx="1154887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910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Strategy / Variant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Input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R@1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R@5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R@10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MedR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MRR</a:t>
                      </a:r>
                    </a:p>
                  </a:txBody>
                  <a:tcPr>
                    <a:solidFill>
                      <a:srgbClr val="0F3A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— (image only)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Type 1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52.95%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69.23%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73.88%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90E0EF"/>
                          </a:solidFill>
                          <a:latin typeface="Segoe UI"/>
                        </a:rPr>
                        <a:t>60.64%</a:t>
                      </a:r>
                    </a:p>
                  </a:txBody>
                  <a:tcPr>
                    <a:solidFill>
                      <a:srgbClr val="1F3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concat_project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23.26%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47.76%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57.96%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34.60%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cross_attention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27.37%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46.15%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54.38%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36.46%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add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53.31%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70.30%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76.21%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60.70%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gated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56.17%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72.45%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77.82%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63.80%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269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weighted_sum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Type 2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58.14%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74.06%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77.28%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65.46%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3749039"/>
            <a:ext cx="11548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AA"/>
                </a:solidFill>
                <a:latin typeface="Segoe UI"/>
              </a:rPr>
              <a:t>Type 1 row = best of 5 training runs; fusion is never called for image-only queries.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4069080"/>
            <a:ext cx="3703320" cy="2514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4069080"/>
            <a:ext cx="3703320" cy="8229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4632" y="41788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00B4D8"/>
                </a:solidFill>
                <a:latin typeface="Segoe UI"/>
              </a:rPr>
              <a:t>Type 1 Baseline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617720"/>
            <a:ext cx="3246120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4632" y="4700016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Segoe UI"/>
              </a:rPr>
              <a:t>R@1 = 52.95%
R@5 = 69.23%
MedR =  1
+7.7 pp over zero-shot
CLIP Type 1 (45.26%)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78807" y="4069080"/>
            <a:ext cx="3703320" cy="2514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178807" y="4069080"/>
            <a:ext cx="3703320" cy="8229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343399" y="41788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06D6A0"/>
                </a:solidFill>
                <a:latin typeface="Segoe UI"/>
              </a:rPr>
              <a:t>Best Overall  (weighted_sum)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7407" y="4617720"/>
            <a:ext cx="3246120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43399" y="4700016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>
                <a:solidFill>
                  <a:srgbClr val="CCCCCC"/>
                </a:solidFill>
                <a:latin typeface="Segoe UI"/>
              </a:rPr>
              <a:t>R@1 = 58.14%
R@5 = 74.06%
</a:t>
            </a:r>
            <a:r>
              <a:rPr sz="1300" b="0" i="0" dirty="0" err="1">
                <a:solidFill>
                  <a:srgbClr val="CCCCCC"/>
                </a:solidFill>
                <a:latin typeface="Segoe UI"/>
              </a:rPr>
              <a:t>MedR</a:t>
            </a:r>
            <a:r>
              <a:rPr sz="1300" b="0" i="0" dirty="0">
                <a:solidFill>
                  <a:srgbClr val="CCCCCC"/>
                </a:solidFill>
                <a:latin typeface="Segoe UI"/>
              </a:rPr>
              <a:t> =  1
Best result across
all models &amp; strategies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37575" y="4069080"/>
            <a:ext cx="3703320" cy="2514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037575" y="4069080"/>
            <a:ext cx="3703320" cy="82296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02167" y="41788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EF476F"/>
                </a:solidFill>
                <a:latin typeface="Segoe UI"/>
              </a:rPr>
              <a:t>Type 2 Collapse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66175" y="4617720"/>
            <a:ext cx="3246120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02167" y="4700016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Segoe UI"/>
              </a:rPr>
              <a:t>concat_project:
R@1 = 23.26%
MedR =   7
Projection head still
destroys CLIP embeddings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Key Findings &amp;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Cross-Modal Retrieval — Task 2.1 summary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3697224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3697224" cy="8229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632" y="1371600"/>
            <a:ext cx="34411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00B4D8"/>
                </a:solidFill>
                <a:latin typeface="Segoe UI"/>
              </a:rPr>
              <a:t>Pretraining Dominates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47088"/>
            <a:ext cx="3240024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4632" y="1920240"/>
            <a:ext cx="344119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 dirty="0" err="1">
                <a:solidFill>
                  <a:srgbClr val="CCCCCC"/>
                </a:solidFill>
                <a:latin typeface="Segoe UI"/>
              </a:rPr>
              <a:t>LoRA</a:t>
            </a:r>
            <a:r>
              <a:rPr sz="1250" b="0" i="0" dirty="0">
                <a:solidFill>
                  <a:srgbClr val="CCCCCC"/>
                </a:solidFill>
                <a:latin typeface="Segoe UI"/>
              </a:rPr>
              <a:t> Type 1:  R@1 ~50–53%
Custom Type 1:  R@1 ~0.7–1.4%
&gt;40 pp gap between pretrained
and from-scratch models.
No fusion strategy closes this.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5864" y="1261872"/>
            <a:ext cx="3697224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45864" y="1261872"/>
            <a:ext cx="3697224" cy="8229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10456" y="1371600"/>
            <a:ext cx="34411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06D6A0"/>
                </a:solidFill>
                <a:latin typeface="Segoe UI"/>
              </a:rPr>
              <a:t>LoRA Fine-tuning Works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74464" y="1847088"/>
            <a:ext cx="3240024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10456" y="1920240"/>
            <a:ext cx="344119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CLIP+LoRA · Type 2 · weighted_sum:
R@1 = 58.14%  ·  MedR = 1
+13 pp over zero-shot Type 1.
Huge gain with very few
extra trainable parameters.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71688" y="1261872"/>
            <a:ext cx="3697224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71688" y="1261872"/>
            <a:ext cx="3697224" cy="82296"/>
          </a:xfrm>
          <a:prstGeom prst="rect">
            <a:avLst/>
          </a:prstGeom>
          <a:solidFill>
            <a:srgbClr val="FF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36280" y="1371600"/>
            <a:ext cx="34411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FF9214"/>
                </a:solidFill>
                <a:latin typeface="Segoe UI"/>
              </a:rPr>
              <a:t>Fusion Strategy Matters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00288" y="1847088"/>
            <a:ext cx="3240024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36280" y="1920240"/>
            <a:ext cx="344119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 dirty="0" err="1">
                <a:solidFill>
                  <a:srgbClr val="CCCCCC"/>
                </a:solidFill>
                <a:latin typeface="Segoe UI"/>
              </a:rPr>
              <a:t>weighted_sum</a:t>
            </a:r>
            <a:r>
              <a:rPr sz="1250" b="0" i="0" dirty="0">
                <a:solidFill>
                  <a:srgbClr val="CCCCCC"/>
                </a:solidFill>
                <a:latin typeface="Segoe UI"/>
              </a:rPr>
              <a:t> is best for CLIP
based Type 2 inputs.
</a:t>
            </a:r>
            <a:r>
              <a:rPr sz="1250" b="0" i="0" dirty="0" err="1">
                <a:solidFill>
                  <a:srgbClr val="CCCCCC"/>
                </a:solidFill>
                <a:latin typeface="Segoe UI"/>
              </a:rPr>
              <a:t>concat_project</a:t>
            </a:r>
            <a:r>
              <a:rPr sz="1250" b="0" i="0" dirty="0">
                <a:solidFill>
                  <a:srgbClr val="CCCCCC"/>
                </a:solidFill>
                <a:latin typeface="Segoe UI"/>
              </a:rPr>
              <a:t> collapses on
zero-shot CLIP Type 2:
R@1 = 0.36%,  </a:t>
            </a:r>
            <a:r>
              <a:rPr sz="1250" b="0" i="0" dirty="0" err="1">
                <a:solidFill>
                  <a:srgbClr val="CCCCCC"/>
                </a:solidFill>
                <a:latin typeface="Segoe UI"/>
              </a:rPr>
              <a:t>MedR</a:t>
            </a:r>
            <a:r>
              <a:rPr sz="1250" b="0" i="0" dirty="0">
                <a:solidFill>
                  <a:srgbClr val="CCCCCC"/>
                </a:solidFill>
                <a:latin typeface="Segoe UI"/>
              </a:rPr>
              <a:t> = 290.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45864" y="3685032"/>
            <a:ext cx="3697224" cy="2148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245864" y="3685032"/>
            <a:ext cx="3697224" cy="82296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410456" y="3794760"/>
            <a:ext cx="34411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C77DFF"/>
                </a:solidFill>
                <a:latin typeface="Segoe UI"/>
              </a:rPr>
              <a:t>Gated is Best for Custom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74464" y="4270248"/>
            <a:ext cx="3240024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410456" y="4343400"/>
            <a:ext cx="344119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gated achieves best MedR (66) and
MRR (16.88%) for Custom Type 2.
Also best for Custom Type 1 (R@1 1.07%).
Adaptive gating helps when
both branches are weak.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989320"/>
            <a:ext cx="11548872" cy="74980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5989320"/>
            <a:ext cx="11548872" cy="7315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5488" y="6089904"/>
            <a:ext cx="25603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tr-TR" sz="1300" b="1" i="0" dirty="0">
                <a:solidFill>
                  <a:srgbClr val="FFD600"/>
                </a:solidFill>
                <a:latin typeface="Segoe UI"/>
              </a:rPr>
              <a:t>Final </a:t>
            </a:r>
            <a:r>
              <a:rPr lang="tr-TR" sz="1300" b="1" i="0" dirty="0" err="1">
                <a:solidFill>
                  <a:srgbClr val="FFD600"/>
                </a:solidFill>
                <a:latin typeface="Segoe UI"/>
              </a:rPr>
              <a:t>Remarks</a:t>
            </a:r>
            <a:r>
              <a:rPr sz="1300" b="1" i="0" dirty="0">
                <a:solidFill>
                  <a:srgbClr val="FFD600"/>
                </a:solidFill>
                <a:latin typeface="Segoe UI"/>
              </a:rPr>
              <a:t>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13467" y="6089904"/>
            <a:ext cx="9836573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 dirty="0">
                <a:solidFill>
                  <a:srgbClr val="CCCCCC"/>
                </a:solidFill>
                <a:latin typeface="Segoe UI"/>
              </a:rPr>
              <a:t>Best:  </a:t>
            </a:r>
            <a:r>
              <a:rPr sz="1250" b="0" i="0" dirty="0" err="1">
                <a:solidFill>
                  <a:srgbClr val="CCCCCC"/>
                </a:solidFill>
                <a:latin typeface="Segoe UI"/>
              </a:rPr>
              <a:t>CLIP+LoRA</a:t>
            </a:r>
            <a:r>
              <a:rPr sz="1250" b="0" i="0" dirty="0">
                <a:solidFill>
                  <a:srgbClr val="CCCCCC"/>
                </a:solidFill>
                <a:latin typeface="Segoe UI"/>
              </a:rPr>
              <a:t> · Type 2 · </a:t>
            </a:r>
            <a:r>
              <a:rPr sz="1250" b="0" i="0" dirty="0" err="1">
                <a:solidFill>
                  <a:srgbClr val="CCCCCC"/>
                </a:solidFill>
                <a:latin typeface="Segoe UI"/>
              </a:rPr>
              <a:t>weighted_sum</a:t>
            </a:r>
            <a:r>
              <a:rPr sz="1250" b="0" i="0" dirty="0">
                <a:solidFill>
                  <a:srgbClr val="CCCCCC"/>
                </a:solidFill>
                <a:latin typeface="Segoe UI"/>
              </a:rPr>
              <a:t>  →  R@1 58.14%, </a:t>
            </a:r>
            <a:r>
              <a:rPr sz="1250" b="0" i="0" dirty="0" err="1">
                <a:solidFill>
                  <a:srgbClr val="CCCCCC"/>
                </a:solidFill>
                <a:latin typeface="Segoe UI"/>
              </a:rPr>
              <a:t>MedR</a:t>
            </a:r>
            <a:r>
              <a:rPr sz="1250" b="0" i="0" dirty="0">
                <a:solidFill>
                  <a:srgbClr val="CCCCCC"/>
                </a:solidFill>
                <a:latin typeface="Segoe UI"/>
              </a:rPr>
              <a:t> 1   |   Baseline (no training):  Zero-shot · Type 1  →  R@1 45.26%   |   Avoid </a:t>
            </a:r>
            <a:r>
              <a:rPr sz="1250" b="0" i="0" dirty="0" err="1">
                <a:solidFill>
                  <a:srgbClr val="CCCCCC"/>
                </a:solidFill>
                <a:latin typeface="Segoe UI"/>
              </a:rPr>
              <a:t>concat_project</a:t>
            </a:r>
            <a:r>
              <a:rPr sz="1250" b="0" i="0" dirty="0">
                <a:solidFill>
                  <a:srgbClr val="CCCCCC"/>
                </a:solidFill>
                <a:latin typeface="Segoe UI"/>
              </a:rPr>
              <a:t> with zero-shot CLIP for Type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73152"/>
            <a:ext cx="11987784" cy="1005840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CMPE 597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0E0EF"/>
                </a:solidFill>
                <a:latin typeface="Segoe UI"/>
              </a:rPr>
              <a:t>Deep Learning  —  Term Project  |  Group 13  | 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 dirty="0">
                <a:solidFill>
                  <a:srgbClr val="C77DFF"/>
                </a:solidFill>
                <a:latin typeface="Segoe UI"/>
              </a:rPr>
              <a:t>Moving to Next Task: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828800"/>
            <a:ext cx="3657600" cy="4206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1828800"/>
            <a:ext cx="3657600" cy="109728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97510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34455"/>
                </a:solidFill>
                <a:latin typeface="Segoe UI"/>
              </a:rPr>
              <a:t>Task 2.1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2316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668866"/>
                </a:solidFill>
                <a:latin typeface="Segoe UI"/>
              </a:rPr>
              <a:t>Cross-Modal Retrieval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090672"/>
            <a:ext cx="3108960" cy="36576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3182112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  <a:latin typeface="Segoe UI"/>
              </a:rPr>
              <a:t>Given a meme image &amp; title,
retrieve the matching caption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5029200"/>
            <a:ext cx="2560320" cy="438912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505663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6CC66"/>
                </a:solidFill>
                <a:latin typeface="Segoe UI"/>
              </a:rPr>
              <a:t>✓  Completed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1828800"/>
            <a:ext cx="3657600" cy="4206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34840" y="197510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77DFF"/>
                </a:solidFill>
                <a:latin typeface="Segoe UI"/>
              </a:rPr>
              <a:t>Task 2.2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2316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Segoe UI"/>
              </a:rPr>
              <a:t>Literal vs. Metaphorical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3090672"/>
            <a:ext cx="3108960" cy="36576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89120" y="3182112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  <a:latin typeface="Segoe UI"/>
              </a:rPr>
              <a:t>Is the caption a literal
or metaphorical description?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5029200"/>
            <a:ext cx="2560320" cy="438912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92040" y="505663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FFFFF"/>
                </a:solidFill>
                <a:latin typeface="Segoe UI"/>
              </a:rPr>
              <a:t>▶  Now Presenting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79" y="1828800"/>
            <a:ext cx="3657600" cy="4206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183879" y="1828800"/>
            <a:ext cx="3657600" cy="109728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21040" y="197510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CCCCC"/>
                </a:solidFill>
                <a:latin typeface="Segoe UI"/>
              </a:rPr>
              <a:t>Task 2.3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42316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666688"/>
                </a:solidFill>
                <a:latin typeface="Segoe UI"/>
              </a:rPr>
              <a:t>Sentiment Classification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90672"/>
            <a:ext cx="3108960" cy="36576"/>
          </a:xfrm>
          <a:prstGeom prst="rect">
            <a:avLst/>
          </a:prstGeom>
          <a:solidFill>
            <a:srgbClr val="33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75319" y="3182112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5577"/>
                </a:solidFill>
                <a:latin typeface="Segoe UI"/>
              </a:rPr>
              <a:t>7-class emotion recognition
from meme images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32519" y="5029200"/>
            <a:ext cx="2560320" cy="438912"/>
          </a:xfrm>
          <a:prstGeom prst="rect">
            <a:avLst/>
          </a:prstGeom>
          <a:solidFill>
            <a:srgbClr val="2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778240" y="505663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66688"/>
                </a:solidFill>
                <a:latin typeface="Segoe UI"/>
              </a:rPr>
              <a:t>Upcoming Presentation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6263640"/>
            <a:ext cx="11612880" cy="457200"/>
          </a:xfrm>
          <a:prstGeom prst="rect">
            <a:avLst/>
          </a:prstGeom>
          <a:solidFill>
            <a:srgbClr val="0A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63093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0E0EF"/>
                </a:solidFill>
                <a:latin typeface="Segoe UI"/>
              </a:rPr>
              <a:t>Dataset:  MemeCap  (6,384 Reddit memes)   |   Backbones:  CLIP ViT-B/32  ·  SigLIP ViT-B/16</a:t>
            </a:r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35CF0A2A-B14E-ED03-02B2-0D2C3F18F8AB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8">
            <a:extLst>
              <a:ext uri="{FF2B5EF4-FFF2-40B4-BE49-F238E27FC236}">
                <a16:creationId xmlns:a16="http://schemas.microsoft.com/office/drawing/2014/main" id="{FA188EB9-0CCE-34D0-F46C-E9FE7EC0C403}"/>
              </a:ext>
            </a:extLst>
          </p:cNvPr>
          <p:cNvSpPr/>
          <p:nvPr/>
        </p:nvSpPr>
        <p:spPr>
          <a:xfrm>
            <a:off x="4297680" y="1820672"/>
            <a:ext cx="3657600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Problem Definition &amp;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Binary classification — frozen backbone + learned fusion head + classifier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949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C77DFF"/>
                </a:solidFill>
                <a:latin typeface="Segoe UI"/>
              </a:rPr>
              <a:t>Task Definition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19072"/>
            <a:ext cx="5166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Input: (image, caption) pair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Output: 0 = literal  |  1 = metaphorical</a:t>
            </a:r>
          </a:p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Positive (1):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meme_caption</a:t>
            </a:r>
            <a:endParaRPr sz="135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poster's intended meaning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Negative (0):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img_caption</a:t>
            </a:r>
            <a:endParaRPr sz="135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literal visual description</a:t>
            </a:r>
          </a:p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Dataset naturally ~50/50 balanced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→ accuracy is a valid primary metric</a:t>
            </a:r>
          </a:p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Metrics: Accuracy, F1, Precision,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Recall, ROC-AUC, Confusion Matrix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234440"/>
            <a:ext cx="589788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0" y="128016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C77DFF"/>
                </a:solidFill>
                <a:latin typeface="Segoe UI"/>
              </a:rPr>
              <a:t>Model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719072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 Frozen Backbone ──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CLIP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ViT</a:t>
            </a:r>
            <a:r>
              <a:rPr sz="1350" dirty="0">
                <a:solidFill>
                  <a:srgbClr val="CCCCCC"/>
                </a:solidFill>
                <a:latin typeface="Segoe UI"/>
              </a:rPr>
              <a:t>-B/32  →  512-d embedding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SigLIP</a:t>
            </a:r>
            <a:r>
              <a:rPr sz="1350" dirty="0">
                <a:solidFill>
                  <a:srgbClr val="CCCCCC"/>
                </a:solidFill>
                <a:latin typeface="Segoe UI"/>
              </a:rPr>
              <a:t>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ViT</a:t>
            </a:r>
            <a:r>
              <a:rPr sz="1350" dirty="0">
                <a:solidFill>
                  <a:srgbClr val="CCCCCC"/>
                </a:solidFill>
                <a:latin typeface="Segoe UI"/>
              </a:rPr>
              <a:t>-B/16  →  768-d embedding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(no gradient through backbone)</a:t>
            </a:r>
          </a:p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 Fusion Head ──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One of 5 strategies (next slide)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Combines image + text embeddings</a:t>
            </a:r>
          </a:p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350" b="1" dirty="0">
                <a:solidFill>
                  <a:srgbClr val="00B4D8"/>
                </a:solidFill>
                <a:latin typeface="Segoe UI"/>
              </a:rPr>
              <a:t>── Classifier Head ──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Linear(in → 512) →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ReLU</a:t>
            </a:r>
            <a:endParaRPr sz="135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→ Dropout(p) → Linear(512 → 1)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Loss: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BCEWithLogitsLoss</a:t>
            </a:r>
            <a:endParaRPr sz="135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Output: single logit → sigmoid → P(metaphorical)</a:t>
            </a:r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87379E76-C1B5-4BA4-CF3B-F7188EBB8A84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FFFFFF"/>
                </a:solidFill>
                <a:latin typeface="Segoe UI"/>
              </a:rPr>
              <a:t>Fusion Strategies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How image and text embeddings are combined before the classifier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21945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2194560" cy="91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00B4D8"/>
                </a:solidFill>
                <a:latin typeface="Segoe UI"/>
              </a:rPr>
              <a:t>Concat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79" y="1920240"/>
            <a:ext cx="192024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993392"/>
            <a:ext cx="20116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Segoe UI"/>
              </a:rPr>
              <a:t>[img ; text]
→ 1024-d vector
(CLIP)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566160"/>
            <a:ext cx="2011680" cy="36576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36301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90E0EF"/>
                </a:solidFill>
                <a:latin typeface="Segoe UI"/>
              </a:rPr>
              <a:t>Note: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3931920"/>
            <a:ext cx="2057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Segoe UI"/>
              </a:rPr>
              <a:t>Simple baseline
Larger classifier input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39" y="1234440"/>
            <a:ext cx="21945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606039" y="1234440"/>
            <a:ext cx="2194560" cy="91440"/>
          </a:xfrm>
          <a:prstGeom prst="rect">
            <a:avLst/>
          </a:prstGeom>
          <a:solidFill>
            <a:srgbClr val="FF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79191" y="135331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9214"/>
                </a:solidFill>
                <a:latin typeface="Segoe UI"/>
              </a:rPr>
              <a:t>Multiply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199" y="1920240"/>
            <a:ext cx="1920240" cy="36576"/>
          </a:xfrm>
          <a:prstGeom prst="rect">
            <a:avLst/>
          </a:prstGeom>
          <a:solidFill>
            <a:srgbClr val="FF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697479" y="1993392"/>
            <a:ext cx="20116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Segoe UI"/>
              </a:rPr>
              <a:t>img ⊗ text
(element-wise)
→ 512-d
(CLIP)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97479" y="3566160"/>
            <a:ext cx="2011680" cy="36576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97479" y="36301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90E0EF"/>
                </a:solidFill>
                <a:latin typeface="Segoe UI"/>
              </a:rPr>
              <a:t>Note: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79191" y="3931920"/>
            <a:ext cx="2057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Segoe UI"/>
              </a:rPr>
              <a:t>Captures direct
feature alignment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7759" y="1234440"/>
            <a:ext cx="21945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937759" y="1234440"/>
            <a:ext cx="2194560" cy="914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10912" y="135331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06D6A0"/>
                </a:solidFill>
                <a:latin typeface="Segoe UI"/>
              </a:rPr>
              <a:t>Bilinear  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1920240"/>
            <a:ext cx="192024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199" y="1993392"/>
            <a:ext cx="20116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Segoe UI"/>
              </a:rPr>
              <a:t>nn.Bilinear
(512, 512, 512)
Second-order
interaction
(CLIP)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199" y="3566160"/>
            <a:ext cx="2011680" cy="36576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199" y="36301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90E0EF"/>
                </a:solidFill>
                <a:latin typeface="Segoe UI"/>
              </a:rPr>
              <a:t>Note: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0912" y="3931920"/>
            <a:ext cx="2057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Segoe UI"/>
              </a:rPr>
              <a:t>Best overall
Captures whether
caption deviates
from image content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79" y="1234440"/>
            <a:ext cx="21945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269479" y="1234440"/>
            <a:ext cx="2194560" cy="9144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42631" y="135331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D600"/>
                </a:solidFill>
                <a:latin typeface="Segoe UI"/>
              </a:rPr>
              <a:t>Cross-Attention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06640" y="1920240"/>
            <a:ext cx="1920240" cy="36576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60919" y="1993392"/>
            <a:ext cx="20116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Segoe UI"/>
              </a:rPr>
              <a:t>img as Q
text as K/V
4-head attn
→ 512-d
(CLIP)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60919" y="3566160"/>
            <a:ext cx="2011680" cy="36576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60919" y="36301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90E0EF"/>
                </a:solidFill>
                <a:latin typeface="Segoe UI"/>
              </a:rPr>
              <a:t>Note: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2631" y="3931920"/>
            <a:ext cx="2057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Segoe UI"/>
              </a:rPr>
              <a:t>Reduces to learned
weighted sum;
limited expressivity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01200" y="1234440"/>
            <a:ext cx="21945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601200" y="1234440"/>
            <a:ext cx="2194560" cy="91440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674352" y="135331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77DFF"/>
                </a:solidFill>
                <a:latin typeface="Segoe UI"/>
              </a:rPr>
              <a:t>Gated Attention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38360" y="1920240"/>
            <a:ext cx="1920240" cy="36576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692640" y="1993392"/>
            <a:ext cx="20116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Segoe UI"/>
              </a:rPr>
              <a:t>Linear(1536→512)
→ Tanh → Linear
→ Softmax weights
w·img + (1-w)·text
(SigLIP 768-d)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92640" y="3566160"/>
            <a:ext cx="2011680" cy="36576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692640" y="36301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90E0EF"/>
                </a:solidFill>
                <a:latin typeface="Segoe UI"/>
              </a:rPr>
              <a:t>Note: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74352" y="3931920"/>
            <a:ext cx="2057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Segoe UI"/>
              </a:rPr>
              <a:t>Adaptive modality
weighting per sample;
used with SigLIP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6492240"/>
            <a:ext cx="11612880" cy="274320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6510528"/>
            <a:ext cx="11338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600"/>
                </a:solidFill>
                <a:latin typeface="Segoe UI"/>
              </a:rPr>
              <a:t>Bilinear captures multiplicative cross-modal interactions — ideal for detecting caption–image semantic divergence</a:t>
            </a:r>
          </a:p>
        </p:txBody>
      </p:sp>
      <p:sp>
        <p:nvSpPr>
          <p:cNvPr id="49" name="Rectangle 1">
            <a:extLst>
              <a:ext uri="{FF2B5EF4-FFF2-40B4-BE49-F238E27FC236}">
                <a16:creationId xmlns:a16="http://schemas.microsoft.com/office/drawing/2014/main" id="{537C6A1D-4DA9-74F6-A012-B062EF76A314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Results  —  CLIP ViT-B/32 + Bilinear 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13816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77DFF"/>
                </a:solidFill>
                <a:latin typeface="Segoe UI"/>
              </a:rPr>
              <a:t>hidden=512  ·  dropout=0.1  ·  Adam lr=1e-4  ·  10 epochs  ·  BCEWithLogitsLoss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16152"/>
          <a:ext cx="11608306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48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34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348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348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9943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11727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Epoch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Loss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F1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Precision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Recall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ROC-AUC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727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0.0603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96.74%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0.9784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0.9977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0.9598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0.9979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727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0.0221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97.25%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0.9818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0.9994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0.9647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0.9996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1727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0.0241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97.42%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0.9829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0.9977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0.9686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0.9986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1727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0.0163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98.60%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0.9908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0.9983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0.9835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0.9968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727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5 ★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0.0052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98.69%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0.9914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0.9961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0.9868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0.9987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727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0.0036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98.35%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0.9892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0.9972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0.9813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0.9989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1727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0.0055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96.86%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0.9792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0.9994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0.9598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0.9990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1727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0.0020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98.60%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0.9908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0.9989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0.9829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0.9992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1727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0.0020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98.47%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0.9900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0.9994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0.9807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0.9988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173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0.0003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98.31%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0.9889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0.9989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0.9791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0.9934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20040" y="4754880"/>
            <a:ext cx="3703320" cy="1920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0040" y="4754880"/>
            <a:ext cx="3703320" cy="8229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4632" y="48646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D6A0"/>
                </a:solidFill>
                <a:latin typeface="Segoe UI"/>
              </a:rPr>
              <a:t>Best (Epoch 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303520"/>
            <a:ext cx="3246120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" y="5376672"/>
            <a:ext cx="3383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Accuracy = 98.69%
F1 = 0.9914
ROC-AUC = 0.9987
MedR: top performance
across all epochs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78807" y="4754880"/>
            <a:ext cx="3703320" cy="1920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78807" y="4754880"/>
            <a:ext cx="3703320" cy="8229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43399" y="48646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B4D8"/>
                </a:solidFill>
                <a:latin typeface="Segoe UI"/>
              </a:rPr>
              <a:t>Precision Near-Perfect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7407" y="5303520"/>
            <a:ext cx="3246120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43399" y="5376672"/>
            <a:ext cx="3383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Precision ≥ 0.996
throughout all epochs
Predicting 'metaphorical'
is almost always correct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7575" y="4754880"/>
            <a:ext cx="3703320" cy="1920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37575" y="4754880"/>
            <a:ext cx="3703320" cy="82296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02167" y="48646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F476F"/>
                </a:solidFill>
                <a:latin typeface="Segoe UI"/>
              </a:rPr>
              <a:t>Error Pattern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66175" y="5303520"/>
            <a:ext cx="3246120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02167" y="5376672"/>
            <a:ext cx="3383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Epoch 7 recall drop
0.9598 despite ~0 loss
False negatives dominate:
metaphorical captions
worded as literal</a:t>
            </a:r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7D5575C5-0960-F49A-BF4C-F5EDB1868FA4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Ablation Study  &amp;  SigLIP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34 additional CLIP runs across fusion type, hidden dim, dropout  ·  SigLIP gated attention (5 epochs)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577840" cy="2971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7DFF"/>
                </a:solidFill>
                <a:latin typeface="Segoe UI"/>
              </a:rPr>
              <a:t>CLIP Ablation — Multi-seed Results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0094459"/>
              </p:ext>
            </p:extLst>
          </p:nvPr>
        </p:nvGraphicFramePr>
        <p:xfrm>
          <a:off x="320039" y="1664208"/>
          <a:ext cx="557783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3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71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71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65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3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02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237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Fusion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Hidden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Dropout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Mean Acc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Mean F1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Std F1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37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Cross-Attn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512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97.01%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0.006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37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Bilinear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512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0.1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97.85%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0.985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0.004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37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Bilinear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1024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98.09%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0.987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0.004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376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Bilinear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512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0.3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98.19%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06D6A0"/>
                          </a:solidFill>
                          <a:latin typeface="Segoe UI"/>
                        </a:rPr>
                        <a:t>0.988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06D6A0"/>
                          </a:solidFill>
                          <a:latin typeface="Segoe UI"/>
                        </a:rPr>
                        <a:t>0.003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94548" y="3235829"/>
            <a:ext cx="5303520" cy="650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dirty="0">
                <a:solidFill>
                  <a:srgbClr val="CCCCCC"/>
                </a:solidFill>
                <a:latin typeface="Segoe UI"/>
              </a:rPr>
              <a:t>  •  Bilinear &gt; Cross-Attention in F1 and stability</a:t>
            </a:r>
          </a:p>
          <a:p>
            <a:pPr algn="l">
              <a:lnSpc>
                <a:spcPct val="125000"/>
              </a:lnSpc>
            </a:pPr>
            <a:r>
              <a:rPr sz="1000" dirty="0">
                <a:solidFill>
                  <a:srgbClr val="CCCCCC"/>
                </a:solidFill>
                <a:latin typeface="Segoe UI"/>
              </a:rPr>
              <a:t>  •  dropout 0.3 &gt; 0.1  (frozen backbone → more regularization helps)</a:t>
            </a:r>
          </a:p>
          <a:p>
            <a:pPr algn="l">
              <a:lnSpc>
                <a:spcPct val="125000"/>
              </a:lnSpc>
            </a:pPr>
            <a:r>
              <a:rPr sz="1000" dirty="0">
                <a:solidFill>
                  <a:srgbClr val="CCCCCC"/>
                </a:solidFill>
                <a:latin typeface="Segoe UI"/>
              </a:rPr>
              <a:t>  •  hidden 1024 brings no gain over 512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234440"/>
            <a:ext cx="5577840" cy="2971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7DFF"/>
                </a:solidFill>
                <a:latin typeface="Segoe UI"/>
              </a:rPr>
              <a:t>SigLIP ViT-B/16 + Gated Attention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26480" y="1664208"/>
          <a:ext cx="55778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90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Epoch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F1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ROC-AUC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1 ★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97.17%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0.9812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6D6A0"/>
                          </a:solidFill>
                          <a:latin typeface="Segoe UI"/>
                        </a:rPr>
                        <a:t>0.9981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97.08%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0.9807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0.9754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97.04%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0.9804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0.9716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97.12%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0.9810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0.9742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96.83%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Segoe UI"/>
                        </a:rPr>
                        <a:t>0.9790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FFFFFF"/>
                          </a:solidFill>
                          <a:latin typeface="Segoe UI"/>
                        </a:rPr>
                        <a:t>0.9845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63640" y="3291840"/>
            <a:ext cx="5303520" cy="842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dirty="0">
                <a:solidFill>
                  <a:srgbClr val="CCCCCC"/>
                </a:solidFill>
                <a:latin typeface="Segoe UI"/>
              </a:rPr>
              <a:t>  •  Best at epoch 1 — saturates very quickly</a:t>
            </a:r>
          </a:p>
          <a:p>
            <a:pPr algn="l">
              <a:lnSpc>
                <a:spcPct val="125000"/>
              </a:lnSpc>
            </a:pPr>
            <a:r>
              <a:rPr sz="1000" dirty="0">
                <a:solidFill>
                  <a:srgbClr val="CCCCCC"/>
                </a:solidFill>
                <a:latin typeface="Segoe UI"/>
              </a:rPr>
              <a:t>  •  ROC-AUC declines steadily (0.9981 → 0.9716)</a:t>
            </a:r>
          </a:p>
          <a:p>
            <a:pPr algn="l">
              <a:lnSpc>
                <a:spcPct val="125000"/>
              </a:lnSpc>
            </a:pPr>
            <a:r>
              <a:rPr sz="1000" dirty="0">
                <a:solidFill>
                  <a:srgbClr val="CCCCCC"/>
                </a:solidFill>
                <a:latin typeface="Segoe UI"/>
              </a:rPr>
              <a:t>  •  FP stays near 0 throughout (FP ≤ 3)</a:t>
            </a:r>
          </a:p>
          <a:p>
            <a:pPr algn="l">
              <a:lnSpc>
                <a:spcPct val="125000"/>
              </a:lnSpc>
            </a:pPr>
            <a:r>
              <a:rPr sz="1000" dirty="0">
                <a:solidFill>
                  <a:srgbClr val="CCCCCC"/>
                </a:solidFill>
                <a:latin typeface="Segoe UI"/>
              </a:rPr>
              <a:t>  •  FN = main error source (65–73 missed metaphorical captions)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4315968"/>
            <a:ext cx="11548872" cy="1417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4315968"/>
            <a:ext cx="11548872" cy="73152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5488" y="4443983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77DFF"/>
                </a:solidFill>
                <a:latin typeface="Segoe UI"/>
              </a:rPr>
              <a:t>Key 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818888"/>
            <a:ext cx="112014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Segoe UI"/>
              </a:rPr>
              <a:t>Both models learn the same error pattern: precision near-perfect, recall limited by metaphorical captions that are phrased in a visually plausible way.  CLIP bilinear converges more stably across 10 epochs; SigLIP gated attention saturates at epoch 1.</a:t>
            </a: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09C9145C-19D8-E0B0-2880-3EE09937F1A8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Overall Comparison &amp; Key 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Task 2.2 — Literal vs. Metaphorical Caption Classification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7DFF"/>
                </a:solidFill>
                <a:latin typeface="Segoe UI"/>
              </a:rPr>
              <a:t>Model Comparison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627632"/>
          <a:ext cx="11457432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Backbone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Fusion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Best Acc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Best F1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ROC-AUC</a:t>
                      </a:r>
                    </a:p>
                  </a:txBody>
                  <a:tcPr>
                    <a:solidFill>
                      <a:srgbClr val="2A00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CLIP Bilinear ★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CLIP ViT-B/32 (512-d)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Bilinear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98.69%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0.9914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0.9987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SigLIP Gated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SigLIP ViT-B/16 (768-d)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Gated Attn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97.17%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0.9812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0.9981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20040" y="2578608"/>
            <a:ext cx="3697224" cy="2148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578608"/>
            <a:ext cx="3697224" cy="82296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4632" y="2688336"/>
            <a:ext cx="34411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77DFF"/>
                </a:solidFill>
                <a:latin typeface="Segoe UI"/>
              </a:rPr>
              <a:t>Bilinear Fusion Wins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163824"/>
            <a:ext cx="3240024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4632" y="3236976"/>
            <a:ext cx="3441192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CCCCCC"/>
                </a:solidFill>
                <a:latin typeface="Segoe UI"/>
              </a:rPr>
              <a:t>CLIP bilinear &gt; </a:t>
            </a:r>
            <a:r>
              <a:rPr sz="1100" b="0" i="0" dirty="0" err="1">
                <a:solidFill>
                  <a:srgbClr val="CCCCCC"/>
                </a:solidFill>
                <a:latin typeface="Segoe UI"/>
              </a:rPr>
              <a:t>SigLIP</a:t>
            </a:r>
            <a:r>
              <a:rPr sz="1100" b="0" i="0" dirty="0">
                <a:solidFill>
                  <a:srgbClr val="CCCCCC"/>
                </a:solidFill>
                <a:latin typeface="Segoe UI"/>
              </a:rPr>
              <a:t> gated
on all metrics despite lower-
dimensional embeddings
(512-d vs 768-d).
Multiplicative interaction
better than convex blend.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5864" y="2578608"/>
            <a:ext cx="3697224" cy="2148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45864" y="2578608"/>
            <a:ext cx="3697224" cy="8229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10456" y="2688336"/>
            <a:ext cx="34411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D6A0"/>
                </a:solidFill>
                <a:latin typeface="Segoe UI"/>
              </a:rPr>
              <a:t>Near-Perfect Precision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74464" y="3163824"/>
            <a:ext cx="3240024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10456" y="3236976"/>
            <a:ext cx="3441192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CCCCCC"/>
                </a:solidFill>
                <a:latin typeface="Segoe UI"/>
              </a:rPr>
              <a:t>Precision ≥ 0.996 across
all models and epochs.
False positives are
extremely rare.
When model says
'metaphorical', it's right.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71688" y="2578608"/>
            <a:ext cx="3697224" cy="2148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71688" y="2578608"/>
            <a:ext cx="3697224" cy="82296"/>
          </a:xfrm>
          <a:prstGeom prst="rect">
            <a:avLst/>
          </a:prstGeom>
          <a:solidFill>
            <a:srgbClr val="FF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36280" y="2688336"/>
            <a:ext cx="34411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9214"/>
                </a:solidFill>
                <a:latin typeface="Segoe UI"/>
              </a:rPr>
              <a:t>False Negatives Dominate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00288" y="3163824"/>
            <a:ext cx="3240024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36280" y="3236976"/>
            <a:ext cx="3441192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CCCCCC"/>
                </a:solidFill>
                <a:latin typeface="Segoe UI"/>
              </a:rPr>
              <a:t>Residual error = metaphorical
captions worded literally.
Ironic / understated language
that CLIP reads as literal.
Hard cases: surface phrasing
diverges from intent.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828032"/>
            <a:ext cx="11548872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0040" y="4828032"/>
            <a:ext cx="11548872" cy="7315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5488" y="49377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600"/>
                </a:solidFill>
                <a:latin typeface="Segoe UI"/>
              </a:rPr>
              <a:t>Why the task is easy for these models: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" y="5303520"/>
            <a:ext cx="11201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Segoe UI"/>
              </a:rPr>
              <a:t>Literal img_captions are exactly the image-aligned text CLIP/SigLIP were contrastively pretrained on — they sit close to their images in embedding space.  Metaphorical meme_captions deviate from visual content and sit further away.  The classifier effectively learns to threshold this embedding-space distance.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943600"/>
            <a:ext cx="11548872" cy="74980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20040" y="5943600"/>
            <a:ext cx="11548872" cy="73152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75488" y="604418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77DFF"/>
                </a:solidFill>
                <a:latin typeface="Segoe UI"/>
              </a:rPr>
              <a:t>Best configuration: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71800" y="6044184"/>
            <a:ext cx="8778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Segoe UI"/>
              </a:rPr>
              <a:t>CLIP ViT-B/32  ·  Bilinear fusion  ·  hidden=512  ·  dropout=0.3   →   mean F1 = 0.988,  best single-run F1 = 0.9914</a:t>
            </a:r>
          </a:p>
        </p:txBody>
      </p:sp>
      <p:sp>
        <p:nvSpPr>
          <p:cNvPr id="32" name="Rectangle 1">
            <a:extLst>
              <a:ext uri="{FF2B5EF4-FFF2-40B4-BE49-F238E27FC236}">
                <a16:creationId xmlns:a16="http://schemas.microsoft.com/office/drawing/2014/main" id="{1F2F1B14-130A-4C30-2C81-18B5F6C80D38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73152"/>
            <a:ext cx="11987784" cy="1005840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CMPE 597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1323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0E0EF"/>
                </a:solidFill>
                <a:latin typeface="Segoe UI"/>
              </a:rPr>
              <a:t>Deep Learning  —  Term Project  |  Group 13  | 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D600"/>
                </a:solidFill>
                <a:latin typeface="Segoe UI"/>
              </a:rPr>
              <a:t>Moving to Final Task: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828800"/>
            <a:ext cx="3657600" cy="4206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1828800"/>
            <a:ext cx="3657600" cy="109728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97510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34455"/>
                </a:solidFill>
                <a:latin typeface="Segoe UI"/>
              </a:rPr>
              <a:t>Task 2.1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2316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668866"/>
                </a:solidFill>
                <a:latin typeface="Segoe UI"/>
              </a:rPr>
              <a:t>Cross-Modal Retrieval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090672"/>
            <a:ext cx="3108960" cy="36576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3182112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  <a:latin typeface="Segoe UI"/>
              </a:rPr>
              <a:t>Given a meme image &amp; title,
retrieve the matching caption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5029200"/>
            <a:ext cx="2560320" cy="438912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505663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6CC66"/>
                </a:solidFill>
                <a:latin typeface="Segoe UI"/>
              </a:rPr>
              <a:t>✓  Completed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1828800"/>
            <a:ext cx="3657600" cy="4206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97680" y="1828800"/>
            <a:ext cx="3657600" cy="109728"/>
          </a:xfrm>
          <a:prstGeom prst="rect">
            <a:avLst/>
          </a:prstGeom>
          <a:solidFill>
            <a:srgbClr val="33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34840" y="197510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33355"/>
                </a:solidFill>
                <a:latin typeface="Segoe UI"/>
              </a:rPr>
              <a:t>Task 2.2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42316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668866"/>
                </a:solidFill>
                <a:latin typeface="Segoe UI"/>
              </a:rPr>
              <a:t>Literal vs. Metaphorical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3090672"/>
            <a:ext cx="3108960" cy="36576"/>
          </a:xfrm>
          <a:prstGeom prst="rect">
            <a:avLst/>
          </a:prstGeom>
          <a:solidFill>
            <a:srgbClr val="33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89120" y="3182112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  <a:latin typeface="Segoe UI"/>
              </a:rPr>
              <a:t>Is the caption a literal
or metaphorical description?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5029200"/>
            <a:ext cx="2560320" cy="438912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92040" y="505663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6CC66"/>
                </a:solidFill>
                <a:latin typeface="Segoe UI"/>
              </a:rPr>
              <a:t>✓  Completed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79" y="1828800"/>
            <a:ext cx="3657600" cy="4206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183879" y="1828800"/>
            <a:ext cx="3657600" cy="109728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21040" y="197510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D600"/>
                </a:solidFill>
                <a:latin typeface="Segoe UI"/>
              </a:rPr>
              <a:t>Task 2.3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42316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Segoe UI"/>
              </a:rPr>
              <a:t>Sentiment Classification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90672"/>
            <a:ext cx="3108960" cy="36576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75319" y="3182112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  <a:latin typeface="Segoe UI"/>
              </a:rPr>
              <a:t>7-class emotion recognition
from meme images &amp; captions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32519" y="5029200"/>
            <a:ext cx="2560320" cy="43891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778240" y="505663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2E"/>
                </a:solidFill>
                <a:latin typeface="Segoe UI"/>
              </a:rPr>
              <a:t>▶  Now Presenting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6263640"/>
            <a:ext cx="11612880" cy="457200"/>
          </a:xfrm>
          <a:prstGeom prst="rect">
            <a:avLst/>
          </a:prstGeom>
          <a:solidFill>
            <a:srgbClr val="0A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63093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0E0EF"/>
                </a:solidFill>
                <a:latin typeface="Segoe UI"/>
              </a:rPr>
              <a:t>Dataset:  MemeCap  (5,823 train · 559 test)   |   Backbone:  CLIP ViT-B/32 (frozen)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FFFFFF"/>
                </a:solidFill>
                <a:latin typeface="Segoe UI"/>
              </a:rPr>
              <a:t>Sentiment Annotation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Automated labelling with j-hartmann/emotion-english-distilroberta-base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9496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600"/>
                </a:solidFill>
                <a:latin typeface="Segoe UI"/>
              </a:rPr>
              <a:t>Annotation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19072"/>
            <a:ext cx="5166360" cy="4151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Model: </a:t>
            </a:r>
            <a:r>
              <a:rPr sz="1300" dirty="0" err="1">
                <a:solidFill>
                  <a:srgbClr val="CCCCCC"/>
                </a:solidFill>
                <a:latin typeface="Segoe UI"/>
              </a:rPr>
              <a:t>DistilRoBERTa</a:t>
            </a:r>
            <a:r>
              <a:rPr sz="1300" dirty="0">
                <a:solidFill>
                  <a:srgbClr val="CCCCCC"/>
                </a:solidFill>
                <a:latin typeface="Segoe UI"/>
              </a:rPr>
              <a:t> fine-tuned</a:t>
            </a:r>
            <a:endParaRPr lang="tr-TR" sz="130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20000"/>
              </a:lnSpc>
            </a:pPr>
            <a:r>
              <a:rPr lang="tr-TR" sz="1300" dirty="0">
                <a:solidFill>
                  <a:srgbClr val="CCCCCC"/>
                </a:solidFill>
                <a:latin typeface="Segoe UI"/>
              </a:rPr>
              <a:t>  •    on 7-class </a:t>
            </a:r>
            <a:r>
              <a:rPr lang="tr-TR" sz="1300" dirty="0" err="1">
                <a:solidFill>
                  <a:srgbClr val="CCCCCC"/>
                </a:solidFill>
                <a:latin typeface="Segoe UI"/>
              </a:rPr>
              <a:t>emotion</a:t>
            </a:r>
            <a:r>
              <a:rPr lang="tr-TR" sz="1300" dirty="0">
                <a:solidFill>
                  <a:srgbClr val="CCCCCC"/>
                </a:solidFill>
                <a:latin typeface="Segoe UI"/>
              </a:rPr>
              <a:t> </a:t>
            </a:r>
            <a:r>
              <a:rPr lang="tr-TR" sz="1300" dirty="0" err="1">
                <a:solidFill>
                  <a:srgbClr val="CCCCCC"/>
                </a:solidFill>
                <a:latin typeface="Segoe UI"/>
              </a:rPr>
              <a:t>corpus</a:t>
            </a:r>
            <a:endParaRPr lang="tr-TR" sz="130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7 classes: anger, disgust, fear,</a:t>
            </a:r>
            <a:endParaRPr lang="tr-TR" sz="130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20000"/>
              </a:lnSpc>
            </a:pPr>
            <a:r>
              <a:rPr lang="tr-TR" sz="1300" dirty="0">
                <a:solidFill>
                  <a:srgbClr val="CCCCCC"/>
                </a:solidFill>
                <a:latin typeface="Segoe UI"/>
              </a:rPr>
              <a:t>  •    </a:t>
            </a:r>
            <a:r>
              <a:rPr lang="tr-TR" sz="1300" dirty="0" err="1">
                <a:solidFill>
                  <a:srgbClr val="CCCCCC"/>
                </a:solidFill>
                <a:latin typeface="Segoe UI"/>
              </a:rPr>
              <a:t>joy</a:t>
            </a:r>
            <a:r>
              <a:rPr lang="tr-TR" sz="1300" dirty="0">
                <a:solidFill>
                  <a:srgbClr val="CCCCCC"/>
                </a:solidFill>
                <a:latin typeface="Segoe UI"/>
              </a:rPr>
              <a:t>, </a:t>
            </a:r>
            <a:r>
              <a:rPr lang="tr-TR" sz="1300" dirty="0" err="1">
                <a:solidFill>
                  <a:srgbClr val="CCCCCC"/>
                </a:solidFill>
                <a:latin typeface="Segoe UI"/>
              </a:rPr>
              <a:t>neutral</a:t>
            </a:r>
            <a:r>
              <a:rPr lang="tr-TR" sz="1300" dirty="0">
                <a:solidFill>
                  <a:srgbClr val="CCCCCC"/>
                </a:solidFill>
                <a:latin typeface="Segoe UI"/>
              </a:rPr>
              <a:t>, </a:t>
            </a:r>
            <a:r>
              <a:rPr lang="tr-TR" sz="1300" dirty="0" err="1">
                <a:solidFill>
                  <a:srgbClr val="CCCCCC"/>
                </a:solidFill>
                <a:latin typeface="Segoe UI"/>
              </a:rPr>
              <a:t>sadness</a:t>
            </a:r>
            <a:r>
              <a:rPr lang="tr-TR" sz="1300" dirty="0">
                <a:solidFill>
                  <a:srgbClr val="CCCCCC"/>
                </a:solidFill>
                <a:latin typeface="Segoe UI"/>
              </a:rPr>
              <a:t>, </a:t>
            </a:r>
            <a:r>
              <a:rPr lang="tr-TR" sz="1300" dirty="0" err="1">
                <a:solidFill>
                  <a:srgbClr val="CCCCCC"/>
                </a:solidFill>
                <a:latin typeface="Segoe UI"/>
              </a:rPr>
              <a:t>surprise</a:t>
            </a:r>
            <a:endParaRPr lang="tr-TR" sz="130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20000"/>
              </a:lnSpc>
            </a:pPr>
            <a:r>
              <a:rPr sz="130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Pipeline: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  1. Sanitize</a:t>
            </a:r>
            <a:r>
              <a:rPr lang="tr-TR" sz="1300" dirty="0">
                <a:solidFill>
                  <a:srgbClr val="CCCCCC"/>
                </a:solidFill>
                <a:latin typeface="Segoe UI"/>
              </a:rPr>
              <a:t> meme</a:t>
            </a:r>
            <a:r>
              <a:rPr sz="1300" dirty="0">
                <a:solidFill>
                  <a:srgbClr val="CCCCCC"/>
                </a:solidFill>
                <a:latin typeface="Segoe UI"/>
              </a:rPr>
              <a:t> captions</a:t>
            </a:r>
            <a:endParaRPr lang="tr-TR" sz="130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20000"/>
              </a:lnSpc>
            </a:pPr>
            <a:r>
              <a:rPr lang="tr-TR" sz="1300" dirty="0">
                <a:solidFill>
                  <a:srgbClr val="CCCCCC"/>
                </a:solidFill>
                <a:latin typeface="Segoe UI"/>
              </a:rPr>
              <a:t>  •       (150+ </a:t>
            </a:r>
            <a:r>
              <a:rPr lang="tr-TR" sz="1300" dirty="0" err="1">
                <a:solidFill>
                  <a:srgbClr val="CCCCCC"/>
                </a:solidFill>
                <a:latin typeface="Segoe UI"/>
              </a:rPr>
              <a:t>replacement</a:t>
            </a:r>
            <a:r>
              <a:rPr lang="tr-TR" sz="1300" dirty="0">
                <a:solidFill>
                  <a:srgbClr val="CCCCCC"/>
                </a:solidFill>
                <a:latin typeface="Segoe UI"/>
              </a:rPr>
              <a:t> </a:t>
            </a:r>
            <a:r>
              <a:rPr lang="tr-TR" sz="1300" dirty="0" err="1">
                <a:solidFill>
                  <a:srgbClr val="CCCCCC"/>
                </a:solidFill>
                <a:latin typeface="Segoe UI"/>
              </a:rPr>
              <a:t>rules</a:t>
            </a:r>
            <a:r>
              <a:rPr lang="tr-TR" sz="1300" dirty="0">
                <a:solidFill>
                  <a:srgbClr val="CCCCCC"/>
                </a:solidFill>
                <a:latin typeface="Segoe UI"/>
              </a:rPr>
              <a:t>)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  2. Classify first caption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  3. Majority-vote on multi-caption memes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  4. Save score + label per sample</a:t>
            </a:r>
          </a:p>
          <a:p>
            <a:pPr algn="l">
              <a:lnSpc>
                <a:spcPct val="120000"/>
              </a:lnSpc>
            </a:pPr>
            <a:r>
              <a:rPr sz="130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Quality check (50 samples):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  score ≥ 0.85  →  reliable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  score &lt; 0.50  →  ~8-12% mislabel rate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  Main errors: sarcasm, irony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  → label smoothing used in 2.3(c)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234440"/>
            <a:ext cx="589788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0" y="128016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600"/>
                </a:solidFill>
                <a:latin typeface="Segoe UI"/>
              </a:rPr>
              <a:t>Class Distribution  (Train: 5,823 samples)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989320" y="1691640"/>
          <a:ext cx="58978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Emotion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Train %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neutral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2,153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37.0%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anger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  959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16.5%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sadness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  860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14.8%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joy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  621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10.7%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surprise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  495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8.5%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disgust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  393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6.7%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fear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  342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5.9%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126480" y="4096512"/>
            <a:ext cx="5577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Imbalance ratio: 6.30× (train) · 9.20× (test)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Shannon entropy: 2.516 / 2.807 (uniform)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neutral dominates — addressed with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  class-weighted loss + weighted sampler</a:t>
            </a:r>
          </a:p>
          <a:p>
            <a:pPr algn="l">
              <a:lnSpc>
                <a:spcPct val="120000"/>
              </a:lnSpc>
            </a:pPr>
            <a:r>
              <a:rPr sz="1300" b="1" dirty="0">
                <a:solidFill>
                  <a:srgbClr val="00B4D8"/>
                </a:solidFill>
                <a:latin typeface="Segoe UI"/>
              </a:rPr>
              <a:t>──────────────────────────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Caption sanitizer removes: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  narrator framing, reporting verbs,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  hedging language  →  cleaner emotion signal</a:t>
            </a:r>
          </a:p>
        </p:txBody>
      </p:sp>
      <p:sp>
        <p:nvSpPr>
          <p:cNvPr id="14" name="Rectangle 1">
            <a:extLst>
              <a:ext uri="{FF2B5EF4-FFF2-40B4-BE49-F238E27FC236}">
                <a16:creationId xmlns:a16="http://schemas.microsoft.com/office/drawing/2014/main" id="{F559230A-7479-9670-8191-B17CE0F8CCC4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FFFFFF"/>
                </a:solidFill>
                <a:latin typeface="Segoe UI"/>
              </a:rPr>
              <a:t>Unimodal MLP Probes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How much does each modality carry alone?  CLIP frozen embeddings → 3-layer MLP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94960" cy="3291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600"/>
                </a:solidFill>
                <a:latin typeface="Segoe UI"/>
              </a:rPr>
              <a:t>Architecture &amp;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19072"/>
            <a:ext cx="5166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CLIP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ViT</a:t>
            </a:r>
            <a:r>
              <a:rPr sz="1350" dirty="0">
                <a:solidFill>
                  <a:srgbClr val="CCCCCC"/>
                </a:solidFill>
                <a:latin typeface="Segoe UI"/>
              </a:rPr>
              <a:t>-B/32 embeddings (frozen, 512-d)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MLP: 512 → 256 → 7 classes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Optimizer: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AdamW</a:t>
            </a:r>
            <a:endParaRPr sz="1350" dirty="0">
              <a:solidFill>
                <a:srgbClr val="CCCCCC"/>
              </a:solidFill>
              <a:latin typeface="Segoe UI"/>
            </a:endParaRP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Loss: cross-entropy + class weights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  (inverse frequency per class)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Early stop: patience=10 on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val</a:t>
            </a:r>
            <a:r>
              <a:rPr sz="1350" dirty="0">
                <a:solidFill>
                  <a:srgbClr val="CCCCCC"/>
                </a:solidFill>
                <a:latin typeface="Segoe UI"/>
              </a:rPr>
              <a:t> Macro F1</a:t>
            </a:r>
          </a:p>
          <a:p>
            <a:pPr algn="l">
              <a:lnSpc>
                <a:spcPct val="125000"/>
              </a:lnSpc>
            </a:pPr>
            <a:r>
              <a:rPr sz="1350" dirty="0">
                <a:solidFill>
                  <a:srgbClr val="CCCCCC"/>
                </a:solidFill>
                <a:latin typeface="Segoe UI"/>
              </a:rPr>
              <a:t>  •  Split: 5,160 train / 504 </a:t>
            </a:r>
            <a:r>
              <a:rPr sz="1350" dirty="0" err="1">
                <a:solidFill>
                  <a:srgbClr val="CCCCCC"/>
                </a:solidFill>
                <a:latin typeface="Segoe UI"/>
              </a:rPr>
              <a:t>val</a:t>
            </a:r>
            <a:r>
              <a:rPr sz="1350" dirty="0">
                <a:solidFill>
                  <a:srgbClr val="CCCCCC"/>
                </a:solidFill>
                <a:latin typeface="Segoe UI"/>
              </a:rPr>
              <a:t> / 559 test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4645152"/>
            <a:ext cx="5394960" cy="15544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469087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600"/>
                </a:solidFill>
                <a:latin typeface="Segoe UI"/>
              </a:rPr>
              <a:t>Key Observation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84064"/>
            <a:ext cx="516636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Caption &gt;&gt; Image for most emotions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Image fails on disgust (0.076) &amp;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  surprise (0.073) completely</a:t>
            </a:r>
          </a:p>
          <a:p>
            <a:pPr algn="l">
              <a:lnSpc>
                <a:spcPct val="120000"/>
              </a:lnSpc>
            </a:pPr>
            <a:r>
              <a:rPr sz="1300" dirty="0">
                <a:solidFill>
                  <a:srgbClr val="CCCCCC"/>
                </a:solidFill>
                <a:latin typeface="Segoe UI"/>
              </a:rPr>
              <a:t>  •  Both weak on neutral (~0.333)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234440"/>
            <a:ext cx="5897880" cy="496519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26480" y="128016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600"/>
                </a:solidFill>
                <a:latin typeface="Segoe UI"/>
              </a:rPr>
              <a:t>Results per Class  (F1)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989320" y="1664208"/>
          <a:ext cx="5897880" cy="2395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46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Class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FFFFFF"/>
                          </a:solidFill>
                          <a:latin typeface="Segoe UI"/>
                        </a:rPr>
                        <a:t>Image MLP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Caption MLP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Δ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946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anger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FFFFFF"/>
                          </a:solidFill>
                          <a:latin typeface="Segoe UI"/>
                        </a:rPr>
                        <a:t>0.238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FFFFFF"/>
                          </a:solidFill>
                          <a:latin typeface="Segoe UI"/>
                        </a:rPr>
                        <a:t>0.402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+0.164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946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disgust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0.076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0.176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+0.100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946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fear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0.151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FFFFFF"/>
                          </a:solidFill>
                          <a:latin typeface="Segoe UI"/>
                        </a:rPr>
                        <a:t>0.386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+0.235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946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joy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FFFFFF"/>
                          </a:solidFill>
                          <a:latin typeface="Segoe UI"/>
                        </a:rPr>
                        <a:t>0.239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0.428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+0.189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946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neutral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0.333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0.335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+0.002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946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sadness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0.278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0.485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+0.208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946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surprise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0.073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FFFFFF"/>
                          </a:solidFill>
                          <a:latin typeface="Segoe UI"/>
                        </a:rPr>
                        <a:t>0.262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FFFFFF"/>
                          </a:solidFill>
                          <a:latin typeface="Segoe UI"/>
                        </a:rPr>
                        <a:t>+0.189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126480" y="4133087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D600"/>
                </a:solidFill>
                <a:latin typeface="Segoe UI"/>
              </a:rPr>
              <a:t>Overall metrics: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989320" y="4498848"/>
          <a:ext cx="5897880" cy="8458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8224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Macro F1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Weighted F1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FFFFF"/>
                          </a:solidFill>
                          <a:latin typeface="Segoe UI"/>
                        </a:rPr>
                        <a:t>Image MLP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FFFFF"/>
                          </a:solidFill>
                          <a:latin typeface="Segoe UI"/>
                        </a:rPr>
                        <a:t>23.81%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FFFFF"/>
                          </a:solidFill>
                          <a:latin typeface="Segoe UI"/>
                        </a:rPr>
                        <a:t>0.1983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FFFFF"/>
                          </a:solidFill>
                          <a:latin typeface="Segoe UI"/>
                        </a:rPr>
                        <a:t>0.2584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FFFFF"/>
                          </a:solidFill>
                          <a:latin typeface="Segoe UI"/>
                        </a:rPr>
                        <a:t>Caption MLP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FFFFF"/>
                          </a:solidFill>
                          <a:latin typeface="Segoe UI"/>
                        </a:rPr>
                        <a:t>36.51%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FFFFF"/>
                          </a:solidFill>
                          <a:latin typeface="Segoe UI"/>
                        </a:rPr>
                        <a:t>0.3533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FFFFFF"/>
                          </a:solidFill>
                          <a:latin typeface="Segoe UI"/>
                        </a:rPr>
                        <a:t>0.3634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Rectangle 1">
            <a:extLst>
              <a:ext uri="{FF2B5EF4-FFF2-40B4-BE49-F238E27FC236}">
                <a16:creationId xmlns:a16="http://schemas.microsoft.com/office/drawing/2014/main" id="{748F3767-340E-3FF2-6B44-B51E11D8792D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FFFFFF"/>
                </a:solidFill>
                <a:latin typeface="Segoe UI"/>
              </a:rPr>
              <a:t>CAFN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CrossModal Attention Fusion Network — bidirectional cross-attention + gated fusion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2194560" cy="3108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2194560" cy="9144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2057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600"/>
                </a:solidFill>
                <a:latin typeface="Segoe UI"/>
              </a:rPr>
              <a:t>① Projection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79" y="2011680"/>
            <a:ext cx="1920240" cy="36576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084831"/>
            <a:ext cx="2029968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Segoe UI"/>
              </a:rPr>
              <a:t>CLIP 512-d embeddings
→ Linear → LayerNorm → GELU
→ 256-d for image &amp; text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39" y="1234440"/>
            <a:ext cx="2194560" cy="3108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606039" y="1234440"/>
            <a:ext cx="2194560" cy="91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679191" y="1353312"/>
            <a:ext cx="2057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B4D8"/>
                </a:solidFill>
                <a:latin typeface="Segoe UI"/>
              </a:rPr>
              <a:t>② Bidirectional
Cross-Attention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199" y="2011680"/>
            <a:ext cx="192024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697479" y="2084831"/>
            <a:ext cx="2029968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Segoe UI"/>
              </a:rPr>
              <a:t>Image queries Text
(4-head MultiheadAttention)
+
Text queries Image
→ residual connections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59" y="1234440"/>
            <a:ext cx="2194560" cy="3108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937759" y="1234440"/>
            <a:ext cx="2194560" cy="914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10912" y="1353312"/>
            <a:ext cx="2057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D6A0"/>
                </a:solidFill>
                <a:latin typeface="Segoe UI"/>
              </a:rPr>
              <a:t>③ Gated Fusion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74920" y="2011680"/>
            <a:ext cx="1920240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199" y="2084831"/>
            <a:ext cx="2029968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Segoe UI"/>
              </a:rPr>
              <a:t>2-way softmax gate:
g_i · i_att + g_t · t_att
→ 256-d fused vector
(learned per-sample weights)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79" y="1234440"/>
            <a:ext cx="2194560" cy="3108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269479" y="1234440"/>
            <a:ext cx="2194560" cy="91440"/>
          </a:xfrm>
          <a:prstGeom prst="rect">
            <a:avLst/>
          </a:prstGeom>
          <a:solidFill>
            <a:srgbClr val="FF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42631" y="1353312"/>
            <a:ext cx="2057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9214"/>
                </a:solidFill>
                <a:latin typeface="Segoe UI"/>
              </a:rPr>
              <a:t>④ Concat + Project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0" y="2011680"/>
            <a:ext cx="1920240" cy="36576"/>
          </a:xfrm>
          <a:prstGeom prst="rect">
            <a:avLst/>
          </a:prstGeom>
          <a:solidFill>
            <a:srgbClr val="FF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60919" y="2084831"/>
            <a:ext cx="2029968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Segoe UI"/>
              </a:rPr>
              <a:t>[gated_fusion ; i_att]
→ 512-d
→ Linear → LayerNorm
→ GELU → Dropout(0.3)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0" y="1234440"/>
            <a:ext cx="2194560" cy="3108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601200" y="1234440"/>
            <a:ext cx="2194560" cy="91440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674352" y="1353312"/>
            <a:ext cx="2057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77DFF"/>
                </a:solidFill>
                <a:latin typeface="Segoe UI"/>
              </a:rPr>
              <a:t>⑤ Classifier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38360" y="2011680"/>
            <a:ext cx="1920240" cy="36576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92640" y="2084831"/>
            <a:ext cx="2029968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Segoe UI"/>
              </a:rPr>
              <a:t>512 → 256 → GELU
→ Dropout(0.3)
→ 7 logits
(BCEWithLogitsLoss per class)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46227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600"/>
                </a:solidFill>
                <a:latin typeface="Segoe UI"/>
              </a:rPr>
              <a:t>Training Techniques: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846320"/>
            <a:ext cx="2194560" cy="181051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74320" y="4846320"/>
            <a:ext cx="2194560" cy="64008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47472" y="493776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D600"/>
                </a:solidFill>
                <a:latin typeface="Segoe UI"/>
              </a:rPr>
              <a:t>Label Smoothing ε=0.1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5413248"/>
            <a:ext cx="202996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Segoe UI"/>
              </a:rPr>
              <a:t>Handles ~8-12% mislabels
from 2.3(a) annotation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06039" y="4846320"/>
            <a:ext cx="2194560" cy="181051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2606039" y="4846320"/>
            <a:ext cx="2194560" cy="6400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679191" y="493776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6D6A0"/>
                </a:solidFill>
                <a:latin typeface="Segoe UI"/>
              </a:rPr>
              <a:t>Mixup (α=0.2)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97479" y="5413248"/>
            <a:ext cx="202996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Segoe UI"/>
              </a:rPr>
              <a:t>Synthetic embedding
mixtures → robustness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59" y="4846320"/>
            <a:ext cx="2194560" cy="181051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937759" y="4846320"/>
            <a:ext cx="219456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010912" y="493776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B4D8"/>
                </a:solidFill>
                <a:latin typeface="Segoe UI"/>
              </a:rPr>
              <a:t>Weighted Sampler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199" y="5413248"/>
            <a:ext cx="202996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Segoe UI"/>
              </a:rPr>
              <a:t>Inverse-freq oversampling
capped at 2× — minority boost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269479" y="4846320"/>
            <a:ext cx="2194560" cy="181051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7269479" y="4846320"/>
            <a:ext cx="2194560" cy="64008"/>
          </a:xfrm>
          <a:prstGeom prst="rect">
            <a:avLst/>
          </a:prstGeom>
          <a:solidFill>
            <a:srgbClr val="FF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342631" y="493776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9214"/>
                </a:solidFill>
                <a:latin typeface="Segoe UI"/>
              </a:rPr>
              <a:t>Modality Dropout p=0.15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60919" y="5413248"/>
            <a:ext cx="202996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Segoe UI"/>
              </a:rPr>
              <a:t>Zeros one modality
15% of batches → robust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01200" y="4846320"/>
            <a:ext cx="2194560" cy="181051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9601200" y="4846320"/>
            <a:ext cx="2194560" cy="64008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674352" y="493776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77DFF"/>
                </a:solidFill>
                <a:latin typeface="Segoe UI"/>
              </a:rPr>
              <a:t>Cosine LR + Warmup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92640" y="5413248"/>
            <a:ext cx="202996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Segoe UI"/>
              </a:rPr>
              <a:t>3 epoch warm-up
then cosine decay</a:t>
            </a:r>
          </a:p>
        </p:txBody>
      </p:sp>
      <p:sp>
        <p:nvSpPr>
          <p:cNvPr id="53" name="Rectangle 1">
            <a:extLst>
              <a:ext uri="{FF2B5EF4-FFF2-40B4-BE49-F238E27FC236}">
                <a16:creationId xmlns:a16="http://schemas.microsoft.com/office/drawing/2014/main" id="{402682B3-B9B1-466F-16BB-3968174A7D6A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FFFFFF"/>
                </a:solidFill>
                <a:latin typeface="Segoe UI"/>
              </a:rPr>
              <a:t>Results &amp; Full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Image MLP  vs.  Caption MLP  vs.  CAFN (CrossModal Attention Fusion Network)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600"/>
                </a:solidFill>
                <a:latin typeface="Segoe UI"/>
              </a:rPr>
              <a:t>Overall Metrics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627632"/>
          <a:ext cx="11548872" cy="115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97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7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71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Macro F1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Weighted F1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Image MLP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23.81%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0.1983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0.2584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Caption MLP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36.51%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0.3533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0.3634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CAFN ★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38.89%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0.3335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0.4040</a:t>
                      </a:r>
                    </a:p>
                  </a:txBody>
                  <a:tcPr>
                    <a:solidFill>
                      <a:srgbClr val="053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2606040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600"/>
                </a:solidFill>
                <a:latin typeface="Segoe UI"/>
              </a:rPr>
              <a:t>Per-class F1 Score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990088"/>
          <a:ext cx="1154887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6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36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Class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Image MLP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Caption MLP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CAFN ★</a:t>
                      </a:r>
                    </a:p>
                  </a:txBody>
                  <a:tcPr>
                    <a:solidFill>
                      <a:srgbClr val="403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anger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0.238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0.402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0.350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disgust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0.076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0.176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0.121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fear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0.151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0.386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0.327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joy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0.239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0.428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0.418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neutral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0.333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0.335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0.496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sadness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0.278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0.485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0.446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surprise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0.073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6D6A0"/>
                          </a:solidFill>
                          <a:latin typeface="Segoe UI"/>
                        </a:rPr>
                        <a:t>0.262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0.176</a:t>
                      </a:r>
                    </a:p>
                  </a:txBody>
                  <a:tcPr>
                    <a:solidFill>
                      <a:srgbClr val="1E2A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320040" y="5458968"/>
            <a:ext cx="3703320" cy="1280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" y="5458968"/>
            <a:ext cx="3703320" cy="7315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4632" y="55595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D600"/>
                </a:solidFill>
                <a:latin typeface="Segoe UI"/>
              </a:rPr>
              <a:t>CAFN Accuracy Best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943600"/>
            <a:ext cx="3246120" cy="27432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4632" y="5989320"/>
            <a:ext cx="33832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 dirty="0">
                <a:solidFill>
                  <a:srgbClr val="CCCCCC"/>
                </a:solidFill>
                <a:latin typeface="Segoe UI"/>
              </a:rPr>
              <a:t>38.89% (+2.38pp vs caption)
Weighted F1 = 0.4040
Better on high-support
classes (neutral, joy)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8807" y="5458968"/>
            <a:ext cx="3703320" cy="1280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78807" y="5458968"/>
            <a:ext cx="3703320" cy="73152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43399" y="55595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EF476F"/>
                </a:solidFill>
                <a:latin typeface="Segoe UI"/>
              </a:rPr>
              <a:t>Macro F1 Dips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07407" y="5943600"/>
            <a:ext cx="3246120" cy="27432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43399" y="5989320"/>
            <a:ext cx="33832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 dirty="0">
                <a:solidFill>
                  <a:srgbClr val="CCCCCC"/>
                </a:solidFill>
                <a:latin typeface="Segoe UI"/>
              </a:rPr>
              <a:t>CAFN Macro F1 = 0.3335
vs Caption 0.3533
Image modality hurts</a:t>
            </a:r>
            <a:r>
              <a:rPr lang="tr-TR" sz="800" b="0" i="0" dirty="0">
                <a:solidFill>
                  <a:srgbClr val="CCCCCC"/>
                </a:solidFill>
                <a:latin typeface="Segoe UI"/>
              </a:rPr>
              <a:t> </a:t>
            </a:r>
            <a:r>
              <a:rPr sz="800" b="0" i="0" dirty="0">
                <a:solidFill>
                  <a:srgbClr val="CCCCCC"/>
                </a:solidFill>
                <a:latin typeface="Segoe UI"/>
              </a:rPr>
              <a:t>minority classes
(disgust, surprise)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7575" y="5458968"/>
            <a:ext cx="3703320" cy="1280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37575" y="5458968"/>
            <a:ext cx="370332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02167" y="55595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00B4D8"/>
                </a:solidFill>
                <a:latin typeface="Segoe UI"/>
              </a:rPr>
              <a:t>Caption Wins per Class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66175" y="5943600"/>
            <a:ext cx="3246120" cy="27432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02167" y="5989320"/>
            <a:ext cx="33832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 dirty="0">
                <a:solidFill>
                  <a:srgbClr val="CCCCCC"/>
                </a:solidFill>
                <a:latin typeface="Segoe UI"/>
              </a:rPr>
              <a:t>Caption MLP best on:
anger, disgust, fear,</a:t>
            </a:r>
            <a:r>
              <a:rPr lang="tr-TR" sz="800" b="0" i="0" dirty="0">
                <a:solidFill>
                  <a:srgbClr val="CCCCCC"/>
                </a:solidFill>
                <a:latin typeface="Segoe UI"/>
              </a:rPr>
              <a:t> </a:t>
            </a:r>
            <a:r>
              <a:rPr sz="800" b="0" i="0" dirty="0">
                <a:solidFill>
                  <a:srgbClr val="CCCCCC"/>
                </a:solidFill>
                <a:latin typeface="Segoe UI"/>
              </a:rPr>
              <a:t>joy, sadness, surprise
CAFN only best on:
neutral (+0.161)</a:t>
            </a:r>
          </a:p>
        </p:txBody>
      </p:sp>
      <p:sp>
        <p:nvSpPr>
          <p:cNvPr id="26" name="Rectangle 1">
            <a:extLst>
              <a:ext uri="{FF2B5EF4-FFF2-40B4-BE49-F238E27FC236}">
                <a16:creationId xmlns:a16="http://schemas.microsoft.com/office/drawing/2014/main" id="{4962A195-AA04-D475-EB7D-79A70977A0FF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1168" y="0"/>
            <a:ext cx="11987784" cy="7315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109728"/>
            <a:ext cx="11987784" cy="658368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Key Findings &amp;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0E0EF"/>
                </a:solidFill>
                <a:latin typeface="Segoe UI"/>
              </a:rPr>
              <a:t>Task 2.3 — Meme Sentiment Classification summary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3697224" cy="2194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3697224" cy="82296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632" y="1371600"/>
            <a:ext cx="3441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FFD600"/>
                </a:solidFill>
                <a:latin typeface="Segoe UI"/>
              </a:rPr>
              <a:t>Caption &gt; Image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3240024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4632" y="1901952"/>
            <a:ext cx="344119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Caption MLP Macro F1: 0.353
Image MLP Macro F1: 0.198
Image embeddings encode
visual semantics, not
emotional tone.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5864" y="1261872"/>
            <a:ext cx="3697224" cy="2194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45864" y="1261872"/>
            <a:ext cx="3697224" cy="8229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10456" y="1371600"/>
            <a:ext cx="3441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06D6A0"/>
                </a:solidFill>
                <a:latin typeface="Segoe UI"/>
              </a:rPr>
              <a:t>CAFN Improves Accuracy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74464" y="1828800"/>
            <a:ext cx="3240024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10456" y="1901952"/>
            <a:ext cx="344119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38.89% vs 36.51%
(+2.38pp)
Higher weighted F1 (0.404)
CAFN helps on neutral —
the majority class.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71688" y="1261872"/>
            <a:ext cx="3697224" cy="2194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71688" y="1261872"/>
            <a:ext cx="3697224" cy="82296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36280" y="1371600"/>
            <a:ext cx="3441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EF476F"/>
                </a:solidFill>
                <a:latin typeface="Segoe UI"/>
              </a:rPr>
              <a:t>Minority Classes Hurt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00288" y="1828800"/>
            <a:ext cx="3240024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36280" y="1901952"/>
            <a:ext cx="344119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CAFN Macro F1 &lt; Caption MLP
(0.334 vs 0.353)
Image modality adds noise
for disgust, surprise.
Gating insufficient.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2951" y="3602736"/>
            <a:ext cx="3697224" cy="2148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282951" y="3602736"/>
            <a:ext cx="3697224" cy="8229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447543" y="3712463"/>
            <a:ext cx="3441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00B4D8"/>
                </a:solidFill>
                <a:latin typeface="Segoe UI"/>
              </a:rPr>
              <a:t>Label Noise Handled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11551" y="4187952"/>
            <a:ext cx="3240024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447543" y="4261104"/>
            <a:ext cx="344119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~8-12% mislabel rate from 2.3(a)
→ label smoothing (ε=0.1)
→ modality dropout (p=0.15)
Both techniques reduce
overfitting to noisy labels.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08776" y="3602736"/>
            <a:ext cx="3697224" cy="2148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08776" y="3602736"/>
            <a:ext cx="3697224" cy="82296"/>
          </a:xfrm>
          <a:prstGeom prst="rect">
            <a:avLst/>
          </a:prstGeom>
          <a:solidFill>
            <a:srgbClr val="FF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73368" y="3712463"/>
            <a:ext cx="3441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FF9214"/>
                </a:solidFill>
                <a:latin typeface="Segoe UI"/>
              </a:rPr>
              <a:t>Class Imbalance Hard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37376" y="4187952"/>
            <a:ext cx="3240024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4261104"/>
            <a:ext cx="344119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  <a:latin typeface="Segoe UI"/>
              </a:rPr>
              <a:t>9.2× imbalance (test set)
neutral = 37% of samples
Weighted sampler + class
weights improve recall on
minority classes partially.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870448"/>
            <a:ext cx="11548872" cy="804672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5870448"/>
            <a:ext cx="11548872" cy="7315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5488" y="598017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600"/>
                </a:solidFill>
                <a:latin typeface="Segoe UI"/>
              </a:rPr>
              <a:t>Best result: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80" y="5980176"/>
            <a:ext cx="9509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  <a:latin typeface="Segoe UI"/>
              </a:rPr>
              <a:t>CAFN  →  Accuracy 38.89%, Weighted F1 0.404   |   Caption MLP  →  Macro F1 0.353 (best on minority classes)   |   Annotation quality is the task bottleneck</a:t>
            </a:r>
          </a:p>
        </p:txBody>
      </p:sp>
      <p:sp>
        <p:nvSpPr>
          <p:cNvPr id="36" name="Rectangle 1">
            <a:extLst>
              <a:ext uri="{FF2B5EF4-FFF2-40B4-BE49-F238E27FC236}">
                <a16:creationId xmlns:a16="http://schemas.microsoft.com/office/drawing/2014/main" id="{E4B85CFB-8FA3-7237-FE00-364B10F9447D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3808</Words>
  <Application>Microsoft Office PowerPoint</Application>
  <PresentationFormat>Özel</PresentationFormat>
  <Paragraphs>774</Paragraphs>
  <Slides>20</Slides>
  <Notes>1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4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Segoe UI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Onur Alp Güvercin</cp:lastModifiedBy>
  <cp:revision>6</cp:revision>
  <dcterms:created xsi:type="dcterms:W3CDTF">2013-01-27T09:14:16Z</dcterms:created>
  <dcterms:modified xsi:type="dcterms:W3CDTF">2026-05-12T05:43:10Z</dcterms:modified>
  <cp:category/>
</cp:coreProperties>
</file>